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584" r:id="rId2"/>
    <p:sldId id="585" r:id="rId3"/>
    <p:sldId id="606" r:id="rId4"/>
    <p:sldId id="630" r:id="rId5"/>
    <p:sldId id="602" r:id="rId6"/>
    <p:sldId id="603" r:id="rId7"/>
    <p:sldId id="621" r:id="rId8"/>
    <p:sldId id="624" r:id="rId9"/>
    <p:sldId id="626" r:id="rId10"/>
    <p:sldId id="627" r:id="rId11"/>
    <p:sldId id="623" r:id="rId12"/>
    <p:sldId id="628" r:id="rId13"/>
    <p:sldId id="609" r:id="rId14"/>
    <p:sldId id="632" r:id="rId15"/>
    <p:sldId id="625" r:id="rId16"/>
    <p:sldId id="615" r:id="rId17"/>
    <p:sldId id="611" r:id="rId18"/>
    <p:sldId id="619" r:id="rId19"/>
    <p:sldId id="620" r:id="rId20"/>
    <p:sldId id="608" r:id="rId21"/>
    <p:sldId id="617" r:id="rId22"/>
    <p:sldId id="618" r:id="rId23"/>
    <p:sldId id="616" r:id="rId24"/>
    <p:sldId id="629" r:id="rId25"/>
    <p:sldId id="605" r:id="rId26"/>
    <p:sldId id="631" r:id="rId2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14" autoAdjust="0"/>
    <p:restoredTop sz="95714" autoAdjust="0"/>
  </p:normalViewPr>
  <p:slideViewPr>
    <p:cSldViewPr snapToGrid="0">
      <p:cViewPr varScale="1">
        <p:scale>
          <a:sx n="122" d="100"/>
          <a:sy n="122" d="100"/>
        </p:scale>
        <p:origin x="210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6DB959EA-279D-6D0F-4496-1671023622E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endParaRPr lang="en-US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3272A12-15C4-1EB5-7DF8-B11DEC1FF70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endParaRPr lang="en-US" altLang="en-US"/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BAA250E6-042E-BE6C-1EE7-6815747BB5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endParaRPr lang="en-US" altLang="en-US"/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44ABBCB6-2D44-70E2-DD05-1E631D6C31C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fld id="{36AC9750-8C85-6247-9668-B2405534FA0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F1A6178-97F8-67D4-166C-67C8630257B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B6DE6D68-853A-B89C-34D4-8B49B8BF8AC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9C9D3415-1AB0-550C-2A52-91762B38121C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68400" y="685800"/>
            <a:ext cx="4673600" cy="3505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9BC5FBC9-BE79-D83E-10FC-94D04535038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1816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10F5C78D-B0C3-AE7D-7CA6-D6A8584D5E4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D943E14C-BDD0-D838-F3DE-B7175CAD3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71A13C7-FBA8-CB41-886E-015E61E5855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1D6D046-62A4-726D-FA64-B159EF374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773058-21A9-BE4C-8B07-99FD47AD784A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656386" name="Rectangle 2">
            <a:extLst>
              <a:ext uri="{FF2B5EF4-FFF2-40B4-BE49-F238E27FC236}">
                <a16:creationId xmlns:a16="http://schemas.microsoft.com/office/drawing/2014/main" id="{FC07A534-5404-236B-5A7C-CA30F9DE35F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6387" name="Rectangle 3">
            <a:extLst>
              <a:ext uri="{FF2B5EF4-FFF2-40B4-BE49-F238E27FC236}">
                <a16:creationId xmlns:a16="http://schemas.microsoft.com/office/drawing/2014/main" id="{9A02951E-E019-24A3-5439-546AD3235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F5CB40E-C2C2-5B18-EDBD-0F601409C7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95FF95-55D0-FB43-8F1C-D683BEA15A2A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660482" name="Rectangle 2">
            <a:extLst>
              <a:ext uri="{FF2B5EF4-FFF2-40B4-BE49-F238E27FC236}">
                <a16:creationId xmlns:a16="http://schemas.microsoft.com/office/drawing/2014/main" id="{69CA5694-CF0E-2EA2-56EB-7547FB68C63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0483" name="Rectangle 3">
            <a:extLst>
              <a:ext uri="{FF2B5EF4-FFF2-40B4-BE49-F238E27FC236}">
                <a16:creationId xmlns:a16="http://schemas.microsoft.com/office/drawing/2014/main" id="{BE2A5048-D909-6FF5-8523-0AE02D5D4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D3EC175-F988-BA40-46EE-8A6E1BB7B9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FE3A38-3892-4848-998C-58A5DE5CBA53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716802" name="Rectangle 2">
            <a:extLst>
              <a:ext uri="{FF2B5EF4-FFF2-40B4-BE49-F238E27FC236}">
                <a16:creationId xmlns:a16="http://schemas.microsoft.com/office/drawing/2014/main" id="{ECA9D82C-515C-90D5-8710-095230B7F12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03" name="Rectangle 3">
            <a:extLst>
              <a:ext uri="{FF2B5EF4-FFF2-40B4-BE49-F238E27FC236}">
                <a16:creationId xmlns:a16="http://schemas.microsoft.com/office/drawing/2014/main" id="{19F33672-907B-6D25-C281-16311E913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2104929-161B-2B96-61BD-6E1EDB1712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632452-4E0C-8544-8D89-C92A06BEC750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749570" name="Rectangle 2">
            <a:extLst>
              <a:ext uri="{FF2B5EF4-FFF2-40B4-BE49-F238E27FC236}">
                <a16:creationId xmlns:a16="http://schemas.microsoft.com/office/drawing/2014/main" id="{03899DCD-1B6F-AD91-8458-3CB05A0E55B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9571" name="Rectangle 3">
            <a:extLst>
              <a:ext uri="{FF2B5EF4-FFF2-40B4-BE49-F238E27FC236}">
                <a16:creationId xmlns:a16="http://schemas.microsoft.com/office/drawing/2014/main" id="{8EA9DB53-25F0-3E04-D4FA-C6E8783FDD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27C1D2D-E06C-09D0-5771-CAEB3C728F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9D90D6-D1EA-4A42-9DD9-D40603A78F3A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753666" name="Rectangle 2">
            <a:extLst>
              <a:ext uri="{FF2B5EF4-FFF2-40B4-BE49-F238E27FC236}">
                <a16:creationId xmlns:a16="http://schemas.microsoft.com/office/drawing/2014/main" id="{F30FE860-0FAE-3CF7-7768-12C1BF3B72A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3667" name="Rectangle 3">
            <a:extLst>
              <a:ext uri="{FF2B5EF4-FFF2-40B4-BE49-F238E27FC236}">
                <a16:creationId xmlns:a16="http://schemas.microsoft.com/office/drawing/2014/main" id="{E0E2D75F-7E9D-5590-4027-4C2DEBA74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This equation means to concatenate paths 2 and 3 together to form the path A, B, C, B, C, G, A, B, E, F, G and then remove the four nodes that appear in path 1, resulting in the required path 6.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2A6E699-1DAA-C458-3ED4-CADFC729F0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31E7A1-6268-6443-A929-00AB9ABCA4E2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759810" name="Rectangle 2">
            <a:extLst>
              <a:ext uri="{FF2B5EF4-FFF2-40B4-BE49-F238E27FC236}">
                <a16:creationId xmlns:a16="http://schemas.microsoft.com/office/drawing/2014/main" id="{2608F687-4BD6-894D-3396-500C64FF08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9811" name="Rectangle 3">
            <a:extLst>
              <a:ext uri="{FF2B5EF4-FFF2-40B4-BE49-F238E27FC236}">
                <a16:creationId xmlns:a16="http://schemas.microsoft.com/office/drawing/2014/main" id="{B55A80C9-E508-88A7-671F-EBCB375F1B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http://www.ironiacorp.com/apps/wiki/testing/Linearly_independent_path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29153E9-F1CB-7FC8-B476-AD5084AE0A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C88AB9-C73B-7149-91FA-A918892FFFEB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735234" name="Rectangle 2">
            <a:extLst>
              <a:ext uri="{FF2B5EF4-FFF2-40B4-BE49-F238E27FC236}">
                <a16:creationId xmlns:a16="http://schemas.microsoft.com/office/drawing/2014/main" id="{792830AE-504D-362B-3884-7A7B4A97175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5235" name="Rectangle 3">
            <a:extLst>
              <a:ext uri="{FF2B5EF4-FFF2-40B4-BE49-F238E27FC236}">
                <a16:creationId xmlns:a16="http://schemas.microsoft.com/office/drawing/2014/main" id="{39CCC869-EC56-6F9D-89F0-0C613420D6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This equation means to concatenate paths 2 and 3 together to form the path A, B, C, B, C, G, A, B, E, F, G and then remove the four nodes that appear in path 1, resulting in the required path 6.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8072BC0-9D29-61CD-1A61-C11CDC1C5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67425A-B373-3A42-90BE-4F4796787838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761858" name="Rectangle 2">
            <a:extLst>
              <a:ext uri="{FF2B5EF4-FFF2-40B4-BE49-F238E27FC236}">
                <a16:creationId xmlns:a16="http://schemas.microsoft.com/office/drawing/2014/main" id="{6C360E0E-285C-BFA6-D03D-6DE7FBEE8F4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1859" name="Rectangle 3">
            <a:extLst>
              <a:ext uri="{FF2B5EF4-FFF2-40B4-BE49-F238E27FC236}">
                <a16:creationId xmlns:a16="http://schemas.microsoft.com/office/drawing/2014/main" id="{1D85C24B-40B7-6AF6-B227-36D30318B7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5A6509E-A525-86B1-E60F-08C6CDF5CB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EDC20F-0DA4-BC4C-8A00-6050B652588D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39330" name="Rectangle 2">
            <a:extLst>
              <a:ext uri="{FF2B5EF4-FFF2-40B4-BE49-F238E27FC236}">
                <a16:creationId xmlns:a16="http://schemas.microsoft.com/office/drawing/2014/main" id="{D80FB309-5B1C-B69F-F970-B04432D347E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9331" name="Rectangle 3">
            <a:extLst>
              <a:ext uri="{FF2B5EF4-FFF2-40B4-BE49-F238E27FC236}">
                <a16:creationId xmlns:a16="http://schemas.microsoft.com/office/drawing/2014/main" id="{6B15D62C-3936-5A81-CCA5-C2B3B9586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ED6AA28-AB4B-58AE-5F0C-8CCBFE6722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7799E8-FD00-A04A-9C71-485AB7AE48F6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741378" name="Rectangle 2">
            <a:extLst>
              <a:ext uri="{FF2B5EF4-FFF2-40B4-BE49-F238E27FC236}">
                <a16:creationId xmlns:a16="http://schemas.microsoft.com/office/drawing/2014/main" id="{AF4525B8-65E0-B9B0-14DE-2A938D2BD8A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1379" name="Rectangle 3">
            <a:extLst>
              <a:ext uri="{FF2B5EF4-FFF2-40B4-BE49-F238E27FC236}">
                <a16:creationId xmlns:a16="http://schemas.microsoft.com/office/drawing/2014/main" id="{59CE19E0-A8E8-84D7-65F7-DE9C2B346B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2BB0543-72F6-8935-FF27-4114CB5535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0CD138-B301-3C4C-856B-D9F7F422EDD8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756738" name="Rectangle 2">
            <a:extLst>
              <a:ext uri="{FF2B5EF4-FFF2-40B4-BE49-F238E27FC236}">
                <a16:creationId xmlns:a16="http://schemas.microsoft.com/office/drawing/2014/main" id="{ED7AF98B-F24B-87B6-EA5F-50AA7A91EE4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6739" name="Rectangle 3">
            <a:extLst>
              <a:ext uri="{FF2B5EF4-FFF2-40B4-BE49-F238E27FC236}">
                <a16:creationId xmlns:a16="http://schemas.microsoft.com/office/drawing/2014/main" id="{697303E6-A461-4718-02E3-D06A58699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E3A0F-2283-8FC2-103E-D0168345C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5E220-44B8-5155-F89F-9E7E5E848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5EFAA-505F-A3C2-A1C5-B22AB369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09C96-D35A-CB41-7589-D6ED3C3A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FFFE9-0A3D-E75D-FFB9-FE7BEA6DA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AD986F-074D-064D-930C-70E0E028F1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0536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38D1-E57A-16E1-08BF-D165BE1D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87AD-D608-C820-0121-4DB2EB5F1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F4BAB-2386-5F42-CCC7-E21AEB05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86888-E42C-BAF2-365F-9D263708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85C26-B678-67BE-548C-873B8B1E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6C5A6-C05B-8845-86AC-52B81B6A24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399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2759C-FAB6-5677-3B96-95EAA2BCD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32C22-AAD2-6D2F-3E92-BE9AD3422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80D23-AE32-3884-E4F0-5D245C26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26516-C162-E2FC-EE37-179028B3D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B6615-7474-0E5F-3CAE-E7094EFA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7FFAA0-B2AB-0F4C-9691-19196B484D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7755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6D33-2227-0232-551D-A67CDE450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F9AC1-4BEA-1DBA-FE38-F128C1FCF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554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7A3D5-8D75-3FD8-A952-C87066A1B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554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046F1-630A-FF26-EA58-158A196FD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D6289-6753-5BB8-4540-3D7966532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EF4B9-603F-D290-DA5E-BF7590C38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899F32-0230-004E-BD46-A2EFD790BE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0514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2131B-FFBE-5FFE-A939-09243040E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7A980-D1B8-50F8-F291-5C05C6867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6497E-2CDB-1C5A-E044-D648E1EC8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5BA840-1CBB-C2AD-1ADE-3A13C2CF1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7EECA-C7E0-CA8C-1995-F36CA0518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3F70BD-F71D-6058-A085-43D880F76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0C2DE2-56DB-DF5F-F32B-99E178D4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5109DE-BB97-DD52-F232-11CEEB776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53B54A-6548-2C45-A261-6B02185932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3417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3857F-6239-7494-30B5-61B0052A6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415503-D479-015D-19F2-F43BD323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768D4-607B-2B29-1BCF-40DB558A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55332-4AAB-1D4D-9D3D-4BDAA16E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133050-D7BF-8741-9697-80D7D32744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2743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12A880-B73A-C6F9-5302-E6ECCB4D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2E5DD6-589D-8A56-3928-DD3EBB828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1CA61-0FBE-1A9F-2C49-36F22480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63A2AC-192E-BD47-A559-4412D8B1A0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251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D2F6-2299-CD15-2943-0C3A15291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9B5DF-6BD1-5537-4226-032CD31EA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76F0A-696B-241D-BA3D-9C9E86440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14262-C01D-B30E-43A2-D685F568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4BCFA-E55C-2FD5-175C-8A6F97C7D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87956-450D-5730-1C40-E215DDF8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610348-1608-804C-812E-EB00DDBC19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608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6777F-DAC4-94BD-CE0E-242EF4ACC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4B59A6-B063-4C96-F12A-3C0C54760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249B6-89D1-D916-6624-F11048F64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B397F-9CE5-E5D9-0012-9CEB5AF6E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1B002-48F7-C55A-D5F5-47C39357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61EB3-82AD-C7BB-0866-53A99231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4AED38-5675-2C4B-A99E-C056228F2E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089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64A9-B2E5-21BC-A4EC-D876727E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567AC-520F-0830-F10E-4B434AEE1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703CB-5354-19C9-DBB5-5E7C4EF57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E7D8C-C301-0651-5E62-D3E7A039C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46D66-5385-E07D-CA01-E33A5E9E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CFF43-403E-0F45-92D3-DEB5A971FE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408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C51A26-66DE-6854-B2BF-1755ECF029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23075" y="152400"/>
            <a:ext cx="2168525" cy="6078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EABA0-CBB4-DFA5-602C-9ED39BBCC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17500" y="152400"/>
            <a:ext cx="6353175" cy="60785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5CDED-A7B0-7288-DF67-4C82D903C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323F9-5C61-4822-78D2-C1A69B66F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9F26A-6B2C-5E6C-E259-1CCF2DB5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735CE3-00C6-EB46-ACA4-973013DBDB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2393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5281A97-2721-D66B-5644-92B1AED863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7500" y="152400"/>
            <a:ext cx="86741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AEBADD4-7AB3-2B0D-28BC-BED960DB2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55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897851E-7F9F-56A2-669A-C15E94F87FE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33EC171-88E9-A1B9-04C7-F33E3C5912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D046881-1B7D-1985-E24C-00F9CF9045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43938" y="6369050"/>
            <a:ext cx="468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FDF49C1-7EBD-DA49-86FC-05B7C511925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CACB2445-063D-DCF1-1410-729245C3315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3716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E47D7C0-DB91-371B-41AE-0341F04E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95607-3315-DE4D-B774-C394367A29E0}" type="slidenum">
              <a:rPr lang="en-US" altLang="en-US"/>
              <a:pPr/>
              <a:t>1</a:t>
            </a:fld>
            <a:endParaRPr lang="en-US" altLang="en-US"/>
          </a:p>
        </p:txBody>
      </p:sp>
      <p:pic>
        <p:nvPicPr>
          <p:cNvPr id="655362" name="Picture 2">
            <a:extLst>
              <a:ext uri="{FF2B5EF4-FFF2-40B4-BE49-F238E27FC236}">
                <a16:creationId xmlns:a16="http://schemas.microsoft.com/office/drawing/2014/main" id="{65AD56A1-97B9-E2D6-82BC-835720B8E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90500"/>
            <a:ext cx="4986337" cy="296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55363" name="Line 6">
            <a:extLst>
              <a:ext uri="{FF2B5EF4-FFF2-40B4-BE49-F238E27FC236}">
                <a16:creationId xmlns:a16="http://schemas.microsoft.com/office/drawing/2014/main" id="{FA5D85E1-BD32-8ACD-A8ED-60258E43F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371600"/>
            <a:ext cx="9144000" cy="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364" name="Rectangle 3">
            <a:extLst>
              <a:ext uri="{FF2B5EF4-FFF2-40B4-BE49-F238E27FC236}">
                <a16:creationId xmlns:a16="http://schemas.microsoft.com/office/drawing/2014/main" id="{38118FF1-949B-AB27-53E0-FCD7AC1D7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5684838"/>
            <a:ext cx="4652962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spcBef>
                <a:spcPct val="20000"/>
              </a:spcBef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spcBef>
                <a:spcPct val="20000"/>
              </a:spcBef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spcBef>
                <a:spcPct val="2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fontAlgn="base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fontAlgn="base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fontAlgn="base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fontAlgn="base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/>
              <a:t>Ivan Marsic</a:t>
            </a:r>
          </a:p>
          <a:p>
            <a:r>
              <a:rPr lang="en-US" altLang="en-US" sz="2400"/>
              <a:t>Rutgers University</a:t>
            </a:r>
          </a:p>
        </p:txBody>
      </p:sp>
      <p:sp>
        <p:nvSpPr>
          <p:cNvPr id="655365" name="Rectangle 5">
            <a:extLst>
              <a:ext uri="{FF2B5EF4-FFF2-40B4-BE49-F238E27FC236}">
                <a16:creationId xmlns:a16="http://schemas.microsoft.com/office/drawing/2014/main" id="{1C4DE600-880C-D442-B893-0AFDD682E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4276725"/>
            <a:ext cx="8405812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 sz="3200">
                <a:latin typeface="Comic Sans MS" panose="030F0902030302020204" pitchFamily="66" charset="0"/>
              </a:rPr>
              <a:t>LECTURE 15: Software Complexity Metrics</a:t>
            </a:r>
            <a:endParaRPr lang="en-US" altLang="en-US" sz="20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D6FABF-2F32-DDF8-1ED7-CF83AFAA0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E7A1F-4D22-5647-A9ED-D01117CF7C2C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657410" name="Rectangle 2">
            <a:extLst>
              <a:ext uri="{FF2B5EF4-FFF2-40B4-BE49-F238E27FC236}">
                <a16:creationId xmlns:a16="http://schemas.microsoft.com/office/drawing/2014/main" id="{0A4ED470-300F-692D-76CB-47982F8076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Topics</a:t>
            </a:r>
          </a:p>
        </p:txBody>
      </p:sp>
      <p:sp>
        <p:nvSpPr>
          <p:cNvPr id="657411" name="Rectangle 3">
            <a:extLst>
              <a:ext uri="{FF2B5EF4-FFF2-40B4-BE49-F238E27FC236}">
                <a16:creationId xmlns:a16="http://schemas.microsoft.com/office/drawing/2014/main" id="{9401AF27-3F24-7590-0CDF-C9D5CA1701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Measuring Software Complexity</a:t>
            </a:r>
          </a:p>
          <a:p>
            <a:r>
              <a:rPr lang="en-US" altLang="en-US"/>
              <a:t>Cyclomatic Complexity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FE4BD91-9B32-0045-D07A-BABC5CE2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A9922-93A3-6243-B1E8-FDA1B5097167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719874" name="Rectangle 2">
            <a:extLst>
              <a:ext uri="{FF2B5EF4-FFF2-40B4-BE49-F238E27FC236}">
                <a16:creationId xmlns:a16="http://schemas.microsoft.com/office/drawing/2014/main" id="{F985D658-C09B-4865-3D99-36C5FE556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Measuring Software Complexity</a:t>
            </a:r>
          </a:p>
        </p:txBody>
      </p:sp>
      <p:sp>
        <p:nvSpPr>
          <p:cNvPr id="719875" name="Rectangle 3">
            <a:extLst>
              <a:ext uri="{FF2B5EF4-FFF2-40B4-BE49-F238E27FC236}">
                <a16:creationId xmlns:a16="http://schemas.microsoft.com/office/drawing/2014/main" id="{9E166177-8666-0578-DE01-8953D01F34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/>
              <a:t>Software complexity is difficult to operationalize complexity so that it can be measured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Computational complexity measure big O (or big Oh), O(n)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Measures software complexity from the </a:t>
            </a:r>
            <a:r>
              <a:rPr lang="en-US" altLang="en-US" sz="2000" i="1"/>
              <a:t>machine’s viewpoint</a:t>
            </a:r>
            <a:r>
              <a:rPr lang="en-US" altLang="en-US" sz="2000"/>
              <a:t> in terms of how the size of the input data affects an algorithm’s usage of computational resources (usually running time or memory)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Complexity measure in software engineering should measure complexity from the </a:t>
            </a:r>
            <a:r>
              <a:rPr lang="en-US" altLang="en-US" sz="2800" i="1">
                <a:solidFill>
                  <a:srgbClr val="800000"/>
                </a:solidFill>
              </a:rPr>
              <a:t>viewpoint of human developers</a:t>
            </a:r>
            <a:endParaRPr lang="en-US" altLang="en-US" sz="2800"/>
          </a:p>
          <a:p>
            <a:pPr lvl="1">
              <a:lnSpc>
                <a:spcPct val="80000"/>
              </a:lnSpc>
            </a:pPr>
            <a:r>
              <a:rPr lang="en-US" altLang="en-US" sz="2000"/>
              <a:t>Computer time is cheap; human time is expensive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BE884B1-F899-839B-8BBA-710723B0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FB3D-1CC3-8E4D-AD0E-6769A042A74B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757762" name="Rectangle 2">
            <a:extLst>
              <a:ext uri="{FF2B5EF4-FFF2-40B4-BE49-F238E27FC236}">
                <a16:creationId xmlns:a16="http://schemas.microsoft.com/office/drawing/2014/main" id="{A2F6BF63-F854-5720-9D12-2F33937B0C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Desirable Properties</a:t>
            </a:r>
            <a:br>
              <a:rPr lang="en-US" altLang="en-US" sz="4000"/>
            </a:br>
            <a:r>
              <a:rPr lang="en-US" altLang="en-US" sz="4000"/>
              <a:t>of Complexity Metrics</a:t>
            </a:r>
          </a:p>
        </p:txBody>
      </p:sp>
      <p:sp>
        <p:nvSpPr>
          <p:cNvPr id="757763" name="Rectangle 3">
            <a:extLst>
              <a:ext uri="{FF2B5EF4-FFF2-40B4-BE49-F238E27FC236}">
                <a16:creationId xmlns:a16="http://schemas.microsoft.com/office/drawing/2014/main" id="{57107343-3BEE-46DF-C341-C0FE0E8DA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b="1">
                <a:solidFill>
                  <a:srgbClr val="A50021"/>
                </a:solidFill>
              </a:rPr>
              <a:t>Monotonicity</a:t>
            </a:r>
            <a:r>
              <a:rPr lang="en-US" altLang="en-US" sz="2400"/>
              <a:t>: adding responsibilities to a module cannot decrease its complexity</a:t>
            </a:r>
          </a:p>
          <a:p>
            <a:pPr lvl="2">
              <a:lnSpc>
                <a:spcPct val="80000"/>
              </a:lnSpc>
            </a:pPr>
            <a:r>
              <a:rPr lang="en-US" altLang="en-US" sz="1600"/>
              <a:t>If a responsibility is added to a module, the modified module will exhibit a complexity value that is the same as or higher than the complexity value of the original module</a:t>
            </a:r>
          </a:p>
          <a:p>
            <a:pPr>
              <a:lnSpc>
                <a:spcPct val="80000"/>
              </a:lnSpc>
            </a:pPr>
            <a:r>
              <a:rPr lang="en-US" altLang="en-US" sz="2400" b="1">
                <a:solidFill>
                  <a:srgbClr val="A50021"/>
                </a:solidFill>
              </a:rPr>
              <a:t>Ordering</a:t>
            </a:r>
            <a:r>
              <a:rPr lang="en-US" altLang="en-US" sz="2400"/>
              <a:t> (“representation condition” of measurement theory):</a:t>
            </a:r>
          </a:p>
          <a:p>
            <a:pPr lvl="2">
              <a:lnSpc>
                <a:spcPct val="80000"/>
              </a:lnSpc>
            </a:pPr>
            <a:r>
              <a:rPr lang="en-US" altLang="en-US" sz="1600"/>
              <a:t>Metric produces the same ordering of values as intuition would</a:t>
            </a:r>
          </a:p>
          <a:p>
            <a:pPr lvl="2">
              <a:lnSpc>
                <a:spcPct val="80000"/>
              </a:lnSpc>
            </a:pPr>
            <a:r>
              <a:rPr lang="en-US" altLang="en-US" sz="1600"/>
              <a:t>Cognitively more difficult should be measured as greater complexity</a:t>
            </a:r>
          </a:p>
          <a:p>
            <a:pPr>
              <a:lnSpc>
                <a:spcPct val="80000"/>
              </a:lnSpc>
            </a:pPr>
            <a:r>
              <a:rPr lang="en-US" altLang="en-US" sz="2400" b="1">
                <a:solidFill>
                  <a:srgbClr val="A50021"/>
                </a:solidFill>
              </a:rPr>
              <a:t>Discriminative power</a:t>
            </a:r>
            <a:r>
              <a:rPr lang="en-US" altLang="en-US" sz="2400"/>
              <a:t> (sensitivity): modifying responsibilities should change the complexity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Discriminability is expected to increase as:</a:t>
            </a:r>
          </a:p>
          <a:p>
            <a:pPr lvl="2">
              <a:lnSpc>
                <a:spcPct val="80000"/>
              </a:lnSpc>
            </a:pPr>
            <a:r>
              <a:rPr lang="en-US" altLang="en-US" sz="1600"/>
              <a:t>1) the number of distinct complexity values increases and</a:t>
            </a:r>
          </a:p>
          <a:p>
            <a:pPr lvl="2">
              <a:lnSpc>
                <a:spcPct val="80000"/>
              </a:lnSpc>
            </a:pPr>
            <a:r>
              <a:rPr lang="en-US" altLang="en-US" sz="1600"/>
              <a:t>2) the number of classes with equal complexity values decreases</a:t>
            </a:r>
          </a:p>
          <a:p>
            <a:pPr>
              <a:lnSpc>
                <a:spcPct val="80000"/>
              </a:lnSpc>
            </a:pPr>
            <a:r>
              <a:rPr lang="en-US" altLang="en-US" sz="2400" b="1">
                <a:solidFill>
                  <a:srgbClr val="A50021"/>
                </a:solidFill>
              </a:rPr>
              <a:t>Normalization</a:t>
            </a:r>
            <a:r>
              <a:rPr lang="en-US" altLang="en-US" sz="2400"/>
              <a:t>: allows for easy comparison of the complexity of different classes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BB5159C-1B26-7D09-4AAE-2C090D59C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315C4-487F-904F-8B9D-BA6C23B82714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710661" name="Rectangle 5">
            <a:extLst>
              <a:ext uri="{FF2B5EF4-FFF2-40B4-BE49-F238E27FC236}">
                <a16:creationId xmlns:a16="http://schemas.microsoft.com/office/drawing/2014/main" id="{87C88341-0CE6-58BF-77D2-755948F3F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Cyclomatic Complexity</a:t>
            </a:r>
          </a:p>
        </p:txBody>
      </p:sp>
      <p:sp>
        <p:nvSpPr>
          <p:cNvPr id="710662" name="Rectangle 6">
            <a:extLst>
              <a:ext uri="{FF2B5EF4-FFF2-40B4-BE49-F238E27FC236}">
                <a16:creationId xmlns:a16="http://schemas.microsoft.com/office/drawing/2014/main" id="{30204459-19B1-6A42-540A-520601672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Invented by Thomas McCabe (1974) to measure the complexity of a program’s conditional logic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Counts the number of decisions in the program,</a:t>
            </a:r>
            <a:br>
              <a:rPr lang="en-US" altLang="en-US" sz="1800"/>
            </a:br>
            <a:r>
              <a:rPr lang="en-US" altLang="en-US" sz="1800"/>
              <a:t>under the assumption that decisions are difficult for people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Makes assumptions about decision-counting rules and linear dependence of the total count to complexity</a:t>
            </a:r>
          </a:p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en-US" altLang="en-US" sz="2400"/>
              <a:t>Cyclomatic complexity of graph G equals</a:t>
            </a:r>
            <a:br>
              <a:rPr lang="en-US" altLang="en-US" sz="2400"/>
            </a:br>
            <a:r>
              <a:rPr lang="en-US" altLang="en-US" sz="2400"/>
              <a:t>#edges - #nodes + 2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V(G) = e – n + 2</a:t>
            </a:r>
          </a:p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en-US" altLang="en-US" sz="2400"/>
              <a:t>Also corresponds to the number of linearly independent paths in a program</a:t>
            </a:r>
            <a:br>
              <a:rPr lang="en-US" altLang="en-US" sz="2400"/>
            </a:br>
            <a:r>
              <a:rPr lang="en-US" altLang="en-US" sz="2400"/>
              <a:t>(described later)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7233016-9F74-D9FD-FD9A-41B91A21B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F2143-CAB4-354E-A4A3-DD0280B1BE5F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715778" name="Rectangle 2">
            <a:extLst>
              <a:ext uri="{FF2B5EF4-FFF2-40B4-BE49-F238E27FC236}">
                <a16:creationId xmlns:a16="http://schemas.microsoft.com/office/drawing/2014/main" id="{4F69A902-8649-5CDB-A25E-C0A2979C2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Converting Code to Graph</a:t>
            </a:r>
          </a:p>
        </p:txBody>
      </p:sp>
      <p:sp>
        <p:nvSpPr>
          <p:cNvPr id="715779" name="Text Box 3">
            <a:extLst>
              <a:ext uri="{FF2B5EF4-FFF2-40B4-BE49-F238E27FC236}">
                <a16:creationId xmlns:a16="http://schemas.microsoft.com/office/drawing/2014/main" id="{E8215442-780C-55FC-04BE-09203B9A7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575" y="2216150"/>
            <a:ext cx="14668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if</a:t>
            </a:r>
            <a:r>
              <a:rPr lang="en-US" altLang="en-US" sz="1000">
                <a:latin typeface="Courier New" panose="02070309020205020404" pitchFamily="49" charset="0"/>
              </a:rPr>
              <a:t> expression1 </a:t>
            </a:r>
            <a:r>
              <a:rPr lang="en-US" altLang="en-US" sz="1000" b="1">
                <a:latin typeface="Courier New" panose="02070309020205020404" pitchFamily="49" charset="0"/>
              </a:rPr>
              <a:t>then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statement2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else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statement3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end if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statement4</a:t>
            </a:r>
          </a:p>
        </p:txBody>
      </p:sp>
      <p:sp>
        <p:nvSpPr>
          <p:cNvPr id="715780" name="Text Box 4">
            <a:extLst>
              <a:ext uri="{FF2B5EF4-FFF2-40B4-BE49-F238E27FC236}">
                <a16:creationId xmlns:a16="http://schemas.microsoft.com/office/drawing/2014/main" id="{F0720CBF-9EC0-6141-F428-557158478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575" y="3459163"/>
            <a:ext cx="13906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switch</a:t>
            </a:r>
            <a:r>
              <a:rPr lang="en-US" altLang="en-US" sz="1000">
                <a:latin typeface="Courier New" panose="02070309020205020404" pitchFamily="49" charset="0"/>
              </a:rPr>
              <a:t> expr1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</a:t>
            </a:r>
            <a:r>
              <a:rPr lang="en-US" altLang="en-US" sz="1000" b="1">
                <a:latin typeface="Courier New" panose="02070309020205020404" pitchFamily="49" charset="0"/>
              </a:rPr>
              <a:t>case</a:t>
            </a:r>
            <a:r>
              <a:rPr lang="en-US" altLang="en-US" sz="1000">
                <a:latin typeface="Courier New" panose="02070309020205020404" pitchFamily="49" charset="0"/>
              </a:rPr>
              <a:t> 1: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    statement2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</a:t>
            </a:r>
            <a:r>
              <a:rPr lang="en-US" altLang="en-US" sz="1000" b="1">
                <a:latin typeface="Courier New" panose="02070309020205020404" pitchFamily="49" charset="0"/>
              </a:rPr>
              <a:t>case</a:t>
            </a:r>
            <a:r>
              <a:rPr lang="en-US" altLang="en-US" sz="1000">
                <a:latin typeface="Courier New" panose="02070309020205020404" pitchFamily="49" charset="0"/>
              </a:rPr>
              <a:t> 2: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    statm3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</a:t>
            </a:r>
            <a:r>
              <a:rPr lang="en-US" altLang="en-US" sz="1000" b="1">
                <a:latin typeface="Courier New" panose="02070309020205020404" pitchFamily="49" charset="0"/>
              </a:rPr>
              <a:t>case</a:t>
            </a:r>
            <a:r>
              <a:rPr lang="en-US" altLang="en-US" sz="1000">
                <a:latin typeface="Courier New" panose="02070309020205020404" pitchFamily="49" charset="0"/>
              </a:rPr>
              <a:t> 3: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    statm4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end switch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statm5</a:t>
            </a:r>
          </a:p>
        </p:txBody>
      </p:sp>
      <p:sp>
        <p:nvSpPr>
          <p:cNvPr id="715781" name="Text Box 5">
            <a:extLst>
              <a:ext uri="{FF2B5EF4-FFF2-40B4-BE49-F238E27FC236}">
                <a16:creationId xmlns:a16="http://schemas.microsoft.com/office/drawing/2014/main" id="{E7E65E50-84E4-0565-4E3A-9D302F567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813" y="2551113"/>
            <a:ext cx="2460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600"/>
              <a:t>(a)</a:t>
            </a:r>
          </a:p>
        </p:txBody>
      </p:sp>
      <p:sp>
        <p:nvSpPr>
          <p:cNvPr id="715782" name="Text Box 6">
            <a:extLst>
              <a:ext uri="{FF2B5EF4-FFF2-40B4-BE49-F238E27FC236}">
                <a16:creationId xmlns:a16="http://schemas.microsoft.com/office/drawing/2014/main" id="{BC502AA3-0313-D4B8-F21A-02F0A7660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813" y="4022725"/>
            <a:ext cx="257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600"/>
              <a:t>(b)</a:t>
            </a:r>
          </a:p>
        </p:txBody>
      </p:sp>
      <p:sp>
        <p:nvSpPr>
          <p:cNvPr id="715783" name="Text Box 7">
            <a:extLst>
              <a:ext uri="{FF2B5EF4-FFF2-40B4-BE49-F238E27FC236}">
                <a16:creationId xmlns:a16="http://schemas.microsoft.com/office/drawing/2014/main" id="{4DC3D2D8-3055-4AD3-312B-8826AA1BA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575" y="5327650"/>
            <a:ext cx="10858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do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statement1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</a:t>
            </a:r>
            <a:r>
              <a:rPr lang="en-US" altLang="en-US" sz="1000" b="1">
                <a:latin typeface="Courier New" panose="02070309020205020404" pitchFamily="49" charset="0"/>
              </a:rPr>
              <a:t>while</a:t>
            </a:r>
            <a:r>
              <a:rPr lang="en-US" altLang="en-US" sz="1000">
                <a:latin typeface="Courier New" panose="02070309020205020404" pitchFamily="49" charset="0"/>
              </a:rPr>
              <a:t> expr2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end do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statement3</a:t>
            </a:r>
          </a:p>
        </p:txBody>
      </p:sp>
      <p:sp>
        <p:nvSpPr>
          <p:cNvPr id="715784" name="Text Box 8">
            <a:extLst>
              <a:ext uri="{FF2B5EF4-FFF2-40B4-BE49-F238E27FC236}">
                <a16:creationId xmlns:a16="http://schemas.microsoft.com/office/drawing/2014/main" id="{8FB3708E-D937-1494-55BC-27E996040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813" y="5586413"/>
            <a:ext cx="2460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600"/>
              <a:t>(c)</a:t>
            </a:r>
          </a:p>
        </p:txBody>
      </p:sp>
      <p:sp>
        <p:nvSpPr>
          <p:cNvPr id="715785" name="Line 9">
            <a:extLst>
              <a:ext uri="{FF2B5EF4-FFF2-40B4-BE49-F238E27FC236}">
                <a16:creationId xmlns:a16="http://schemas.microsoft.com/office/drawing/2014/main" id="{1ABB6C69-C8DA-4F69-1033-0C6BC76684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4813" y="4932363"/>
            <a:ext cx="55118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5786" name="Line 10">
            <a:extLst>
              <a:ext uri="{FF2B5EF4-FFF2-40B4-BE49-F238E27FC236}">
                <a16:creationId xmlns:a16="http://schemas.microsoft.com/office/drawing/2014/main" id="{1B01CDCB-E4C1-0AC7-B370-181DCDD5CF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4813" y="3379788"/>
            <a:ext cx="55118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5787" name="Line 11">
            <a:extLst>
              <a:ext uri="{FF2B5EF4-FFF2-40B4-BE49-F238E27FC236}">
                <a16:creationId xmlns:a16="http://schemas.microsoft.com/office/drawing/2014/main" id="{B368AABC-C109-9E4C-D986-133E7A3BD4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4813" y="1982788"/>
            <a:ext cx="55118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5788" name="Line 12">
            <a:extLst>
              <a:ext uri="{FF2B5EF4-FFF2-40B4-BE49-F238E27FC236}">
                <a16:creationId xmlns:a16="http://schemas.microsoft.com/office/drawing/2014/main" id="{82FF3C81-BC82-F330-80AB-6BC9AE54A3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4813" y="6503988"/>
            <a:ext cx="55118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5789" name="Text Box 13">
            <a:extLst>
              <a:ext uri="{FF2B5EF4-FFF2-40B4-BE49-F238E27FC236}">
                <a16:creationId xmlns:a16="http://schemas.microsoft.com/office/drawing/2014/main" id="{3F34940D-398F-D234-E4C9-C76E06446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1752600"/>
            <a:ext cx="533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pPr algn="ctr"/>
            <a:r>
              <a:rPr lang="en-US" altLang="en-US" sz="1400">
                <a:latin typeface="Arial" panose="020B0604020202020204" pitchFamily="34" charset="0"/>
              </a:rPr>
              <a:t>CODE</a:t>
            </a:r>
          </a:p>
        </p:txBody>
      </p:sp>
      <p:sp>
        <p:nvSpPr>
          <p:cNvPr id="715790" name="Text Box 14">
            <a:extLst>
              <a:ext uri="{FF2B5EF4-FFF2-40B4-BE49-F238E27FC236}">
                <a16:creationId xmlns:a16="http://schemas.microsoft.com/office/drawing/2014/main" id="{37FDB27D-C810-8A18-8C22-6150D2206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763" y="1752600"/>
            <a:ext cx="1144587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pPr algn="ctr"/>
            <a:r>
              <a:rPr lang="en-US" altLang="en-US" sz="1400">
                <a:latin typeface="Arial" panose="020B0604020202020204" pitchFamily="34" charset="0"/>
              </a:rPr>
              <a:t>FLOWCHART</a:t>
            </a:r>
          </a:p>
        </p:txBody>
      </p:sp>
      <p:sp>
        <p:nvSpPr>
          <p:cNvPr id="715791" name="Text Box 15">
            <a:extLst>
              <a:ext uri="{FF2B5EF4-FFF2-40B4-BE49-F238E27FC236}">
                <a16:creationId xmlns:a16="http://schemas.microsoft.com/office/drawing/2014/main" id="{3182B9A4-DF79-31B4-A4E5-CE2417EFB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400" y="1752600"/>
            <a:ext cx="652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pPr algn="ctr"/>
            <a:r>
              <a:rPr lang="en-US" altLang="en-US" sz="1400">
                <a:latin typeface="Arial" panose="020B0604020202020204" pitchFamily="34" charset="0"/>
              </a:rPr>
              <a:t>GRAPH</a:t>
            </a:r>
          </a:p>
        </p:txBody>
      </p:sp>
      <p:sp>
        <p:nvSpPr>
          <p:cNvPr id="715792" name="AutoShape 16">
            <a:extLst>
              <a:ext uri="{FF2B5EF4-FFF2-40B4-BE49-F238E27FC236}">
                <a16:creationId xmlns:a16="http://schemas.microsoft.com/office/drawing/2014/main" id="{460BCF8A-82CD-CD5F-8D2A-BE5F688246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56000" y="2574925"/>
            <a:ext cx="192088" cy="198438"/>
          </a:xfrm>
          <a:prstGeom prst="rightArrow">
            <a:avLst>
              <a:gd name="adj1" fmla="val 50324"/>
              <a:gd name="adj2" fmla="val 51514"/>
            </a:avLst>
          </a:prstGeom>
          <a:solidFill>
            <a:srgbClr val="B2B2B2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5793" name="AutoShape 17">
            <a:extLst>
              <a:ext uri="{FF2B5EF4-FFF2-40B4-BE49-F238E27FC236}">
                <a16:creationId xmlns:a16="http://schemas.microsoft.com/office/drawing/2014/main" id="{3CF61F70-2D50-5684-F9EB-D007F79D51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56000" y="4046538"/>
            <a:ext cx="192088" cy="198437"/>
          </a:xfrm>
          <a:prstGeom prst="rightArrow">
            <a:avLst>
              <a:gd name="adj1" fmla="val 50324"/>
              <a:gd name="adj2" fmla="val 51514"/>
            </a:avLst>
          </a:prstGeom>
          <a:solidFill>
            <a:srgbClr val="B2B2B2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5794" name="AutoShape 18">
            <a:extLst>
              <a:ext uri="{FF2B5EF4-FFF2-40B4-BE49-F238E27FC236}">
                <a16:creationId xmlns:a16="http://schemas.microsoft.com/office/drawing/2014/main" id="{66977971-CDB5-28F8-8987-D9E128753A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88025" y="4046538"/>
            <a:ext cx="192088" cy="198437"/>
          </a:xfrm>
          <a:prstGeom prst="rightArrow">
            <a:avLst>
              <a:gd name="adj1" fmla="val 50324"/>
              <a:gd name="adj2" fmla="val 51514"/>
            </a:avLst>
          </a:prstGeom>
          <a:solidFill>
            <a:srgbClr val="B2B2B2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5795" name="AutoShape 19">
            <a:extLst>
              <a:ext uri="{FF2B5EF4-FFF2-40B4-BE49-F238E27FC236}">
                <a16:creationId xmlns:a16="http://schemas.microsoft.com/office/drawing/2014/main" id="{7CF95659-25B7-DBFE-C94B-D994DC19B5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86438" y="2573338"/>
            <a:ext cx="192087" cy="198437"/>
          </a:xfrm>
          <a:prstGeom prst="rightArrow">
            <a:avLst>
              <a:gd name="adj1" fmla="val 50324"/>
              <a:gd name="adj2" fmla="val 51514"/>
            </a:avLst>
          </a:prstGeom>
          <a:solidFill>
            <a:srgbClr val="B2B2B2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5796" name="AutoShape 20">
            <a:extLst>
              <a:ext uri="{FF2B5EF4-FFF2-40B4-BE49-F238E27FC236}">
                <a16:creationId xmlns:a16="http://schemas.microsoft.com/office/drawing/2014/main" id="{AF88F013-0FCD-7AE1-0091-1411BFE722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57588" y="5608638"/>
            <a:ext cx="192087" cy="198437"/>
          </a:xfrm>
          <a:prstGeom prst="rightArrow">
            <a:avLst>
              <a:gd name="adj1" fmla="val 50324"/>
              <a:gd name="adj2" fmla="val 51514"/>
            </a:avLst>
          </a:prstGeom>
          <a:solidFill>
            <a:srgbClr val="B2B2B2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5797" name="AutoShape 21">
            <a:extLst>
              <a:ext uri="{FF2B5EF4-FFF2-40B4-BE49-F238E27FC236}">
                <a16:creationId xmlns:a16="http://schemas.microsoft.com/office/drawing/2014/main" id="{3BA578BB-A4C4-4A07-235C-9B15CA7917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88025" y="5610225"/>
            <a:ext cx="192088" cy="198438"/>
          </a:xfrm>
          <a:prstGeom prst="rightArrow">
            <a:avLst>
              <a:gd name="adj1" fmla="val 50324"/>
              <a:gd name="adj2" fmla="val 51514"/>
            </a:avLst>
          </a:prstGeom>
          <a:solidFill>
            <a:srgbClr val="B2B2B2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15798" name="AutoShape 22">
            <a:extLst>
              <a:ext uri="{FF2B5EF4-FFF2-40B4-BE49-F238E27FC236}">
                <a16:creationId xmlns:a16="http://schemas.microsoft.com/office/drawing/2014/main" id="{B0EE8742-B5C9-77A4-AC7A-A69819D1715A}"/>
              </a:ext>
            </a:extLst>
          </p:cNvPr>
          <p:cNvCxnSpPr>
            <a:cxnSpLocks noChangeAspect="1" noChangeShapeType="1"/>
            <a:endCxn id="715805" idx="0"/>
          </p:cNvCxnSpPr>
          <p:nvPr/>
        </p:nvCxnSpPr>
        <p:spPr bwMode="auto">
          <a:xfrm>
            <a:off x="4768850" y="2036763"/>
            <a:ext cx="0" cy="125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799" name="AutoShape 23">
            <a:extLst>
              <a:ext uri="{FF2B5EF4-FFF2-40B4-BE49-F238E27FC236}">
                <a16:creationId xmlns:a16="http://schemas.microsoft.com/office/drawing/2014/main" id="{B77A02F8-8C1E-7000-68F3-000BFA12772E}"/>
              </a:ext>
            </a:extLst>
          </p:cNvPr>
          <p:cNvCxnSpPr>
            <a:cxnSpLocks noChangeAspect="1" noChangeShapeType="1"/>
            <a:stCxn id="715805" idx="3"/>
            <a:endCxn id="715808" idx="0"/>
          </p:cNvCxnSpPr>
          <p:nvPr/>
        </p:nvCxnSpPr>
        <p:spPr bwMode="auto">
          <a:xfrm>
            <a:off x="5070475" y="2362200"/>
            <a:ext cx="130175" cy="1905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00" name="AutoShape 24">
            <a:extLst>
              <a:ext uri="{FF2B5EF4-FFF2-40B4-BE49-F238E27FC236}">
                <a16:creationId xmlns:a16="http://schemas.microsoft.com/office/drawing/2014/main" id="{84CF8E1F-0173-D23A-5CD0-9E941B653899}"/>
              </a:ext>
            </a:extLst>
          </p:cNvPr>
          <p:cNvCxnSpPr>
            <a:cxnSpLocks noChangeAspect="1" noChangeShapeType="1"/>
            <a:stCxn id="715805" idx="1"/>
            <a:endCxn id="715807" idx="0"/>
          </p:cNvCxnSpPr>
          <p:nvPr/>
        </p:nvCxnSpPr>
        <p:spPr bwMode="auto">
          <a:xfrm rot="10800000" flipV="1">
            <a:off x="4337050" y="2362200"/>
            <a:ext cx="130175" cy="1905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01" name="AutoShape 25">
            <a:extLst>
              <a:ext uri="{FF2B5EF4-FFF2-40B4-BE49-F238E27FC236}">
                <a16:creationId xmlns:a16="http://schemas.microsoft.com/office/drawing/2014/main" id="{B3C68C23-0EB4-4C81-1C7C-F11A9B77D575}"/>
              </a:ext>
            </a:extLst>
          </p:cNvPr>
          <p:cNvCxnSpPr>
            <a:cxnSpLocks noChangeAspect="1" noChangeShapeType="1"/>
            <a:stCxn id="715808" idx="2"/>
            <a:endCxn id="715806" idx="0"/>
          </p:cNvCxnSpPr>
          <p:nvPr/>
        </p:nvCxnSpPr>
        <p:spPr bwMode="auto">
          <a:xfrm rot="5400000">
            <a:off x="4858544" y="2715419"/>
            <a:ext cx="252412" cy="431800"/>
          </a:xfrm>
          <a:prstGeom prst="bentConnector3">
            <a:avLst>
              <a:gd name="adj1" fmla="val 4968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02" name="AutoShape 26">
            <a:extLst>
              <a:ext uri="{FF2B5EF4-FFF2-40B4-BE49-F238E27FC236}">
                <a16:creationId xmlns:a16="http://schemas.microsoft.com/office/drawing/2014/main" id="{8372C038-0602-10F2-528F-9E39B9A02499}"/>
              </a:ext>
            </a:extLst>
          </p:cNvPr>
          <p:cNvCxnSpPr>
            <a:cxnSpLocks noChangeAspect="1" noChangeShapeType="1"/>
            <a:stCxn id="715807" idx="2"/>
            <a:endCxn id="715806" idx="0"/>
          </p:cNvCxnSpPr>
          <p:nvPr/>
        </p:nvCxnSpPr>
        <p:spPr bwMode="auto">
          <a:xfrm rot="16200000" flipH="1">
            <a:off x="4426744" y="2715419"/>
            <a:ext cx="252412" cy="431800"/>
          </a:xfrm>
          <a:prstGeom prst="bentConnector3">
            <a:avLst>
              <a:gd name="adj1" fmla="val 4968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5803" name="Text Box 27">
            <a:extLst>
              <a:ext uri="{FF2B5EF4-FFF2-40B4-BE49-F238E27FC236}">
                <a16:creationId xmlns:a16="http://schemas.microsoft.com/office/drawing/2014/main" id="{9A83242E-7B0A-FBC7-ACCA-D0261AD0F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2163763"/>
            <a:ext cx="968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15804" name="Text Box 28">
            <a:extLst>
              <a:ext uri="{FF2B5EF4-FFF2-40B4-BE49-F238E27FC236}">
                <a16:creationId xmlns:a16="http://schemas.microsoft.com/office/drawing/2014/main" id="{0428EE92-F51B-00CB-C831-2A465210D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2163763"/>
            <a:ext cx="968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715805" name="AutoShape 29">
            <a:extLst>
              <a:ext uri="{FF2B5EF4-FFF2-40B4-BE49-F238E27FC236}">
                <a16:creationId xmlns:a16="http://schemas.microsoft.com/office/drawing/2014/main" id="{70FF9E95-994A-8C43-19D3-8DCA1D2903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7225" y="2162175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864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expr1</a:t>
            </a:r>
          </a:p>
          <a:p>
            <a:pPr algn="ctr"/>
            <a:r>
              <a:rPr lang="en-US" altLang="en-US" sz="1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715806" name="AutoShape 30">
            <a:extLst>
              <a:ext uri="{FF2B5EF4-FFF2-40B4-BE49-F238E27FC236}">
                <a16:creationId xmlns:a16="http://schemas.microsoft.com/office/drawing/2014/main" id="{B3999C43-E973-DB7C-49DB-73A14159C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488" y="3057525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statm4</a:t>
            </a:r>
          </a:p>
        </p:txBody>
      </p:sp>
      <p:sp>
        <p:nvSpPr>
          <p:cNvPr id="715807" name="AutoShape 31">
            <a:extLst>
              <a:ext uri="{FF2B5EF4-FFF2-40B4-BE49-F238E27FC236}">
                <a16:creationId xmlns:a16="http://schemas.microsoft.com/office/drawing/2014/main" id="{9EB0A2A5-BB3E-3BC4-5C57-AF82638CF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2552700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statm2</a:t>
            </a:r>
          </a:p>
        </p:txBody>
      </p:sp>
      <p:sp>
        <p:nvSpPr>
          <p:cNvPr id="715808" name="AutoShape 32">
            <a:extLst>
              <a:ext uri="{FF2B5EF4-FFF2-40B4-BE49-F238E27FC236}">
                <a16:creationId xmlns:a16="http://schemas.microsoft.com/office/drawing/2014/main" id="{6556AE96-7645-765D-4BBC-B896000B0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288" y="2552700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statm3</a:t>
            </a:r>
          </a:p>
        </p:txBody>
      </p:sp>
      <p:cxnSp>
        <p:nvCxnSpPr>
          <p:cNvPr id="715809" name="AutoShape 33">
            <a:extLst>
              <a:ext uri="{FF2B5EF4-FFF2-40B4-BE49-F238E27FC236}">
                <a16:creationId xmlns:a16="http://schemas.microsoft.com/office/drawing/2014/main" id="{FD2B1238-30B3-35A5-8E71-3E437602A0ED}"/>
              </a:ext>
            </a:extLst>
          </p:cNvPr>
          <p:cNvCxnSpPr>
            <a:cxnSpLocks noChangeAspect="1" noChangeShapeType="1"/>
            <a:endCxn id="715819" idx="0"/>
          </p:cNvCxnSpPr>
          <p:nvPr/>
        </p:nvCxnSpPr>
        <p:spPr bwMode="auto">
          <a:xfrm>
            <a:off x="4768850" y="3417888"/>
            <a:ext cx="0" cy="125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10" name="AutoShape 34">
            <a:extLst>
              <a:ext uri="{FF2B5EF4-FFF2-40B4-BE49-F238E27FC236}">
                <a16:creationId xmlns:a16="http://schemas.microsoft.com/office/drawing/2014/main" id="{E7F3555F-A107-CB42-B6E2-DD63BFE2EEA4}"/>
              </a:ext>
            </a:extLst>
          </p:cNvPr>
          <p:cNvCxnSpPr>
            <a:cxnSpLocks noChangeAspect="1" noChangeShapeType="1"/>
            <a:stCxn id="715819" idx="3"/>
            <a:endCxn id="715823" idx="0"/>
          </p:cNvCxnSpPr>
          <p:nvPr/>
        </p:nvCxnSpPr>
        <p:spPr bwMode="auto">
          <a:xfrm>
            <a:off x="5070475" y="3743325"/>
            <a:ext cx="303213" cy="34448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11" name="AutoShape 35">
            <a:extLst>
              <a:ext uri="{FF2B5EF4-FFF2-40B4-BE49-F238E27FC236}">
                <a16:creationId xmlns:a16="http://schemas.microsoft.com/office/drawing/2014/main" id="{1FA15CF3-0C23-0B60-A50F-DAB2811B13B0}"/>
              </a:ext>
            </a:extLst>
          </p:cNvPr>
          <p:cNvCxnSpPr>
            <a:cxnSpLocks noChangeAspect="1" noChangeShapeType="1"/>
            <a:stCxn id="715819" idx="1"/>
            <a:endCxn id="715822" idx="0"/>
          </p:cNvCxnSpPr>
          <p:nvPr/>
        </p:nvCxnSpPr>
        <p:spPr bwMode="auto">
          <a:xfrm rot="10800000" flipV="1">
            <a:off x="4164013" y="3743325"/>
            <a:ext cx="303212" cy="34448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12" name="AutoShape 36">
            <a:extLst>
              <a:ext uri="{FF2B5EF4-FFF2-40B4-BE49-F238E27FC236}">
                <a16:creationId xmlns:a16="http://schemas.microsoft.com/office/drawing/2014/main" id="{4F5AE29D-3CB3-9988-936A-4EB2B3F37AF4}"/>
              </a:ext>
            </a:extLst>
          </p:cNvPr>
          <p:cNvCxnSpPr>
            <a:cxnSpLocks noChangeAspect="1" noChangeShapeType="1"/>
            <a:stCxn id="715823" idx="2"/>
            <a:endCxn id="715820" idx="0"/>
          </p:cNvCxnSpPr>
          <p:nvPr/>
        </p:nvCxnSpPr>
        <p:spPr bwMode="auto">
          <a:xfrm rot="5400000">
            <a:off x="4931569" y="4177506"/>
            <a:ext cx="279400" cy="604838"/>
          </a:xfrm>
          <a:prstGeom prst="bentConnector3">
            <a:avLst>
              <a:gd name="adj1" fmla="val 4943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13" name="AutoShape 37">
            <a:extLst>
              <a:ext uri="{FF2B5EF4-FFF2-40B4-BE49-F238E27FC236}">
                <a16:creationId xmlns:a16="http://schemas.microsoft.com/office/drawing/2014/main" id="{CE1D2E0F-C4D6-AD4A-3EF4-7DB4E9BDA729}"/>
              </a:ext>
            </a:extLst>
          </p:cNvPr>
          <p:cNvCxnSpPr>
            <a:cxnSpLocks noChangeAspect="1" noChangeShapeType="1"/>
            <a:stCxn id="715822" idx="2"/>
            <a:endCxn id="715820" idx="0"/>
          </p:cNvCxnSpPr>
          <p:nvPr/>
        </p:nvCxnSpPr>
        <p:spPr bwMode="auto">
          <a:xfrm rot="16200000" flipH="1">
            <a:off x="4326732" y="4177506"/>
            <a:ext cx="279400" cy="604837"/>
          </a:xfrm>
          <a:prstGeom prst="bentConnector3">
            <a:avLst>
              <a:gd name="adj1" fmla="val 4943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14" name="AutoShape 38">
            <a:extLst>
              <a:ext uri="{FF2B5EF4-FFF2-40B4-BE49-F238E27FC236}">
                <a16:creationId xmlns:a16="http://schemas.microsoft.com/office/drawing/2014/main" id="{A3D9D89D-45B8-5194-B3AF-0B7F9296E247}"/>
              </a:ext>
            </a:extLst>
          </p:cNvPr>
          <p:cNvCxnSpPr>
            <a:cxnSpLocks noChangeAspect="1" noChangeShapeType="1"/>
            <a:stCxn id="715819" idx="2"/>
            <a:endCxn id="715821" idx="0"/>
          </p:cNvCxnSpPr>
          <p:nvPr/>
        </p:nvCxnSpPr>
        <p:spPr bwMode="auto">
          <a:xfrm>
            <a:off x="4768850" y="3943350"/>
            <a:ext cx="0" cy="142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15" name="AutoShape 39">
            <a:extLst>
              <a:ext uri="{FF2B5EF4-FFF2-40B4-BE49-F238E27FC236}">
                <a16:creationId xmlns:a16="http://schemas.microsoft.com/office/drawing/2014/main" id="{2E444414-697D-26E2-23D2-1272C72D22A3}"/>
              </a:ext>
            </a:extLst>
          </p:cNvPr>
          <p:cNvCxnSpPr>
            <a:cxnSpLocks noChangeAspect="1" noChangeShapeType="1"/>
            <a:stCxn id="715821" idx="2"/>
            <a:endCxn id="715820" idx="0"/>
          </p:cNvCxnSpPr>
          <p:nvPr/>
        </p:nvCxnSpPr>
        <p:spPr bwMode="auto">
          <a:xfrm>
            <a:off x="4768850" y="4338638"/>
            <a:ext cx="0" cy="2809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5816" name="Text Box 40">
            <a:extLst>
              <a:ext uri="{FF2B5EF4-FFF2-40B4-BE49-F238E27FC236}">
                <a16:creationId xmlns:a16="http://schemas.microsoft.com/office/drawing/2014/main" id="{9A429257-646B-7D10-9966-F4DE6DDA2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3873500"/>
            <a:ext cx="889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15817" name="Text Box 41">
            <a:extLst>
              <a:ext uri="{FF2B5EF4-FFF2-40B4-BE49-F238E27FC236}">
                <a16:creationId xmlns:a16="http://schemas.microsoft.com/office/drawing/2014/main" id="{B7916AD3-C3B0-3E2E-8B51-10A9D128B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543300"/>
            <a:ext cx="889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15818" name="Text Box 42">
            <a:extLst>
              <a:ext uri="{FF2B5EF4-FFF2-40B4-BE49-F238E27FC236}">
                <a16:creationId xmlns:a16="http://schemas.microsoft.com/office/drawing/2014/main" id="{C27E7BFC-5AB1-45D2-028B-C530D34E7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225" y="3543300"/>
            <a:ext cx="889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715819" name="AutoShape 43">
            <a:extLst>
              <a:ext uri="{FF2B5EF4-FFF2-40B4-BE49-F238E27FC236}">
                <a16:creationId xmlns:a16="http://schemas.microsoft.com/office/drawing/2014/main" id="{E3DB2E06-FA04-0A87-73C2-D4924EFE75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7225" y="3543300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864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expr1</a:t>
            </a:r>
          </a:p>
          <a:p>
            <a:pPr algn="ctr"/>
            <a:r>
              <a:rPr lang="en-US" altLang="en-US" sz="1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715820" name="AutoShape 44">
            <a:extLst>
              <a:ext uri="{FF2B5EF4-FFF2-40B4-BE49-F238E27FC236}">
                <a16:creationId xmlns:a16="http://schemas.microsoft.com/office/drawing/2014/main" id="{852C194F-3754-8028-61F8-B0794B91F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488" y="4619625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statm5</a:t>
            </a:r>
          </a:p>
        </p:txBody>
      </p:sp>
      <p:sp>
        <p:nvSpPr>
          <p:cNvPr id="715821" name="AutoShape 45">
            <a:extLst>
              <a:ext uri="{FF2B5EF4-FFF2-40B4-BE49-F238E27FC236}">
                <a16:creationId xmlns:a16="http://schemas.microsoft.com/office/drawing/2014/main" id="{15AA0237-9E0E-CA93-F3DF-0584F81DE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488" y="4086225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statm3</a:t>
            </a:r>
          </a:p>
        </p:txBody>
      </p:sp>
      <p:sp>
        <p:nvSpPr>
          <p:cNvPr id="715822" name="AutoShape 46">
            <a:extLst>
              <a:ext uri="{FF2B5EF4-FFF2-40B4-BE49-F238E27FC236}">
                <a16:creationId xmlns:a16="http://schemas.microsoft.com/office/drawing/2014/main" id="{5C3B67D1-8BA1-C409-9427-C9F1B5CE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0650" y="4087813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statm2</a:t>
            </a:r>
          </a:p>
        </p:txBody>
      </p:sp>
      <p:sp>
        <p:nvSpPr>
          <p:cNvPr id="715823" name="AutoShape 47">
            <a:extLst>
              <a:ext uri="{FF2B5EF4-FFF2-40B4-BE49-F238E27FC236}">
                <a16:creationId xmlns:a16="http://schemas.microsoft.com/office/drawing/2014/main" id="{722F83CB-344C-7F85-4A17-23B34B004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4087813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statm4</a:t>
            </a:r>
          </a:p>
        </p:txBody>
      </p:sp>
      <p:cxnSp>
        <p:nvCxnSpPr>
          <p:cNvPr id="715825" name="AutoShape 49">
            <a:extLst>
              <a:ext uri="{FF2B5EF4-FFF2-40B4-BE49-F238E27FC236}">
                <a16:creationId xmlns:a16="http://schemas.microsoft.com/office/drawing/2014/main" id="{B4165D48-659C-AD45-6735-4C3B99285073}"/>
              </a:ext>
            </a:extLst>
          </p:cNvPr>
          <p:cNvCxnSpPr>
            <a:cxnSpLocks noChangeShapeType="1"/>
            <a:stCxn id="715830" idx="2"/>
            <a:endCxn id="715831" idx="0"/>
          </p:cNvCxnSpPr>
          <p:nvPr/>
        </p:nvCxnSpPr>
        <p:spPr bwMode="auto">
          <a:xfrm rot="10800000" flipV="1">
            <a:off x="6353175" y="2314575"/>
            <a:ext cx="231775" cy="25241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27" name="AutoShape 51">
            <a:extLst>
              <a:ext uri="{FF2B5EF4-FFF2-40B4-BE49-F238E27FC236}">
                <a16:creationId xmlns:a16="http://schemas.microsoft.com/office/drawing/2014/main" id="{4B7F4CB5-B64A-D2F3-C0DB-2035D2D04406}"/>
              </a:ext>
            </a:extLst>
          </p:cNvPr>
          <p:cNvCxnSpPr>
            <a:cxnSpLocks noChangeShapeType="1"/>
            <a:stCxn id="715830" idx="6"/>
            <a:endCxn id="715832" idx="0"/>
          </p:cNvCxnSpPr>
          <p:nvPr/>
        </p:nvCxnSpPr>
        <p:spPr bwMode="auto">
          <a:xfrm>
            <a:off x="6813550" y="2314575"/>
            <a:ext cx="233363" cy="25241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28" name="AutoShape 52">
            <a:extLst>
              <a:ext uri="{FF2B5EF4-FFF2-40B4-BE49-F238E27FC236}">
                <a16:creationId xmlns:a16="http://schemas.microsoft.com/office/drawing/2014/main" id="{BA304DEC-44C9-23BA-7B93-827C7F1D310C}"/>
              </a:ext>
            </a:extLst>
          </p:cNvPr>
          <p:cNvCxnSpPr>
            <a:cxnSpLocks noChangeShapeType="1"/>
            <a:stCxn id="715831" idx="4"/>
            <a:endCxn id="715833" idx="1"/>
          </p:cNvCxnSpPr>
          <p:nvPr/>
        </p:nvCxnSpPr>
        <p:spPr bwMode="auto">
          <a:xfrm rot="16200000" flipH="1">
            <a:off x="6329363" y="2819400"/>
            <a:ext cx="312737" cy="265113"/>
          </a:xfrm>
          <a:prstGeom prst="curvedConnector3">
            <a:avLst>
              <a:gd name="adj1" fmla="val 4467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29" name="AutoShape 53">
            <a:extLst>
              <a:ext uri="{FF2B5EF4-FFF2-40B4-BE49-F238E27FC236}">
                <a16:creationId xmlns:a16="http://schemas.microsoft.com/office/drawing/2014/main" id="{4FB58019-352E-AAC0-BD7C-59B161B7E516}"/>
              </a:ext>
            </a:extLst>
          </p:cNvPr>
          <p:cNvCxnSpPr>
            <a:cxnSpLocks noChangeShapeType="1"/>
            <a:stCxn id="715832" idx="4"/>
            <a:endCxn id="715833" idx="7"/>
          </p:cNvCxnSpPr>
          <p:nvPr/>
        </p:nvCxnSpPr>
        <p:spPr bwMode="auto">
          <a:xfrm rot="5400000">
            <a:off x="6757194" y="2818607"/>
            <a:ext cx="312737" cy="266700"/>
          </a:xfrm>
          <a:prstGeom prst="curvedConnector3">
            <a:avLst>
              <a:gd name="adj1" fmla="val 4467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5830" name="Oval 54">
            <a:extLst>
              <a:ext uri="{FF2B5EF4-FFF2-40B4-BE49-F238E27FC236}">
                <a16:creationId xmlns:a16="http://schemas.microsoft.com/office/drawing/2014/main" id="{A262B715-D7E4-6F97-817C-F02BB2369F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84950" y="2200275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n1</a:t>
            </a:r>
          </a:p>
        </p:txBody>
      </p:sp>
      <p:sp>
        <p:nvSpPr>
          <p:cNvPr id="715831" name="Oval 55">
            <a:extLst>
              <a:ext uri="{FF2B5EF4-FFF2-40B4-BE49-F238E27FC236}">
                <a16:creationId xmlns:a16="http://schemas.microsoft.com/office/drawing/2014/main" id="{7ECDB495-9C8C-34B1-F43B-FDD7B7E16F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38875" y="2566988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n2</a:t>
            </a:r>
          </a:p>
        </p:txBody>
      </p:sp>
      <p:sp>
        <p:nvSpPr>
          <p:cNvPr id="715832" name="Oval 56">
            <a:extLst>
              <a:ext uri="{FF2B5EF4-FFF2-40B4-BE49-F238E27FC236}">
                <a16:creationId xmlns:a16="http://schemas.microsoft.com/office/drawing/2014/main" id="{121BBC30-7B5A-1649-56A4-672C300EA2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2613" y="2566988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n3</a:t>
            </a:r>
          </a:p>
        </p:txBody>
      </p:sp>
      <p:sp>
        <p:nvSpPr>
          <p:cNvPr id="715833" name="Oval 57">
            <a:extLst>
              <a:ext uri="{FF2B5EF4-FFF2-40B4-BE49-F238E27FC236}">
                <a16:creationId xmlns:a16="http://schemas.microsoft.com/office/drawing/2014/main" id="{FA4436EF-5DD3-3515-62E4-06789A44ED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84950" y="3074988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n4</a:t>
            </a:r>
          </a:p>
        </p:txBody>
      </p:sp>
      <p:grpSp>
        <p:nvGrpSpPr>
          <p:cNvPr id="715834" name="Group 58">
            <a:extLst>
              <a:ext uri="{FF2B5EF4-FFF2-40B4-BE49-F238E27FC236}">
                <a16:creationId xmlns:a16="http://schemas.microsoft.com/office/drawing/2014/main" id="{0E323216-1E98-EF3A-638C-3E5FAA472DB5}"/>
              </a:ext>
            </a:extLst>
          </p:cNvPr>
          <p:cNvGrpSpPr>
            <a:grpSpLocks/>
          </p:cNvGrpSpPr>
          <p:nvPr/>
        </p:nvGrpSpPr>
        <p:grpSpPr bwMode="auto">
          <a:xfrm>
            <a:off x="6211888" y="3514725"/>
            <a:ext cx="979487" cy="1260475"/>
            <a:chOff x="3382" y="2224"/>
            <a:chExt cx="617" cy="794"/>
          </a:xfrm>
        </p:grpSpPr>
        <p:cxnSp>
          <p:nvCxnSpPr>
            <p:cNvPr id="715835" name="AutoShape 59">
              <a:extLst>
                <a:ext uri="{FF2B5EF4-FFF2-40B4-BE49-F238E27FC236}">
                  <a16:creationId xmlns:a16="http://schemas.microsoft.com/office/drawing/2014/main" id="{D21C42C7-A143-14EE-F06E-196A6189D075}"/>
                </a:ext>
              </a:extLst>
            </p:cNvPr>
            <p:cNvCxnSpPr>
              <a:cxnSpLocks noChangeShapeType="1"/>
              <a:stCxn id="715842" idx="2"/>
              <a:endCxn id="715843" idx="0"/>
            </p:cNvCxnSpPr>
            <p:nvPr/>
          </p:nvCxnSpPr>
          <p:spPr bwMode="auto">
            <a:xfrm rot="10800000" flipV="1">
              <a:off x="3454" y="2395"/>
              <a:ext cx="164" cy="1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5836" name="AutoShape 60">
              <a:extLst>
                <a:ext uri="{FF2B5EF4-FFF2-40B4-BE49-F238E27FC236}">
                  <a16:creationId xmlns:a16="http://schemas.microsoft.com/office/drawing/2014/main" id="{B27232BF-186D-0A85-8B1C-C9A11EDEA4DB}"/>
                </a:ext>
              </a:extLst>
            </p:cNvPr>
            <p:cNvCxnSpPr>
              <a:cxnSpLocks noChangeShapeType="1"/>
              <a:endCxn id="715842" idx="0"/>
            </p:cNvCxnSpPr>
            <p:nvPr/>
          </p:nvCxnSpPr>
          <p:spPr bwMode="auto">
            <a:xfrm>
              <a:off x="3690" y="2224"/>
              <a:ext cx="0" cy="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5837" name="AutoShape 61">
              <a:extLst>
                <a:ext uri="{FF2B5EF4-FFF2-40B4-BE49-F238E27FC236}">
                  <a16:creationId xmlns:a16="http://schemas.microsoft.com/office/drawing/2014/main" id="{B71AE0F0-F189-D73A-C6B7-C37A53070233}"/>
                </a:ext>
              </a:extLst>
            </p:cNvPr>
            <p:cNvCxnSpPr>
              <a:cxnSpLocks noChangeShapeType="1"/>
              <a:stCxn id="715842" idx="6"/>
              <a:endCxn id="715844" idx="0"/>
            </p:cNvCxnSpPr>
            <p:nvPr/>
          </p:nvCxnSpPr>
          <p:spPr bwMode="auto">
            <a:xfrm>
              <a:off x="3762" y="2395"/>
              <a:ext cx="165" cy="1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5838" name="AutoShape 62">
              <a:extLst>
                <a:ext uri="{FF2B5EF4-FFF2-40B4-BE49-F238E27FC236}">
                  <a16:creationId xmlns:a16="http://schemas.microsoft.com/office/drawing/2014/main" id="{A65FFE08-0A08-D67D-33A2-03683CFFBC97}"/>
                </a:ext>
              </a:extLst>
            </p:cNvPr>
            <p:cNvCxnSpPr>
              <a:cxnSpLocks noChangeShapeType="1"/>
              <a:stCxn id="715843" idx="4"/>
              <a:endCxn id="715845" idx="1"/>
            </p:cNvCxnSpPr>
            <p:nvPr/>
          </p:nvCxnSpPr>
          <p:spPr bwMode="auto">
            <a:xfrm rot="16200000" flipH="1">
              <a:off x="3448" y="2704"/>
              <a:ext cx="197" cy="185"/>
            </a:xfrm>
            <a:prstGeom prst="curvedConnector3">
              <a:avLst>
                <a:gd name="adj1" fmla="val 44671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5839" name="AutoShape 63">
              <a:extLst>
                <a:ext uri="{FF2B5EF4-FFF2-40B4-BE49-F238E27FC236}">
                  <a16:creationId xmlns:a16="http://schemas.microsoft.com/office/drawing/2014/main" id="{133075D7-6A1D-12AE-6EAF-010476146051}"/>
                </a:ext>
              </a:extLst>
            </p:cNvPr>
            <p:cNvCxnSpPr>
              <a:cxnSpLocks noChangeShapeType="1"/>
              <a:stCxn id="715844" idx="4"/>
              <a:endCxn id="715845" idx="7"/>
            </p:cNvCxnSpPr>
            <p:nvPr/>
          </p:nvCxnSpPr>
          <p:spPr bwMode="auto">
            <a:xfrm rot="5400000">
              <a:off x="3735" y="2704"/>
              <a:ext cx="197" cy="186"/>
            </a:xfrm>
            <a:prstGeom prst="curvedConnector3">
              <a:avLst>
                <a:gd name="adj1" fmla="val 44671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5840" name="AutoShape 64">
              <a:extLst>
                <a:ext uri="{FF2B5EF4-FFF2-40B4-BE49-F238E27FC236}">
                  <a16:creationId xmlns:a16="http://schemas.microsoft.com/office/drawing/2014/main" id="{268F7017-EA72-1FD4-50B0-D4818E5B8189}"/>
                </a:ext>
              </a:extLst>
            </p:cNvPr>
            <p:cNvCxnSpPr>
              <a:cxnSpLocks noChangeShapeType="1"/>
              <a:stCxn id="715842" idx="4"/>
              <a:endCxn id="715846" idx="0"/>
            </p:cNvCxnSpPr>
            <p:nvPr/>
          </p:nvCxnSpPr>
          <p:spPr bwMode="auto">
            <a:xfrm>
              <a:off x="3690" y="2467"/>
              <a:ext cx="0" cy="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5841" name="AutoShape 65">
              <a:extLst>
                <a:ext uri="{FF2B5EF4-FFF2-40B4-BE49-F238E27FC236}">
                  <a16:creationId xmlns:a16="http://schemas.microsoft.com/office/drawing/2014/main" id="{DE330015-269A-C6B7-02DC-E569F2D01442}"/>
                </a:ext>
              </a:extLst>
            </p:cNvPr>
            <p:cNvCxnSpPr>
              <a:cxnSpLocks noChangeShapeType="1"/>
              <a:stCxn id="715846" idx="4"/>
              <a:endCxn id="715845" idx="0"/>
            </p:cNvCxnSpPr>
            <p:nvPr/>
          </p:nvCxnSpPr>
          <p:spPr bwMode="auto">
            <a:xfrm>
              <a:off x="3690" y="2698"/>
              <a:ext cx="0" cy="1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5842" name="Oval 66">
              <a:extLst>
                <a:ext uri="{FF2B5EF4-FFF2-40B4-BE49-F238E27FC236}">
                  <a16:creationId xmlns:a16="http://schemas.microsoft.com/office/drawing/2014/main" id="{D696BD29-39F2-C7C8-C589-8BD43C26F8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18" y="2323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n1</a:t>
              </a:r>
            </a:p>
          </p:txBody>
        </p:sp>
        <p:sp>
          <p:nvSpPr>
            <p:cNvPr id="715843" name="Oval 67">
              <a:extLst>
                <a:ext uri="{FF2B5EF4-FFF2-40B4-BE49-F238E27FC236}">
                  <a16:creationId xmlns:a16="http://schemas.microsoft.com/office/drawing/2014/main" id="{EF69B825-E20C-5B54-0BC0-A65AD62C60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2" y="2554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n2</a:t>
              </a:r>
            </a:p>
          </p:txBody>
        </p:sp>
        <p:sp>
          <p:nvSpPr>
            <p:cNvPr id="715844" name="Oval 68">
              <a:extLst>
                <a:ext uri="{FF2B5EF4-FFF2-40B4-BE49-F238E27FC236}">
                  <a16:creationId xmlns:a16="http://schemas.microsoft.com/office/drawing/2014/main" id="{7130804F-8BBF-7419-1435-C01EF584BF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5" y="2554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n4</a:t>
              </a:r>
            </a:p>
          </p:txBody>
        </p:sp>
        <p:sp>
          <p:nvSpPr>
            <p:cNvPr id="715845" name="Oval 69">
              <a:extLst>
                <a:ext uri="{FF2B5EF4-FFF2-40B4-BE49-F238E27FC236}">
                  <a16:creationId xmlns:a16="http://schemas.microsoft.com/office/drawing/2014/main" id="{46F22BD8-A452-0748-09CE-8F64A7CE81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18" y="2874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n5</a:t>
              </a:r>
            </a:p>
          </p:txBody>
        </p:sp>
        <p:sp>
          <p:nvSpPr>
            <p:cNvPr id="715846" name="Oval 70">
              <a:extLst>
                <a:ext uri="{FF2B5EF4-FFF2-40B4-BE49-F238E27FC236}">
                  <a16:creationId xmlns:a16="http://schemas.microsoft.com/office/drawing/2014/main" id="{9E490959-1E7D-2D50-7F5A-2DD0487F1B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18" y="2554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n3</a:t>
              </a:r>
            </a:p>
          </p:txBody>
        </p:sp>
      </p:grpSp>
      <p:cxnSp>
        <p:nvCxnSpPr>
          <p:cNvPr id="715847" name="AutoShape 71">
            <a:extLst>
              <a:ext uri="{FF2B5EF4-FFF2-40B4-BE49-F238E27FC236}">
                <a16:creationId xmlns:a16="http://schemas.microsoft.com/office/drawing/2014/main" id="{773D0290-8AA7-E03A-13C1-E017375B69EE}"/>
              </a:ext>
            </a:extLst>
          </p:cNvPr>
          <p:cNvCxnSpPr>
            <a:cxnSpLocks noChangeAspect="1" noChangeShapeType="1"/>
            <a:stCxn id="715855" idx="2"/>
            <a:endCxn id="715853" idx="0"/>
          </p:cNvCxnSpPr>
          <p:nvPr/>
        </p:nvCxnSpPr>
        <p:spPr bwMode="auto">
          <a:xfrm>
            <a:off x="4768850" y="5410200"/>
            <a:ext cx="0" cy="157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48" name="AutoShape 72">
            <a:extLst>
              <a:ext uri="{FF2B5EF4-FFF2-40B4-BE49-F238E27FC236}">
                <a16:creationId xmlns:a16="http://schemas.microsoft.com/office/drawing/2014/main" id="{15DCB22B-221E-3E54-2201-42501F1A4A3C}"/>
              </a:ext>
            </a:extLst>
          </p:cNvPr>
          <p:cNvCxnSpPr>
            <a:cxnSpLocks noChangeAspect="1" noChangeShapeType="1"/>
            <a:stCxn id="715853" idx="1"/>
            <a:endCxn id="715855" idx="1"/>
          </p:cNvCxnSpPr>
          <p:nvPr/>
        </p:nvCxnSpPr>
        <p:spPr bwMode="auto">
          <a:xfrm rot="10800000" flipH="1">
            <a:off x="4467225" y="5284788"/>
            <a:ext cx="68263" cy="482600"/>
          </a:xfrm>
          <a:prstGeom prst="bentConnector3">
            <a:avLst>
              <a:gd name="adj1" fmla="val -33488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5849" name="Text Box 73">
            <a:extLst>
              <a:ext uri="{FF2B5EF4-FFF2-40B4-BE49-F238E27FC236}">
                <a16:creationId xmlns:a16="http://schemas.microsoft.com/office/drawing/2014/main" id="{FD839A78-5766-290A-F11D-814472229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6425" y="5568950"/>
            <a:ext cx="968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15850" name="Text Box 74">
            <a:extLst>
              <a:ext uri="{FF2B5EF4-FFF2-40B4-BE49-F238E27FC236}">
                <a16:creationId xmlns:a16="http://schemas.microsoft.com/office/drawing/2014/main" id="{E852CD02-F749-D416-DFA6-5183DAAC9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0" y="5938838"/>
            <a:ext cx="968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cxnSp>
        <p:nvCxnSpPr>
          <p:cNvPr id="715851" name="AutoShape 75">
            <a:extLst>
              <a:ext uri="{FF2B5EF4-FFF2-40B4-BE49-F238E27FC236}">
                <a16:creationId xmlns:a16="http://schemas.microsoft.com/office/drawing/2014/main" id="{309B9943-84F8-E426-9871-D8E0AF2F2266}"/>
              </a:ext>
            </a:extLst>
          </p:cNvPr>
          <p:cNvCxnSpPr>
            <a:cxnSpLocks noChangeAspect="1" noChangeShapeType="1"/>
            <a:stCxn id="715853" idx="2"/>
            <a:endCxn id="715854" idx="0"/>
          </p:cNvCxnSpPr>
          <p:nvPr/>
        </p:nvCxnSpPr>
        <p:spPr bwMode="auto">
          <a:xfrm>
            <a:off x="4768850" y="5967413"/>
            <a:ext cx="0" cy="219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5852" name="AutoShape 76">
            <a:extLst>
              <a:ext uri="{FF2B5EF4-FFF2-40B4-BE49-F238E27FC236}">
                <a16:creationId xmlns:a16="http://schemas.microsoft.com/office/drawing/2014/main" id="{377980EA-85CF-6556-1096-AD8313DC715A}"/>
              </a:ext>
            </a:extLst>
          </p:cNvPr>
          <p:cNvCxnSpPr>
            <a:cxnSpLocks noChangeAspect="1" noChangeShapeType="1"/>
            <a:endCxn id="715855" idx="0"/>
          </p:cNvCxnSpPr>
          <p:nvPr/>
        </p:nvCxnSpPr>
        <p:spPr bwMode="auto">
          <a:xfrm>
            <a:off x="4768850" y="4978400"/>
            <a:ext cx="0" cy="179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5853" name="AutoShape 77">
            <a:extLst>
              <a:ext uri="{FF2B5EF4-FFF2-40B4-BE49-F238E27FC236}">
                <a16:creationId xmlns:a16="http://schemas.microsoft.com/office/drawing/2014/main" id="{A557A02E-9309-8487-3E73-FE46D4E712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7225" y="5567363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864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expr2</a:t>
            </a:r>
          </a:p>
          <a:p>
            <a:pPr algn="ctr"/>
            <a:r>
              <a:rPr lang="en-US" altLang="en-US" sz="1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715854" name="AutoShape 78">
            <a:extLst>
              <a:ext uri="{FF2B5EF4-FFF2-40B4-BE49-F238E27FC236}">
                <a16:creationId xmlns:a16="http://schemas.microsoft.com/office/drawing/2014/main" id="{4E46C300-D0D5-67AE-2202-49309918E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488" y="6186488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statm3</a:t>
            </a:r>
          </a:p>
        </p:txBody>
      </p:sp>
      <p:sp>
        <p:nvSpPr>
          <p:cNvPr id="715855" name="AutoShape 79">
            <a:extLst>
              <a:ext uri="{FF2B5EF4-FFF2-40B4-BE49-F238E27FC236}">
                <a16:creationId xmlns:a16="http://schemas.microsoft.com/office/drawing/2014/main" id="{33B05D49-1CEF-2A47-5009-F181B34B0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488" y="5157788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statm1</a:t>
            </a:r>
          </a:p>
        </p:txBody>
      </p:sp>
      <p:grpSp>
        <p:nvGrpSpPr>
          <p:cNvPr id="715856" name="Group 80">
            <a:extLst>
              <a:ext uri="{FF2B5EF4-FFF2-40B4-BE49-F238E27FC236}">
                <a16:creationId xmlns:a16="http://schemas.microsoft.com/office/drawing/2014/main" id="{8DD66764-1782-DCD1-C838-D68164079178}"/>
              </a:ext>
            </a:extLst>
          </p:cNvPr>
          <p:cNvGrpSpPr>
            <a:grpSpLocks/>
          </p:cNvGrpSpPr>
          <p:nvPr/>
        </p:nvGrpSpPr>
        <p:grpSpPr bwMode="auto">
          <a:xfrm>
            <a:off x="6588125" y="5078413"/>
            <a:ext cx="228600" cy="1260475"/>
            <a:chOff x="3619" y="3209"/>
            <a:chExt cx="144" cy="794"/>
          </a:xfrm>
        </p:grpSpPr>
        <p:cxnSp>
          <p:nvCxnSpPr>
            <p:cNvPr id="715857" name="AutoShape 81">
              <a:extLst>
                <a:ext uri="{FF2B5EF4-FFF2-40B4-BE49-F238E27FC236}">
                  <a16:creationId xmlns:a16="http://schemas.microsoft.com/office/drawing/2014/main" id="{8CEAF5E1-FBC9-8765-DC88-FE423CBB3169}"/>
                </a:ext>
              </a:extLst>
            </p:cNvPr>
            <p:cNvCxnSpPr>
              <a:cxnSpLocks noChangeShapeType="1"/>
              <a:stCxn id="715862" idx="2"/>
              <a:endCxn id="715861" idx="2"/>
            </p:cNvCxnSpPr>
            <p:nvPr/>
          </p:nvCxnSpPr>
          <p:spPr bwMode="auto">
            <a:xfrm rot="10800000" flipH="1">
              <a:off x="3619" y="3380"/>
              <a:ext cx="1" cy="297"/>
            </a:xfrm>
            <a:prstGeom prst="curvedConnector3">
              <a:avLst>
                <a:gd name="adj1" fmla="val -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5858" name="AutoShape 82">
              <a:extLst>
                <a:ext uri="{FF2B5EF4-FFF2-40B4-BE49-F238E27FC236}">
                  <a16:creationId xmlns:a16="http://schemas.microsoft.com/office/drawing/2014/main" id="{8BC08114-705B-1971-9277-2BE48A799C4E}"/>
                </a:ext>
              </a:extLst>
            </p:cNvPr>
            <p:cNvCxnSpPr>
              <a:cxnSpLocks noChangeShapeType="1"/>
              <a:endCxn id="715861" idx="0"/>
            </p:cNvCxnSpPr>
            <p:nvPr/>
          </p:nvCxnSpPr>
          <p:spPr bwMode="auto">
            <a:xfrm>
              <a:off x="3691" y="3209"/>
              <a:ext cx="0" cy="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5859" name="AutoShape 83">
              <a:extLst>
                <a:ext uri="{FF2B5EF4-FFF2-40B4-BE49-F238E27FC236}">
                  <a16:creationId xmlns:a16="http://schemas.microsoft.com/office/drawing/2014/main" id="{3DEA6737-1695-DDF0-254D-73F67031F236}"/>
                </a:ext>
              </a:extLst>
            </p:cNvPr>
            <p:cNvCxnSpPr>
              <a:cxnSpLocks noChangeShapeType="1"/>
              <a:stCxn id="715861" idx="4"/>
              <a:endCxn id="715862" idx="0"/>
            </p:cNvCxnSpPr>
            <p:nvPr/>
          </p:nvCxnSpPr>
          <p:spPr bwMode="auto">
            <a:xfrm>
              <a:off x="3691" y="3452"/>
              <a:ext cx="0" cy="15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5860" name="AutoShape 84">
              <a:extLst>
                <a:ext uri="{FF2B5EF4-FFF2-40B4-BE49-F238E27FC236}">
                  <a16:creationId xmlns:a16="http://schemas.microsoft.com/office/drawing/2014/main" id="{D92C80E4-01DE-775F-9003-2693E42B78A1}"/>
                </a:ext>
              </a:extLst>
            </p:cNvPr>
            <p:cNvCxnSpPr>
              <a:cxnSpLocks noChangeShapeType="1"/>
              <a:stCxn id="715862" idx="4"/>
              <a:endCxn id="715863" idx="0"/>
            </p:cNvCxnSpPr>
            <p:nvPr/>
          </p:nvCxnSpPr>
          <p:spPr bwMode="auto">
            <a:xfrm>
              <a:off x="3691" y="3749"/>
              <a:ext cx="0" cy="1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5861" name="Oval 85">
              <a:extLst>
                <a:ext uri="{FF2B5EF4-FFF2-40B4-BE49-F238E27FC236}">
                  <a16:creationId xmlns:a16="http://schemas.microsoft.com/office/drawing/2014/main" id="{E1029203-43A2-8618-73CC-54B6CEDF12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19" y="3308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n1</a:t>
              </a:r>
            </a:p>
          </p:txBody>
        </p:sp>
        <p:sp>
          <p:nvSpPr>
            <p:cNvPr id="715862" name="Oval 86">
              <a:extLst>
                <a:ext uri="{FF2B5EF4-FFF2-40B4-BE49-F238E27FC236}">
                  <a16:creationId xmlns:a16="http://schemas.microsoft.com/office/drawing/2014/main" id="{E2527BCE-588E-6DDB-DF41-1AA1EC16B35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19" y="360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n2</a:t>
              </a:r>
            </a:p>
          </p:txBody>
        </p:sp>
        <p:sp>
          <p:nvSpPr>
            <p:cNvPr id="715863" name="Oval 87">
              <a:extLst>
                <a:ext uri="{FF2B5EF4-FFF2-40B4-BE49-F238E27FC236}">
                  <a16:creationId xmlns:a16="http://schemas.microsoft.com/office/drawing/2014/main" id="{893742D6-63B1-A8EB-73D5-B9938DE72F5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19" y="3859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n3</a:t>
              </a:r>
            </a:p>
          </p:txBody>
        </p:sp>
      </p:grpSp>
      <p:cxnSp>
        <p:nvCxnSpPr>
          <p:cNvPr id="715864" name="AutoShape 88">
            <a:extLst>
              <a:ext uri="{FF2B5EF4-FFF2-40B4-BE49-F238E27FC236}">
                <a16:creationId xmlns:a16="http://schemas.microsoft.com/office/drawing/2014/main" id="{1F7D948A-02AC-5C8A-6081-8543EF888BA0}"/>
              </a:ext>
            </a:extLst>
          </p:cNvPr>
          <p:cNvCxnSpPr>
            <a:cxnSpLocks noChangeShapeType="1"/>
            <a:stCxn id="715833" idx="5"/>
            <a:endCxn id="715865" idx="0"/>
          </p:cNvCxnSpPr>
          <p:nvPr/>
        </p:nvCxnSpPr>
        <p:spPr bwMode="auto">
          <a:xfrm rot="16200000" flipV="1">
            <a:off x="6132513" y="2622550"/>
            <a:ext cx="1214437" cy="80963"/>
          </a:xfrm>
          <a:prstGeom prst="curvedConnector5">
            <a:avLst>
              <a:gd name="adj1" fmla="val -21569"/>
              <a:gd name="adj2" fmla="val -1076472"/>
              <a:gd name="adj3" fmla="val 118824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5865" name="Line 89">
            <a:extLst>
              <a:ext uri="{FF2B5EF4-FFF2-40B4-BE49-F238E27FC236}">
                <a16:creationId xmlns:a16="http://schemas.microsoft.com/office/drawing/2014/main" id="{2E01687B-D961-7755-C5D5-6A81A6F0E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9250" y="2055813"/>
            <a:ext cx="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5866" name="AutoShape 90">
            <a:extLst>
              <a:ext uri="{FF2B5EF4-FFF2-40B4-BE49-F238E27FC236}">
                <a16:creationId xmlns:a16="http://schemas.microsoft.com/office/drawing/2014/main" id="{F065223E-ACC1-4605-8C08-FDA47C81B7D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653213" y="2120900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5867" name="Rectangle 91">
            <a:extLst>
              <a:ext uri="{FF2B5EF4-FFF2-40B4-BE49-F238E27FC236}">
                <a16:creationId xmlns:a16="http://schemas.microsoft.com/office/drawing/2014/main" id="{F64258B4-3887-6758-6826-E76CFC7B7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2274888"/>
            <a:ext cx="1800225" cy="838200"/>
          </a:xfrm>
          <a:prstGeom prst="rect">
            <a:avLst/>
          </a:prstGeom>
          <a:solidFill>
            <a:srgbClr val="FFFFFF">
              <a:alpha val="60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t>For a strongly connected graph:</a:t>
            </a:r>
          </a:p>
          <a:p>
            <a:pPr>
              <a:spcBef>
                <a:spcPct val="50000"/>
              </a:spcBef>
            </a:pPr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t>Create a </a:t>
            </a:r>
            <a:r>
              <a:rPr lang="en-US" altLang="en-US" sz="1000" b="1" i="1">
                <a:latin typeface="Arial" panose="020B0604020202020204" pitchFamily="34" charset="0"/>
                <a:cs typeface="Arial" panose="020B0604020202020204" pitchFamily="34" charset="0"/>
              </a:rPr>
              <a:t>virtual edge</a:t>
            </a:r>
          </a:p>
          <a:p>
            <a:pPr>
              <a:spcBef>
                <a:spcPct val="50000"/>
              </a:spcBef>
            </a:pPr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t>to connect the END node</a:t>
            </a:r>
          </a:p>
          <a:p>
            <a:pPr>
              <a:spcBef>
                <a:spcPct val="50000"/>
              </a:spcBef>
            </a:pPr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t>to the BEGIN node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B1AC6F1-2E22-F396-B96E-9474EAE63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7A302-049A-7A4E-8D67-7C2E526A00FE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744450" name="Rectangle 2">
            <a:extLst>
              <a:ext uri="{FF2B5EF4-FFF2-40B4-BE49-F238E27FC236}">
                <a16:creationId xmlns:a16="http://schemas.microsoft.com/office/drawing/2014/main" id="{809F7603-22FE-38ED-A7E4-84DFC1E56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Paths in Graphs (1)</a:t>
            </a:r>
          </a:p>
        </p:txBody>
      </p:sp>
      <p:sp>
        <p:nvSpPr>
          <p:cNvPr id="744451" name="Rectangle 3">
            <a:extLst>
              <a:ext uri="{FF2B5EF4-FFF2-40B4-BE49-F238E27FC236}">
                <a16:creationId xmlns:a16="http://schemas.microsoft.com/office/drawing/2014/main" id="{025DFDF9-43E5-C4AB-A110-8861BA2BFF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sz="2800"/>
              <a:t>A graph is </a:t>
            </a:r>
            <a:r>
              <a:rPr lang="en-US" altLang="en-US" sz="2800" b="1"/>
              <a:t>strongly connected</a:t>
            </a:r>
            <a:r>
              <a:rPr lang="en-US" altLang="en-US" sz="2800"/>
              <a:t> if for any two nodes </a:t>
            </a:r>
            <a:r>
              <a:rPr lang="en-US" altLang="en-US" sz="2800" i="1"/>
              <a:t>x</a:t>
            </a:r>
            <a:r>
              <a:rPr lang="en-US" altLang="en-US" sz="2800"/>
              <a:t>, </a:t>
            </a:r>
            <a:r>
              <a:rPr lang="en-US" altLang="en-US" sz="2800" i="1"/>
              <a:t>y</a:t>
            </a:r>
            <a:r>
              <a:rPr lang="en-US" altLang="en-US" sz="2800"/>
              <a:t> there is a path from </a:t>
            </a:r>
            <a:r>
              <a:rPr lang="en-US" altLang="en-US" sz="2800" i="1"/>
              <a:t>x</a:t>
            </a:r>
            <a:r>
              <a:rPr lang="en-US" altLang="en-US" sz="2800"/>
              <a:t> to </a:t>
            </a:r>
            <a:r>
              <a:rPr lang="en-US" altLang="en-US" sz="2800" i="1"/>
              <a:t>y</a:t>
            </a:r>
            <a:r>
              <a:rPr lang="en-US" altLang="en-US" sz="2800"/>
              <a:t> and vice versa</a:t>
            </a:r>
          </a:p>
          <a:p>
            <a:pPr>
              <a:spcBef>
                <a:spcPct val="50000"/>
              </a:spcBef>
            </a:pPr>
            <a:r>
              <a:rPr lang="en-US" altLang="en-US" sz="2800"/>
              <a:t>A </a:t>
            </a:r>
            <a:r>
              <a:rPr lang="en-US" altLang="en-US" sz="2800" b="1"/>
              <a:t>path</a:t>
            </a:r>
            <a:r>
              <a:rPr lang="en-US" altLang="en-US" sz="2800"/>
              <a:t> is represented as an </a:t>
            </a:r>
            <a:r>
              <a:rPr lang="en-US" altLang="en-US" sz="2800" i="1"/>
              <a:t>n</a:t>
            </a:r>
            <a:r>
              <a:rPr lang="en-US" altLang="en-US" sz="2800"/>
              <a:t>-element vector where </a:t>
            </a:r>
            <a:r>
              <a:rPr lang="en-US" altLang="en-US" sz="2800" i="1"/>
              <a:t>n</a:t>
            </a:r>
            <a:r>
              <a:rPr lang="en-US" altLang="en-US" sz="2800"/>
              <a:t> is the number of edges</a:t>
            </a:r>
            <a:br>
              <a:rPr lang="en-US" altLang="en-US" sz="2800"/>
            </a:br>
            <a:r>
              <a:rPr lang="en-US" altLang="en-US" sz="2800"/>
              <a:t> &lt;</a:t>
            </a:r>
            <a:r>
              <a:rPr lang="en-US" altLang="en-US" sz="2800">
                <a:sym typeface="Symbol" pitchFamily="2" charset="2"/>
              </a:rPr>
              <a:t></a:t>
            </a:r>
            <a:r>
              <a:rPr lang="en-US" altLang="en-US" sz="2800"/>
              <a:t>, </a:t>
            </a:r>
            <a:r>
              <a:rPr lang="en-US" altLang="en-US" sz="2800">
                <a:sym typeface="Symbol" pitchFamily="2" charset="2"/>
              </a:rPr>
              <a:t></a:t>
            </a:r>
            <a:r>
              <a:rPr lang="en-US" altLang="en-US" sz="2800"/>
              <a:t>, …, </a:t>
            </a:r>
            <a:r>
              <a:rPr lang="en-US" altLang="en-US" sz="2800">
                <a:sym typeface="Symbol" pitchFamily="2" charset="2"/>
              </a:rPr>
              <a:t></a:t>
            </a:r>
            <a:r>
              <a:rPr lang="en-US" altLang="en-US" sz="2800"/>
              <a:t>&gt;</a:t>
            </a:r>
          </a:p>
          <a:p>
            <a:pPr>
              <a:spcBef>
                <a:spcPct val="50000"/>
              </a:spcBef>
            </a:pPr>
            <a:r>
              <a:rPr lang="en-US" altLang="en-US" sz="2800"/>
              <a:t>The </a:t>
            </a:r>
            <a:r>
              <a:rPr lang="en-US" altLang="en-US" sz="2800" i="1"/>
              <a:t>i</a:t>
            </a:r>
            <a:r>
              <a:rPr lang="en-US" altLang="en-US" sz="2800"/>
              <a:t>-th position in the vector is the number of occurrences of edge </a:t>
            </a:r>
            <a:r>
              <a:rPr lang="en-US" altLang="en-US" sz="2800" i="1"/>
              <a:t>i</a:t>
            </a:r>
            <a:r>
              <a:rPr lang="en-US" altLang="en-US" sz="2800"/>
              <a:t> in the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7EA0CCD-0D5B-D566-3A8B-234A801F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DF6C-29C0-074A-AB92-C9E90BDF638F}" type="slidenum">
              <a:rPr lang="en-US" altLang="en-US"/>
              <a:pPr/>
              <a:t>8</a:t>
            </a:fld>
            <a:endParaRPr lang="en-US" altLang="en-US"/>
          </a:p>
        </p:txBody>
      </p:sp>
      <p:cxnSp>
        <p:nvCxnSpPr>
          <p:cNvPr id="748546" name="AutoShape 2">
            <a:extLst>
              <a:ext uri="{FF2B5EF4-FFF2-40B4-BE49-F238E27FC236}">
                <a16:creationId xmlns:a16="http://schemas.microsoft.com/office/drawing/2014/main" id="{DB5EDE61-2275-7347-0715-0FA366606417}"/>
              </a:ext>
            </a:extLst>
          </p:cNvPr>
          <p:cNvCxnSpPr>
            <a:cxnSpLocks noChangeShapeType="1"/>
            <a:stCxn id="748576" idx="3"/>
            <a:endCxn id="748560" idx="7"/>
          </p:cNvCxnSpPr>
          <p:nvPr/>
        </p:nvCxnSpPr>
        <p:spPr bwMode="auto">
          <a:xfrm flipH="1">
            <a:off x="3248025" y="1901825"/>
            <a:ext cx="127000" cy="92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8547" name="AutoShape 3">
            <a:extLst>
              <a:ext uri="{FF2B5EF4-FFF2-40B4-BE49-F238E27FC236}">
                <a16:creationId xmlns:a16="http://schemas.microsoft.com/office/drawing/2014/main" id="{FBAE228B-00C7-E00D-1C2A-DE9B1231DF8A}"/>
              </a:ext>
            </a:extLst>
          </p:cNvPr>
          <p:cNvCxnSpPr>
            <a:cxnSpLocks noChangeShapeType="1"/>
            <a:stCxn id="748565" idx="5"/>
            <a:endCxn id="748577" idx="1"/>
          </p:cNvCxnSpPr>
          <p:nvPr/>
        </p:nvCxnSpPr>
        <p:spPr bwMode="auto">
          <a:xfrm>
            <a:off x="3248025" y="4108450"/>
            <a:ext cx="130175" cy="1158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8548" name="Rectangle 4">
            <a:extLst>
              <a:ext uri="{FF2B5EF4-FFF2-40B4-BE49-F238E27FC236}">
                <a16:creationId xmlns:a16="http://schemas.microsoft.com/office/drawing/2014/main" id="{C98A9DAA-7580-2AFD-213C-4EFB957B6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Paths </a:t>
            </a:r>
          </a:p>
        </p:txBody>
      </p:sp>
      <p:cxnSp>
        <p:nvCxnSpPr>
          <p:cNvPr id="748549" name="AutoShape 5">
            <a:extLst>
              <a:ext uri="{FF2B5EF4-FFF2-40B4-BE49-F238E27FC236}">
                <a16:creationId xmlns:a16="http://schemas.microsoft.com/office/drawing/2014/main" id="{B99CFC36-1B8C-5B3D-1744-0C8A73294348}"/>
              </a:ext>
            </a:extLst>
          </p:cNvPr>
          <p:cNvCxnSpPr>
            <a:cxnSpLocks noChangeShapeType="1"/>
            <a:stCxn id="748560" idx="4"/>
            <a:endCxn id="748561" idx="0"/>
          </p:cNvCxnSpPr>
          <p:nvPr/>
        </p:nvCxnSpPr>
        <p:spPr bwMode="auto">
          <a:xfrm>
            <a:off x="3167063" y="2189163"/>
            <a:ext cx="0" cy="298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8550" name="AutoShape 6">
            <a:extLst>
              <a:ext uri="{FF2B5EF4-FFF2-40B4-BE49-F238E27FC236}">
                <a16:creationId xmlns:a16="http://schemas.microsoft.com/office/drawing/2014/main" id="{BDDFAB89-6B17-1A21-64C5-CFE17BB88C8D}"/>
              </a:ext>
            </a:extLst>
          </p:cNvPr>
          <p:cNvCxnSpPr>
            <a:cxnSpLocks noChangeShapeType="1"/>
            <a:stCxn id="748562" idx="5"/>
            <a:endCxn id="748561" idx="2"/>
          </p:cNvCxnSpPr>
          <p:nvPr/>
        </p:nvCxnSpPr>
        <p:spPr bwMode="auto">
          <a:xfrm>
            <a:off x="2770188" y="2419350"/>
            <a:ext cx="282575" cy="182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8551" name="Text Box 7">
            <a:extLst>
              <a:ext uri="{FF2B5EF4-FFF2-40B4-BE49-F238E27FC236}">
                <a16:creationId xmlns:a16="http://schemas.microsoft.com/office/drawing/2014/main" id="{5B84AAD6-1A60-AE84-BC94-F872A62E1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2078038"/>
            <a:ext cx="14668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if</a:t>
            </a:r>
            <a:r>
              <a:rPr lang="en-US" altLang="en-US" sz="1000">
                <a:latin typeface="Courier New" panose="02070309020205020404" pitchFamily="49" charset="0"/>
              </a:rPr>
              <a:t> expression1 </a:t>
            </a:r>
            <a:r>
              <a:rPr lang="en-US" altLang="en-US" sz="1000" b="1">
                <a:latin typeface="Courier New" panose="02070309020205020404" pitchFamily="49" charset="0"/>
              </a:rPr>
              <a:t>then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statement2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end if</a:t>
            </a:r>
          </a:p>
          <a:p>
            <a:endParaRPr lang="en-US" altLang="en-US" sz="1000">
              <a:latin typeface="Courier New" panose="02070309020205020404" pitchFamily="49" charset="0"/>
            </a:endParaRPr>
          </a:p>
          <a:p>
            <a:r>
              <a:rPr lang="en-US" altLang="en-US" sz="1000" b="1">
                <a:latin typeface="Courier New" panose="02070309020205020404" pitchFamily="49" charset="0"/>
              </a:rPr>
              <a:t>do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statement3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</a:t>
            </a:r>
            <a:r>
              <a:rPr lang="en-US" altLang="en-US" sz="1000" b="1">
                <a:latin typeface="Courier New" panose="02070309020205020404" pitchFamily="49" charset="0"/>
              </a:rPr>
              <a:t>while</a:t>
            </a:r>
            <a:r>
              <a:rPr lang="en-US" altLang="en-US" sz="1000">
                <a:latin typeface="Courier New" panose="02070309020205020404" pitchFamily="49" charset="0"/>
              </a:rPr>
              <a:t> expr4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end do</a:t>
            </a:r>
          </a:p>
          <a:p>
            <a:endParaRPr lang="en-US" altLang="en-US" sz="1000">
              <a:latin typeface="Courier New" panose="02070309020205020404" pitchFamily="49" charset="0"/>
            </a:endParaRPr>
          </a:p>
          <a:p>
            <a:r>
              <a:rPr lang="en-US" altLang="en-US" sz="1000" b="1">
                <a:latin typeface="Courier New" panose="02070309020205020404" pitchFamily="49" charset="0"/>
              </a:rPr>
              <a:t>if</a:t>
            </a:r>
            <a:r>
              <a:rPr lang="en-US" altLang="en-US" sz="1000">
                <a:latin typeface="Courier New" panose="02070309020205020404" pitchFamily="49" charset="0"/>
              </a:rPr>
              <a:t> expression5 </a:t>
            </a:r>
            <a:r>
              <a:rPr lang="en-US" altLang="en-US" sz="1000" b="1">
                <a:latin typeface="Courier New" panose="02070309020205020404" pitchFamily="49" charset="0"/>
              </a:rPr>
              <a:t>then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statement6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end if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statement7</a:t>
            </a:r>
          </a:p>
        </p:txBody>
      </p:sp>
      <p:cxnSp>
        <p:nvCxnSpPr>
          <p:cNvPr id="748552" name="AutoShape 8">
            <a:extLst>
              <a:ext uri="{FF2B5EF4-FFF2-40B4-BE49-F238E27FC236}">
                <a16:creationId xmlns:a16="http://schemas.microsoft.com/office/drawing/2014/main" id="{C95DCE2D-2A43-F63A-EA99-A2127840D505}"/>
              </a:ext>
            </a:extLst>
          </p:cNvPr>
          <p:cNvCxnSpPr>
            <a:cxnSpLocks noChangeShapeType="1"/>
            <a:stCxn id="748563" idx="6"/>
            <a:endCxn id="748561" idx="6"/>
          </p:cNvCxnSpPr>
          <p:nvPr/>
        </p:nvCxnSpPr>
        <p:spPr bwMode="auto">
          <a:xfrm flipV="1">
            <a:off x="3281363" y="2601913"/>
            <a:ext cx="1587" cy="488950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8553" name="AutoShape 9">
            <a:extLst>
              <a:ext uri="{FF2B5EF4-FFF2-40B4-BE49-F238E27FC236}">
                <a16:creationId xmlns:a16="http://schemas.microsoft.com/office/drawing/2014/main" id="{05A7AFE0-9E67-AC7F-6528-231E339229A7}"/>
              </a:ext>
            </a:extLst>
          </p:cNvPr>
          <p:cNvCxnSpPr>
            <a:cxnSpLocks noChangeShapeType="1"/>
            <a:stCxn id="748561" idx="4"/>
            <a:endCxn id="748563" idx="0"/>
          </p:cNvCxnSpPr>
          <p:nvPr/>
        </p:nvCxnSpPr>
        <p:spPr bwMode="auto">
          <a:xfrm>
            <a:off x="3167063" y="2716213"/>
            <a:ext cx="0" cy="260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8554" name="AutoShape 10">
            <a:extLst>
              <a:ext uri="{FF2B5EF4-FFF2-40B4-BE49-F238E27FC236}">
                <a16:creationId xmlns:a16="http://schemas.microsoft.com/office/drawing/2014/main" id="{7B584C9E-3368-BF26-00EB-6CD816A86817}"/>
              </a:ext>
            </a:extLst>
          </p:cNvPr>
          <p:cNvCxnSpPr>
            <a:cxnSpLocks noChangeShapeType="1"/>
            <a:stCxn id="748563" idx="4"/>
            <a:endCxn id="748564" idx="0"/>
          </p:cNvCxnSpPr>
          <p:nvPr/>
        </p:nvCxnSpPr>
        <p:spPr bwMode="auto">
          <a:xfrm>
            <a:off x="3167063" y="3205163"/>
            <a:ext cx="0" cy="179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8555" name="AutoShape 11">
            <a:extLst>
              <a:ext uri="{FF2B5EF4-FFF2-40B4-BE49-F238E27FC236}">
                <a16:creationId xmlns:a16="http://schemas.microsoft.com/office/drawing/2014/main" id="{40D0E61F-D28C-9A44-1C70-E28254AAE87B}"/>
              </a:ext>
            </a:extLst>
          </p:cNvPr>
          <p:cNvCxnSpPr>
            <a:cxnSpLocks noChangeShapeType="1"/>
            <a:stCxn id="748564" idx="4"/>
            <a:endCxn id="748565" idx="0"/>
          </p:cNvCxnSpPr>
          <p:nvPr/>
        </p:nvCxnSpPr>
        <p:spPr bwMode="auto">
          <a:xfrm>
            <a:off x="3167063" y="3613150"/>
            <a:ext cx="0" cy="3000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8556" name="AutoShape 12">
            <a:extLst>
              <a:ext uri="{FF2B5EF4-FFF2-40B4-BE49-F238E27FC236}">
                <a16:creationId xmlns:a16="http://schemas.microsoft.com/office/drawing/2014/main" id="{90688242-A9E9-9A50-D3FC-6E60CEF768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4088" y="2865438"/>
            <a:ext cx="192087" cy="198437"/>
          </a:xfrm>
          <a:prstGeom prst="rightArrow">
            <a:avLst>
              <a:gd name="adj1" fmla="val 50324"/>
              <a:gd name="adj2" fmla="val 51514"/>
            </a:avLst>
          </a:prstGeom>
          <a:solidFill>
            <a:srgbClr val="80808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48557" name="AutoShape 13">
            <a:extLst>
              <a:ext uri="{FF2B5EF4-FFF2-40B4-BE49-F238E27FC236}">
                <a16:creationId xmlns:a16="http://schemas.microsoft.com/office/drawing/2014/main" id="{4FE916D3-97AA-F6AB-23DC-D062B4D89EFB}"/>
              </a:ext>
            </a:extLst>
          </p:cNvPr>
          <p:cNvCxnSpPr>
            <a:cxnSpLocks noChangeShapeType="1"/>
            <a:stCxn id="748560" idx="2"/>
            <a:endCxn id="748562" idx="7"/>
          </p:cNvCxnSpPr>
          <p:nvPr/>
        </p:nvCxnSpPr>
        <p:spPr bwMode="auto">
          <a:xfrm flipH="1">
            <a:off x="2770188" y="2074863"/>
            <a:ext cx="282575" cy="182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8558" name="AutoShape 14">
            <a:extLst>
              <a:ext uri="{FF2B5EF4-FFF2-40B4-BE49-F238E27FC236}">
                <a16:creationId xmlns:a16="http://schemas.microsoft.com/office/drawing/2014/main" id="{035E0C2D-BD89-09D0-4537-A7DC04219F4A}"/>
              </a:ext>
            </a:extLst>
          </p:cNvPr>
          <p:cNvCxnSpPr>
            <a:cxnSpLocks noChangeShapeType="1"/>
            <a:stCxn id="748564" idx="2"/>
            <a:endCxn id="748566" idx="7"/>
          </p:cNvCxnSpPr>
          <p:nvPr/>
        </p:nvCxnSpPr>
        <p:spPr bwMode="auto">
          <a:xfrm flipH="1">
            <a:off x="2770188" y="3498850"/>
            <a:ext cx="282575" cy="182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8559" name="AutoShape 15">
            <a:extLst>
              <a:ext uri="{FF2B5EF4-FFF2-40B4-BE49-F238E27FC236}">
                <a16:creationId xmlns:a16="http://schemas.microsoft.com/office/drawing/2014/main" id="{86CB76A7-A02D-1F2D-6423-DF9E20D27FDA}"/>
              </a:ext>
            </a:extLst>
          </p:cNvPr>
          <p:cNvCxnSpPr>
            <a:cxnSpLocks noChangeShapeType="1"/>
            <a:stCxn id="748566" idx="5"/>
            <a:endCxn id="748565" idx="2"/>
          </p:cNvCxnSpPr>
          <p:nvPr/>
        </p:nvCxnSpPr>
        <p:spPr bwMode="auto">
          <a:xfrm>
            <a:off x="2770188" y="3843338"/>
            <a:ext cx="282575" cy="184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8560" name="Oval 16">
            <a:extLst>
              <a:ext uri="{FF2B5EF4-FFF2-40B4-BE49-F238E27FC236}">
                <a16:creationId xmlns:a16="http://schemas.microsoft.com/office/drawing/2014/main" id="{C046309B-C3A0-D21E-DF3A-95A0D0C373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1960563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n1</a:t>
            </a:r>
          </a:p>
        </p:txBody>
      </p:sp>
      <p:sp>
        <p:nvSpPr>
          <p:cNvPr id="748561" name="Oval 17">
            <a:extLst>
              <a:ext uri="{FF2B5EF4-FFF2-40B4-BE49-F238E27FC236}">
                <a16:creationId xmlns:a16="http://schemas.microsoft.com/office/drawing/2014/main" id="{4EE5B3F4-EE80-F0C0-3590-C1D32FFECD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2487613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n3</a:t>
            </a:r>
          </a:p>
        </p:txBody>
      </p:sp>
      <p:sp>
        <p:nvSpPr>
          <p:cNvPr id="748562" name="Oval 18">
            <a:extLst>
              <a:ext uri="{FF2B5EF4-FFF2-40B4-BE49-F238E27FC236}">
                <a16:creationId xmlns:a16="http://schemas.microsoft.com/office/drawing/2014/main" id="{B206A3E0-FE1E-17B3-1828-7037033C30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4925" y="2224088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n2</a:t>
            </a:r>
          </a:p>
        </p:txBody>
      </p:sp>
      <p:sp>
        <p:nvSpPr>
          <p:cNvPr id="748563" name="Oval 19">
            <a:extLst>
              <a:ext uri="{FF2B5EF4-FFF2-40B4-BE49-F238E27FC236}">
                <a16:creationId xmlns:a16="http://schemas.microsoft.com/office/drawing/2014/main" id="{325D5C0B-1E9A-5602-1150-279F12C1B2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2976563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n4</a:t>
            </a:r>
          </a:p>
        </p:txBody>
      </p:sp>
      <p:sp>
        <p:nvSpPr>
          <p:cNvPr id="748564" name="Oval 20">
            <a:extLst>
              <a:ext uri="{FF2B5EF4-FFF2-40B4-BE49-F238E27FC236}">
                <a16:creationId xmlns:a16="http://schemas.microsoft.com/office/drawing/2014/main" id="{CD23EDA3-6976-372E-1492-2055D5F8FF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3384550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n5</a:t>
            </a:r>
          </a:p>
        </p:txBody>
      </p:sp>
      <p:sp>
        <p:nvSpPr>
          <p:cNvPr id="748565" name="Oval 21">
            <a:extLst>
              <a:ext uri="{FF2B5EF4-FFF2-40B4-BE49-F238E27FC236}">
                <a16:creationId xmlns:a16="http://schemas.microsoft.com/office/drawing/2014/main" id="{8B6C9CE4-2609-A5D7-9A53-89F1140C03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3913188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n7</a:t>
            </a:r>
          </a:p>
        </p:txBody>
      </p:sp>
      <p:sp>
        <p:nvSpPr>
          <p:cNvPr id="748566" name="Oval 22">
            <a:extLst>
              <a:ext uri="{FF2B5EF4-FFF2-40B4-BE49-F238E27FC236}">
                <a16:creationId xmlns:a16="http://schemas.microsoft.com/office/drawing/2014/main" id="{E03A2C36-81BE-65BE-0EC2-8CB4C73C67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4925" y="3648075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n6</a:t>
            </a:r>
          </a:p>
        </p:txBody>
      </p:sp>
      <p:sp>
        <p:nvSpPr>
          <p:cNvPr id="748567" name="Text Box 23">
            <a:extLst>
              <a:ext uri="{FF2B5EF4-FFF2-40B4-BE49-F238E27FC236}">
                <a16:creationId xmlns:a16="http://schemas.microsoft.com/office/drawing/2014/main" id="{D261BB3C-AB93-798E-7CA0-16AD2C070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198120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e1</a:t>
            </a:r>
          </a:p>
        </p:txBody>
      </p:sp>
      <p:sp>
        <p:nvSpPr>
          <p:cNvPr id="748568" name="Text Box 24">
            <a:extLst>
              <a:ext uri="{FF2B5EF4-FFF2-40B4-BE49-F238E27FC236}">
                <a16:creationId xmlns:a16="http://schemas.microsoft.com/office/drawing/2014/main" id="{4186DEA0-F4AC-475F-00FC-C3917D28E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2525713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e2</a:t>
            </a:r>
          </a:p>
        </p:txBody>
      </p:sp>
      <p:sp>
        <p:nvSpPr>
          <p:cNvPr id="748569" name="Text Box 25">
            <a:extLst>
              <a:ext uri="{FF2B5EF4-FFF2-40B4-BE49-F238E27FC236}">
                <a16:creationId xmlns:a16="http://schemas.microsoft.com/office/drawing/2014/main" id="{DD933324-1525-A861-27D5-01EF50D6B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3" y="22304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e3</a:t>
            </a:r>
          </a:p>
        </p:txBody>
      </p:sp>
      <p:sp>
        <p:nvSpPr>
          <p:cNvPr id="748570" name="Text Box 26">
            <a:extLst>
              <a:ext uri="{FF2B5EF4-FFF2-40B4-BE49-F238E27FC236}">
                <a16:creationId xmlns:a16="http://schemas.microsoft.com/office/drawing/2014/main" id="{1B8F0F78-2DEE-3336-814F-CAFF4ABE6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27384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e4</a:t>
            </a:r>
          </a:p>
        </p:txBody>
      </p:sp>
      <p:sp>
        <p:nvSpPr>
          <p:cNvPr id="748571" name="Text Box 27">
            <a:extLst>
              <a:ext uri="{FF2B5EF4-FFF2-40B4-BE49-F238E27FC236}">
                <a16:creationId xmlns:a16="http://schemas.microsoft.com/office/drawing/2014/main" id="{929B4203-4168-E8BF-C7B3-CBCABD029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288" y="277018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e5</a:t>
            </a:r>
          </a:p>
        </p:txBody>
      </p:sp>
      <p:sp>
        <p:nvSpPr>
          <p:cNvPr id="748572" name="Text Box 28">
            <a:extLst>
              <a:ext uri="{FF2B5EF4-FFF2-40B4-BE49-F238E27FC236}">
                <a16:creationId xmlns:a16="http://schemas.microsoft.com/office/drawing/2014/main" id="{98AEC354-9E34-742D-DD65-532F2A0F9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3" y="317817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e6</a:t>
            </a:r>
          </a:p>
        </p:txBody>
      </p:sp>
      <p:sp>
        <p:nvSpPr>
          <p:cNvPr id="748573" name="Text Box 29">
            <a:extLst>
              <a:ext uri="{FF2B5EF4-FFF2-40B4-BE49-F238E27FC236}">
                <a16:creationId xmlns:a16="http://schemas.microsoft.com/office/drawing/2014/main" id="{6638FF46-A235-C389-9F89-3A9C7CD53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34131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e7</a:t>
            </a:r>
          </a:p>
        </p:txBody>
      </p:sp>
      <p:sp>
        <p:nvSpPr>
          <p:cNvPr id="748574" name="Text Box 30">
            <a:extLst>
              <a:ext uri="{FF2B5EF4-FFF2-40B4-BE49-F238E27FC236}">
                <a16:creationId xmlns:a16="http://schemas.microsoft.com/office/drawing/2014/main" id="{7B3528CC-41E5-D5E2-1657-DC3B8A57E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39465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e8</a:t>
            </a:r>
          </a:p>
        </p:txBody>
      </p:sp>
      <p:sp>
        <p:nvSpPr>
          <p:cNvPr id="748575" name="Text Box 31">
            <a:extLst>
              <a:ext uri="{FF2B5EF4-FFF2-40B4-BE49-F238E27FC236}">
                <a16:creationId xmlns:a16="http://schemas.microsoft.com/office/drawing/2014/main" id="{29872B1B-66E6-1A70-C7B6-7F44852D5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3" y="36544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e9</a:t>
            </a:r>
          </a:p>
        </p:txBody>
      </p:sp>
      <p:sp>
        <p:nvSpPr>
          <p:cNvPr id="748576" name="Oval 32">
            <a:extLst>
              <a:ext uri="{FF2B5EF4-FFF2-40B4-BE49-F238E27FC236}">
                <a16:creationId xmlns:a16="http://schemas.microsoft.com/office/drawing/2014/main" id="{F68132A9-F39D-B6D6-B610-D910AA6CDF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9150" y="1808163"/>
            <a:ext cx="109538" cy="10953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8577" name="Oval 33">
            <a:extLst>
              <a:ext uri="{FF2B5EF4-FFF2-40B4-BE49-F238E27FC236}">
                <a16:creationId xmlns:a16="http://schemas.microsoft.com/office/drawing/2014/main" id="{566D155E-48B0-5490-0C95-35D997CDF9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5975" y="4202113"/>
            <a:ext cx="155575" cy="15557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8578" name="Oval 34">
            <a:extLst>
              <a:ext uri="{FF2B5EF4-FFF2-40B4-BE49-F238E27FC236}">
                <a16:creationId xmlns:a16="http://schemas.microsoft.com/office/drawing/2014/main" id="{EDAD94DF-4535-17FE-1745-187FB65D28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79788" y="4225925"/>
            <a:ext cx="109537" cy="109538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8579" name="Text Box 5">
            <a:extLst>
              <a:ext uri="{FF2B5EF4-FFF2-40B4-BE49-F238E27FC236}">
                <a16:creationId xmlns:a16="http://schemas.microsoft.com/office/drawing/2014/main" id="{E7C09D5B-D757-6265-3A06-C97FCB437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0" y="1647825"/>
            <a:ext cx="576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Paths:</a:t>
            </a:r>
          </a:p>
        </p:txBody>
      </p:sp>
      <p:sp>
        <p:nvSpPr>
          <p:cNvPr id="748580" name="Text Box 5">
            <a:extLst>
              <a:ext uri="{FF2B5EF4-FFF2-40B4-BE49-F238E27FC236}">
                <a16:creationId xmlns:a16="http://schemas.microsoft.com/office/drawing/2014/main" id="{03B9A84A-B943-AF35-6D14-26EC28F1E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6438" y="2055813"/>
            <a:ext cx="2409825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P1 = e1, e2, e4, e6, e7, e8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P2 = e1, e2, e4, e5, e4, e6, e7, e8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P3 = e3, e4, e6, e7, e8, e10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P4 = e6, e7, e8, e10, e3, e4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P5 = e1, e2, e4, e6, e9, e10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P6 = e4, e5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P7 = e3, e4, e6, e9, e10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P8 = e1, e2, e4, e5, e4, e6, e9, e10</a:t>
            </a:r>
          </a:p>
        </p:txBody>
      </p:sp>
      <p:sp>
        <p:nvSpPr>
          <p:cNvPr id="748581" name="Text Box 5">
            <a:extLst>
              <a:ext uri="{FF2B5EF4-FFF2-40B4-BE49-F238E27FC236}">
                <a16:creationId xmlns:a16="http://schemas.microsoft.com/office/drawing/2014/main" id="{BE5F0B31-627B-E7BA-C33D-0F66F1217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450" y="2055813"/>
            <a:ext cx="163195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1, 1, 0, 1, 0, 1, 1, 1, 0, 0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1, 1, 0, 2, 1, 1, 1, 1, 0, 0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0, 0, 1, 1, 0, 1, 1, 1, 0, 1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0, 0, 1, 1, 0, 1, 1, 1, 0, 1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1, 1, 0, 1, 0, 1, 0, 0, 1, 1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0, 0, 0, 1, 1, 0, 0, 0, 0, 0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0, 0, 1, 1, 0, 1, 0, 0, 1, 1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1, 1, 0, 2, 1, 1, 0, 0, 1, 1</a:t>
            </a:r>
          </a:p>
        </p:txBody>
      </p:sp>
      <p:sp>
        <p:nvSpPr>
          <p:cNvPr id="748582" name="Text Box 5">
            <a:extLst>
              <a:ext uri="{FF2B5EF4-FFF2-40B4-BE49-F238E27FC236}">
                <a16:creationId xmlns:a16="http://schemas.microsoft.com/office/drawing/2014/main" id="{4AC70AC7-6F77-ADE4-316A-D90B49E57D8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809706" y="972344"/>
            <a:ext cx="271463" cy="173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e2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e3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e4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e5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e6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e7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e8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e9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e10</a:t>
            </a:r>
          </a:p>
        </p:txBody>
      </p:sp>
      <p:sp>
        <p:nvSpPr>
          <p:cNvPr id="748583" name="Line 39">
            <a:extLst>
              <a:ext uri="{FF2B5EF4-FFF2-40B4-BE49-F238E27FC236}">
                <a16:creationId xmlns:a16="http://schemas.microsoft.com/office/drawing/2014/main" id="{4E97EADA-2774-419A-8029-2F80FBF859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513" y="201136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8584" name="Line 40">
            <a:extLst>
              <a:ext uri="{FF2B5EF4-FFF2-40B4-BE49-F238E27FC236}">
                <a16:creationId xmlns:a16="http://schemas.microsoft.com/office/drawing/2014/main" id="{4E9F2288-4624-ADB7-71FB-DB45B4585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038350"/>
            <a:ext cx="0" cy="210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8585" name="Line 41">
            <a:extLst>
              <a:ext uri="{FF2B5EF4-FFF2-40B4-BE49-F238E27FC236}">
                <a16:creationId xmlns:a16="http://schemas.microsoft.com/office/drawing/2014/main" id="{401665F1-3B5A-87A2-F057-8C3A4E6C9B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3425" y="1938338"/>
            <a:ext cx="2239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748588" name="AutoShape 44">
            <a:extLst>
              <a:ext uri="{FF2B5EF4-FFF2-40B4-BE49-F238E27FC236}">
                <a16:creationId xmlns:a16="http://schemas.microsoft.com/office/drawing/2014/main" id="{2E3D367C-7E67-DDD9-B86F-0D6898F0AD9C}"/>
              </a:ext>
            </a:extLst>
          </p:cNvPr>
          <p:cNvCxnSpPr>
            <a:cxnSpLocks noChangeShapeType="1"/>
            <a:stCxn id="748577" idx="6"/>
            <a:endCxn id="748576" idx="6"/>
          </p:cNvCxnSpPr>
          <p:nvPr/>
        </p:nvCxnSpPr>
        <p:spPr bwMode="auto">
          <a:xfrm flipH="1" flipV="1">
            <a:off x="3468688" y="1863725"/>
            <a:ext cx="42862" cy="2416175"/>
          </a:xfrm>
          <a:prstGeom prst="curvedConnector3">
            <a:avLst>
              <a:gd name="adj1" fmla="val -988889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8594" name="Text Box 50">
            <a:extLst>
              <a:ext uri="{FF2B5EF4-FFF2-40B4-BE49-F238E27FC236}">
                <a16:creationId xmlns:a16="http://schemas.microsoft.com/office/drawing/2014/main" id="{1F7C0FC2-92A4-7984-4ECE-770CD026F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1903413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solidFill>
                  <a:srgbClr val="A50021"/>
                </a:solidFill>
                <a:latin typeface="Arial" panose="020B0604020202020204" pitchFamily="34" charset="0"/>
              </a:rPr>
              <a:t>e10</a:t>
            </a:r>
          </a:p>
        </p:txBody>
      </p:sp>
      <p:sp>
        <p:nvSpPr>
          <p:cNvPr id="748595" name="Text Box 5">
            <a:extLst>
              <a:ext uri="{FF2B5EF4-FFF2-40B4-BE49-F238E27FC236}">
                <a16:creationId xmlns:a16="http://schemas.microsoft.com/office/drawing/2014/main" id="{494C6427-8374-AF4F-ECD6-C4E642EF0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8113" y="5394325"/>
            <a:ext cx="4779962" cy="122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u="sng"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: A path does not need to start in node n1 and does not need to begin and end at the same node.</a:t>
            </a: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E.g.,</a:t>
            </a: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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Path P4 starts (and ends) at node n4</a:t>
            </a: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 Path P1 starts at node n1 and ends at node n7</a:t>
            </a:r>
          </a:p>
        </p:txBody>
      </p:sp>
      <p:sp>
        <p:nvSpPr>
          <p:cNvPr id="748597" name="Text Box 5">
            <a:extLst>
              <a:ext uri="{FF2B5EF4-FFF2-40B4-BE49-F238E27FC236}">
                <a16:creationId xmlns:a16="http://schemas.microsoft.com/office/drawing/2014/main" id="{49FD1B83-5F4D-025C-7B53-D88F5AE87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8113" y="4865688"/>
            <a:ext cx="616108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Paths P3 and P4 are the same, but with different start and endpoints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7C2BC3B-AABE-4369-24BF-1A83AAAD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5DF9-E6F2-A648-B476-55DBA67DBB32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751618" name="Rectangle 2">
            <a:extLst>
              <a:ext uri="{FF2B5EF4-FFF2-40B4-BE49-F238E27FC236}">
                <a16:creationId xmlns:a16="http://schemas.microsoft.com/office/drawing/2014/main" id="{675F2AF8-8DC2-4A49-197E-567442F6CA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Paths in Graphs (2)</a:t>
            </a:r>
          </a:p>
        </p:txBody>
      </p:sp>
      <p:sp>
        <p:nvSpPr>
          <p:cNvPr id="751619" name="Rectangle 3">
            <a:extLst>
              <a:ext uri="{FF2B5EF4-FFF2-40B4-BE49-F238E27FC236}">
                <a16:creationId xmlns:a16="http://schemas.microsoft.com/office/drawing/2014/main" id="{3E6E9AF0-4946-C422-C98E-162B64F99F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/>
              <a:t>A </a:t>
            </a:r>
            <a:r>
              <a:rPr lang="en-US" altLang="en-US" b="1"/>
              <a:t>circuit</a:t>
            </a:r>
            <a:r>
              <a:rPr lang="en-US" altLang="en-US"/>
              <a:t> is a path that begins and ends at the same node</a:t>
            </a:r>
          </a:p>
          <a:p>
            <a:pPr lvl="1">
              <a:spcBef>
                <a:spcPct val="50000"/>
              </a:spcBef>
            </a:pPr>
            <a:r>
              <a:rPr lang="en-US" altLang="en-US"/>
              <a:t>e.g., P3 = &lt;e3, e4, e6, e7, e8, e10&gt; begins and ends at node n1</a:t>
            </a:r>
          </a:p>
          <a:p>
            <a:pPr lvl="1">
              <a:spcBef>
                <a:spcPct val="50000"/>
              </a:spcBef>
            </a:pPr>
            <a:r>
              <a:rPr lang="en-US" altLang="en-US"/>
              <a:t>P6 = &lt;e4, e5&gt; begins and ends at node n3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A </a:t>
            </a:r>
            <a:r>
              <a:rPr lang="en-US" altLang="en-US" b="1"/>
              <a:t>cycle</a:t>
            </a:r>
            <a:r>
              <a:rPr lang="en-US" altLang="en-US"/>
              <a:t> is a circuit with no node (other than the starting node) included more than once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CD53C865-B402-5FDC-FDB1-5A61E5C7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EC95-0726-CB42-B9E5-E28C93E0C8AB}" type="slidenum">
              <a:rPr lang="en-US" altLang="en-US"/>
              <a:pPr/>
              <a:t>10</a:t>
            </a:fld>
            <a:endParaRPr lang="en-US" altLang="en-US"/>
          </a:p>
        </p:txBody>
      </p:sp>
      <p:cxnSp>
        <p:nvCxnSpPr>
          <p:cNvPr id="752642" name="AutoShape 2">
            <a:extLst>
              <a:ext uri="{FF2B5EF4-FFF2-40B4-BE49-F238E27FC236}">
                <a16:creationId xmlns:a16="http://schemas.microsoft.com/office/drawing/2014/main" id="{3E23B867-4426-86D7-3C8B-438EB5E9B385}"/>
              </a:ext>
            </a:extLst>
          </p:cNvPr>
          <p:cNvCxnSpPr>
            <a:cxnSpLocks noChangeShapeType="1"/>
            <a:stCxn id="752672" idx="3"/>
            <a:endCxn id="752656" idx="7"/>
          </p:cNvCxnSpPr>
          <p:nvPr/>
        </p:nvCxnSpPr>
        <p:spPr bwMode="auto">
          <a:xfrm flipH="1">
            <a:off x="3248025" y="1901825"/>
            <a:ext cx="127000" cy="92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2643" name="AutoShape 3">
            <a:extLst>
              <a:ext uri="{FF2B5EF4-FFF2-40B4-BE49-F238E27FC236}">
                <a16:creationId xmlns:a16="http://schemas.microsoft.com/office/drawing/2014/main" id="{4FFC0C21-640C-13DE-61A5-AE326EBD3664}"/>
              </a:ext>
            </a:extLst>
          </p:cNvPr>
          <p:cNvCxnSpPr>
            <a:cxnSpLocks noChangeShapeType="1"/>
            <a:stCxn id="752661" idx="5"/>
            <a:endCxn id="752673" idx="1"/>
          </p:cNvCxnSpPr>
          <p:nvPr/>
        </p:nvCxnSpPr>
        <p:spPr bwMode="auto">
          <a:xfrm>
            <a:off x="3248025" y="4108450"/>
            <a:ext cx="130175" cy="1158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2644" name="Rectangle 4">
            <a:extLst>
              <a:ext uri="{FF2B5EF4-FFF2-40B4-BE49-F238E27FC236}">
                <a16:creationId xmlns:a16="http://schemas.microsoft.com/office/drawing/2014/main" id="{F19B845E-7719-1D7E-167E-874D0AD92B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Circuits &amp; Cycles</a:t>
            </a:r>
          </a:p>
        </p:txBody>
      </p:sp>
      <p:cxnSp>
        <p:nvCxnSpPr>
          <p:cNvPr id="752645" name="AutoShape 5">
            <a:extLst>
              <a:ext uri="{FF2B5EF4-FFF2-40B4-BE49-F238E27FC236}">
                <a16:creationId xmlns:a16="http://schemas.microsoft.com/office/drawing/2014/main" id="{640FC6DE-83F8-5C37-CF7F-7FE41E2F9A13}"/>
              </a:ext>
            </a:extLst>
          </p:cNvPr>
          <p:cNvCxnSpPr>
            <a:cxnSpLocks noChangeShapeType="1"/>
            <a:stCxn id="752656" idx="4"/>
            <a:endCxn id="752657" idx="0"/>
          </p:cNvCxnSpPr>
          <p:nvPr/>
        </p:nvCxnSpPr>
        <p:spPr bwMode="auto">
          <a:xfrm>
            <a:off x="3167063" y="2189163"/>
            <a:ext cx="0" cy="298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2646" name="AutoShape 6">
            <a:extLst>
              <a:ext uri="{FF2B5EF4-FFF2-40B4-BE49-F238E27FC236}">
                <a16:creationId xmlns:a16="http://schemas.microsoft.com/office/drawing/2014/main" id="{00559CA6-57EC-C9AE-90D9-748AC5CEB128}"/>
              </a:ext>
            </a:extLst>
          </p:cNvPr>
          <p:cNvCxnSpPr>
            <a:cxnSpLocks noChangeShapeType="1"/>
            <a:stCxn id="752658" idx="5"/>
            <a:endCxn id="752657" idx="2"/>
          </p:cNvCxnSpPr>
          <p:nvPr/>
        </p:nvCxnSpPr>
        <p:spPr bwMode="auto">
          <a:xfrm>
            <a:off x="2770188" y="2419350"/>
            <a:ext cx="282575" cy="182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2647" name="Text Box 7">
            <a:extLst>
              <a:ext uri="{FF2B5EF4-FFF2-40B4-BE49-F238E27FC236}">
                <a16:creationId xmlns:a16="http://schemas.microsoft.com/office/drawing/2014/main" id="{927CB4B3-89AA-A100-AD2C-E7269E767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2078038"/>
            <a:ext cx="14668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if</a:t>
            </a:r>
            <a:r>
              <a:rPr lang="en-US" altLang="en-US" sz="1000">
                <a:latin typeface="Courier New" panose="02070309020205020404" pitchFamily="49" charset="0"/>
              </a:rPr>
              <a:t> expression1 </a:t>
            </a:r>
            <a:r>
              <a:rPr lang="en-US" altLang="en-US" sz="1000" b="1">
                <a:latin typeface="Courier New" panose="02070309020205020404" pitchFamily="49" charset="0"/>
              </a:rPr>
              <a:t>then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statement2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end if</a:t>
            </a:r>
          </a:p>
          <a:p>
            <a:endParaRPr lang="en-US" altLang="en-US" sz="1000">
              <a:latin typeface="Courier New" panose="02070309020205020404" pitchFamily="49" charset="0"/>
            </a:endParaRPr>
          </a:p>
          <a:p>
            <a:r>
              <a:rPr lang="en-US" altLang="en-US" sz="1000" b="1">
                <a:latin typeface="Courier New" panose="02070309020205020404" pitchFamily="49" charset="0"/>
              </a:rPr>
              <a:t>do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statement3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</a:t>
            </a:r>
            <a:r>
              <a:rPr lang="en-US" altLang="en-US" sz="1000" b="1">
                <a:latin typeface="Courier New" panose="02070309020205020404" pitchFamily="49" charset="0"/>
              </a:rPr>
              <a:t>while</a:t>
            </a:r>
            <a:r>
              <a:rPr lang="en-US" altLang="en-US" sz="1000">
                <a:latin typeface="Courier New" panose="02070309020205020404" pitchFamily="49" charset="0"/>
              </a:rPr>
              <a:t> expr4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end do</a:t>
            </a:r>
          </a:p>
          <a:p>
            <a:endParaRPr lang="en-US" altLang="en-US" sz="1000">
              <a:latin typeface="Courier New" panose="02070309020205020404" pitchFamily="49" charset="0"/>
            </a:endParaRPr>
          </a:p>
          <a:p>
            <a:r>
              <a:rPr lang="en-US" altLang="en-US" sz="1000" b="1">
                <a:latin typeface="Courier New" panose="02070309020205020404" pitchFamily="49" charset="0"/>
              </a:rPr>
              <a:t>if</a:t>
            </a:r>
            <a:r>
              <a:rPr lang="en-US" altLang="en-US" sz="1000">
                <a:latin typeface="Courier New" panose="02070309020205020404" pitchFamily="49" charset="0"/>
              </a:rPr>
              <a:t> expression5 </a:t>
            </a:r>
            <a:r>
              <a:rPr lang="en-US" altLang="en-US" sz="1000" b="1">
                <a:latin typeface="Courier New" panose="02070309020205020404" pitchFamily="49" charset="0"/>
              </a:rPr>
              <a:t>then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statement6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end if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statement7</a:t>
            </a:r>
          </a:p>
        </p:txBody>
      </p:sp>
      <p:cxnSp>
        <p:nvCxnSpPr>
          <p:cNvPr id="752648" name="AutoShape 8">
            <a:extLst>
              <a:ext uri="{FF2B5EF4-FFF2-40B4-BE49-F238E27FC236}">
                <a16:creationId xmlns:a16="http://schemas.microsoft.com/office/drawing/2014/main" id="{394CB2E6-D24B-8EFF-EDE2-B003C938EF49}"/>
              </a:ext>
            </a:extLst>
          </p:cNvPr>
          <p:cNvCxnSpPr>
            <a:cxnSpLocks noChangeShapeType="1"/>
            <a:stCxn id="752659" idx="6"/>
            <a:endCxn id="752657" idx="6"/>
          </p:cNvCxnSpPr>
          <p:nvPr/>
        </p:nvCxnSpPr>
        <p:spPr bwMode="auto">
          <a:xfrm flipV="1">
            <a:off x="3281363" y="2601913"/>
            <a:ext cx="1587" cy="488950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2649" name="AutoShape 9">
            <a:extLst>
              <a:ext uri="{FF2B5EF4-FFF2-40B4-BE49-F238E27FC236}">
                <a16:creationId xmlns:a16="http://schemas.microsoft.com/office/drawing/2014/main" id="{B96B0E33-84C9-B29D-1FCF-37A75FD5A23A}"/>
              </a:ext>
            </a:extLst>
          </p:cNvPr>
          <p:cNvCxnSpPr>
            <a:cxnSpLocks noChangeShapeType="1"/>
            <a:stCxn id="752657" idx="4"/>
            <a:endCxn id="752659" idx="0"/>
          </p:cNvCxnSpPr>
          <p:nvPr/>
        </p:nvCxnSpPr>
        <p:spPr bwMode="auto">
          <a:xfrm>
            <a:off x="3167063" y="2716213"/>
            <a:ext cx="0" cy="260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2650" name="AutoShape 10">
            <a:extLst>
              <a:ext uri="{FF2B5EF4-FFF2-40B4-BE49-F238E27FC236}">
                <a16:creationId xmlns:a16="http://schemas.microsoft.com/office/drawing/2014/main" id="{3A0E33F8-CD93-D624-CA15-29956F4E22A3}"/>
              </a:ext>
            </a:extLst>
          </p:cNvPr>
          <p:cNvCxnSpPr>
            <a:cxnSpLocks noChangeShapeType="1"/>
            <a:stCxn id="752659" idx="4"/>
            <a:endCxn id="752660" idx="0"/>
          </p:cNvCxnSpPr>
          <p:nvPr/>
        </p:nvCxnSpPr>
        <p:spPr bwMode="auto">
          <a:xfrm>
            <a:off x="3167063" y="3205163"/>
            <a:ext cx="0" cy="179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2651" name="AutoShape 11">
            <a:extLst>
              <a:ext uri="{FF2B5EF4-FFF2-40B4-BE49-F238E27FC236}">
                <a16:creationId xmlns:a16="http://schemas.microsoft.com/office/drawing/2014/main" id="{56836699-DA74-6F22-8D53-252A923789F0}"/>
              </a:ext>
            </a:extLst>
          </p:cNvPr>
          <p:cNvCxnSpPr>
            <a:cxnSpLocks noChangeShapeType="1"/>
            <a:stCxn id="752660" idx="4"/>
            <a:endCxn id="752661" idx="0"/>
          </p:cNvCxnSpPr>
          <p:nvPr/>
        </p:nvCxnSpPr>
        <p:spPr bwMode="auto">
          <a:xfrm>
            <a:off x="3167063" y="3613150"/>
            <a:ext cx="0" cy="3000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2652" name="AutoShape 12">
            <a:extLst>
              <a:ext uri="{FF2B5EF4-FFF2-40B4-BE49-F238E27FC236}">
                <a16:creationId xmlns:a16="http://schemas.microsoft.com/office/drawing/2014/main" id="{23F9A2BE-ACEE-7BD9-119F-BCE6D354E7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4088" y="2865438"/>
            <a:ext cx="192087" cy="198437"/>
          </a:xfrm>
          <a:prstGeom prst="rightArrow">
            <a:avLst>
              <a:gd name="adj1" fmla="val 50324"/>
              <a:gd name="adj2" fmla="val 51514"/>
            </a:avLst>
          </a:prstGeom>
          <a:solidFill>
            <a:srgbClr val="80808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52653" name="AutoShape 13">
            <a:extLst>
              <a:ext uri="{FF2B5EF4-FFF2-40B4-BE49-F238E27FC236}">
                <a16:creationId xmlns:a16="http://schemas.microsoft.com/office/drawing/2014/main" id="{0555911F-D1FD-3EDB-8B3A-E55B66B88029}"/>
              </a:ext>
            </a:extLst>
          </p:cNvPr>
          <p:cNvCxnSpPr>
            <a:cxnSpLocks noChangeShapeType="1"/>
            <a:stCxn id="752656" idx="2"/>
            <a:endCxn id="752658" idx="7"/>
          </p:cNvCxnSpPr>
          <p:nvPr/>
        </p:nvCxnSpPr>
        <p:spPr bwMode="auto">
          <a:xfrm flipH="1">
            <a:off x="2770188" y="2074863"/>
            <a:ext cx="282575" cy="182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2654" name="AutoShape 14">
            <a:extLst>
              <a:ext uri="{FF2B5EF4-FFF2-40B4-BE49-F238E27FC236}">
                <a16:creationId xmlns:a16="http://schemas.microsoft.com/office/drawing/2014/main" id="{26BDEBAE-5FE0-2405-9D6B-2DD2D2FDAE0A}"/>
              </a:ext>
            </a:extLst>
          </p:cNvPr>
          <p:cNvCxnSpPr>
            <a:cxnSpLocks noChangeShapeType="1"/>
            <a:stCxn id="752660" idx="2"/>
            <a:endCxn id="752662" idx="7"/>
          </p:cNvCxnSpPr>
          <p:nvPr/>
        </p:nvCxnSpPr>
        <p:spPr bwMode="auto">
          <a:xfrm flipH="1">
            <a:off x="2770188" y="3498850"/>
            <a:ext cx="282575" cy="182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2655" name="AutoShape 15">
            <a:extLst>
              <a:ext uri="{FF2B5EF4-FFF2-40B4-BE49-F238E27FC236}">
                <a16:creationId xmlns:a16="http://schemas.microsoft.com/office/drawing/2014/main" id="{3C46F05D-F443-F03D-DCCB-2D94A24AD26B}"/>
              </a:ext>
            </a:extLst>
          </p:cNvPr>
          <p:cNvCxnSpPr>
            <a:cxnSpLocks noChangeShapeType="1"/>
            <a:stCxn id="752662" idx="5"/>
            <a:endCxn id="752661" idx="2"/>
          </p:cNvCxnSpPr>
          <p:nvPr/>
        </p:nvCxnSpPr>
        <p:spPr bwMode="auto">
          <a:xfrm>
            <a:off x="2770188" y="3843338"/>
            <a:ext cx="282575" cy="184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2656" name="Oval 16">
            <a:extLst>
              <a:ext uri="{FF2B5EF4-FFF2-40B4-BE49-F238E27FC236}">
                <a16:creationId xmlns:a16="http://schemas.microsoft.com/office/drawing/2014/main" id="{B53AF8CC-0717-D155-911D-A73A9486A6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1960563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n1</a:t>
            </a:r>
          </a:p>
        </p:txBody>
      </p:sp>
      <p:sp>
        <p:nvSpPr>
          <p:cNvPr id="752657" name="Oval 17">
            <a:extLst>
              <a:ext uri="{FF2B5EF4-FFF2-40B4-BE49-F238E27FC236}">
                <a16:creationId xmlns:a16="http://schemas.microsoft.com/office/drawing/2014/main" id="{2E61E279-A23C-DBF5-28C9-D5D4D0A7FD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2487613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n3</a:t>
            </a:r>
          </a:p>
        </p:txBody>
      </p:sp>
      <p:sp>
        <p:nvSpPr>
          <p:cNvPr id="752658" name="Oval 18">
            <a:extLst>
              <a:ext uri="{FF2B5EF4-FFF2-40B4-BE49-F238E27FC236}">
                <a16:creationId xmlns:a16="http://schemas.microsoft.com/office/drawing/2014/main" id="{3F73531F-EC4F-CEB1-D2F2-98BE7E3702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4925" y="2224088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n2</a:t>
            </a:r>
          </a:p>
        </p:txBody>
      </p:sp>
      <p:sp>
        <p:nvSpPr>
          <p:cNvPr id="752659" name="Oval 19">
            <a:extLst>
              <a:ext uri="{FF2B5EF4-FFF2-40B4-BE49-F238E27FC236}">
                <a16:creationId xmlns:a16="http://schemas.microsoft.com/office/drawing/2014/main" id="{C59DA201-578A-DD90-8C4B-7A4A3789A4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2976563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n4</a:t>
            </a:r>
          </a:p>
        </p:txBody>
      </p:sp>
      <p:sp>
        <p:nvSpPr>
          <p:cNvPr id="752660" name="Oval 20">
            <a:extLst>
              <a:ext uri="{FF2B5EF4-FFF2-40B4-BE49-F238E27FC236}">
                <a16:creationId xmlns:a16="http://schemas.microsoft.com/office/drawing/2014/main" id="{C73707FE-1438-2DBD-94CA-41B83B3168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3384550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n5</a:t>
            </a:r>
          </a:p>
        </p:txBody>
      </p:sp>
      <p:sp>
        <p:nvSpPr>
          <p:cNvPr id="752661" name="Oval 21">
            <a:extLst>
              <a:ext uri="{FF2B5EF4-FFF2-40B4-BE49-F238E27FC236}">
                <a16:creationId xmlns:a16="http://schemas.microsoft.com/office/drawing/2014/main" id="{AE5A7494-75E1-8AB6-D4BD-625B8EB60D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3913188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n7</a:t>
            </a:r>
          </a:p>
        </p:txBody>
      </p:sp>
      <p:sp>
        <p:nvSpPr>
          <p:cNvPr id="752662" name="Oval 22">
            <a:extLst>
              <a:ext uri="{FF2B5EF4-FFF2-40B4-BE49-F238E27FC236}">
                <a16:creationId xmlns:a16="http://schemas.microsoft.com/office/drawing/2014/main" id="{FF30038A-347E-2480-F73B-080A80BA4D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4925" y="3648075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n6</a:t>
            </a:r>
          </a:p>
        </p:txBody>
      </p:sp>
      <p:sp>
        <p:nvSpPr>
          <p:cNvPr id="752663" name="Text Box 23">
            <a:extLst>
              <a:ext uri="{FF2B5EF4-FFF2-40B4-BE49-F238E27FC236}">
                <a16:creationId xmlns:a16="http://schemas.microsoft.com/office/drawing/2014/main" id="{DE88029A-27FD-AC69-7E96-EAF8C9A3A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198120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e1</a:t>
            </a:r>
          </a:p>
        </p:txBody>
      </p:sp>
      <p:sp>
        <p:nvSpPr>
          <p:cNvPr id="752664" name="Text Box 24">
            <a:extLst>
              <a:ext uri="{FF2B5EF4-FFF2-40B4-BE49-F238E27FC236}">
                <a16:creationId xmlns:a16="http://schemas.microsoft.com/office/drawing/2014/main" id="{72CC9CDE-1646-1051-E6C7-DBCB5B2AE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2525713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e2</a:t>
            </a:r>
          </a:p>
        </p:txBody>
      </p:sp>
      <p:sp>
        <p:nvSpPr>
          <p:cNvPr id="752665" name="Text Box 25">
            <a:extLst>
              <a:ext uri="{FF2B5EF4-FFF2-40B4-BE49-F238E27FC236}">
                <a16:creationId xmlns:a16="http://schemas.microsoft.com/office/drawing/2014/main" id="{BC72366F-CB8C-4DD7-636E-4F958AC8F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3" y="22304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e3</a:t>
            </a:r>
          </a:p>
        </p:txBody>
      </p:sp>
      <p:sp>
        <p:nvSpPr>
          <p:cNvPr id="752666" name="Text Box 26">
            <a:extLst>
              <a:ext uri="{FF2B5EF4-FFF2-40B4-BE49-F238E27FC236}">
                <a16:creationId xmlns:a16="http://schemas.microsoft.com/office/drawing/2014/main" id="{8EDF374D-6094-7040-AFA1-BA089C35E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27384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e4</a:t>
            </a:r>
          </a:p>
        </p:txBody>
      </p:sp>
      <p:sp>
        <p:nvSpPr>
          <p:cNvPr id="752667" name="Text Box 27">
            <a:extLst>
              <a:ext uri="{FF2B5EF4-FFF2-40B4-BE49-F238E27FC236}">
                <a16:creationId xmlns:a16="http://schemas.microsoft.com/office/drawing/2014/main" id="{9136F85B-68D1-38C0-37D7-D9B4B5410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288" y="277018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e5</a:t>
            </a:r>
          </a:p>
        </p:txBody>
      </p:sp>
      <p:sp>
        <p:nvSpPr>
          <p:cNvPr id="752668" name="Text Box 28">
            <a:extLst>
              <a:ext uri="{FF2B5EF4-FFF2-40B4-BE49-F238E27FC236}">
                <a16:creationId xmlns:a16="http://schemas.microsoft.com/office/drawing/2014/main" id="{41B115F1-82F3-5B36-BBD8-4CEE2CA56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3" y="317817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e6</a:t>
            </a:r>
          </a:p>
        </p:txBody>
      </p:sp>
      <p:sp>
        <p:nvSpPr>
          <p:cNvPr id="752669" name="Text Box 29">
            <a:extLst>
              <a:ext uri="{FF2B5EF4-FFF2-40B4-BE49-F238E27FC236}">
                <a16:creationId xmlns:a16="http://schemas.microsoft.com/office/drawing/2014/main" id="{85E4DCC3-B490-F079-6170-37C64F4AE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34131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e7</a:t>
            </a:r>
          </a:p>
        </p:txBody>
      </p:sp>
      <p:sp>
        <p:nvSpPr>
          <p:cNvPr id="752670" name="Text Box 30">
            <a:extLst>
              <a:ext uri="{FF2B5EF4-FFF2-40B4-BE49-F238E27FC236}">
                <a16:creationId xmlns:a16="http://schemas.microsoft.com/office/drawing/2014/main" id="{FD693925-78F5-72A0-D4D2-938CF0BD7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39465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e8</a:t>
            </a:r>
          </a:p>
        </p:txBody>
      </p:sp>
      <p:sp>
        <p:nvSpPr>
          <p:cNvPr id="752671" name="Text Box 31">
            <a:extLst>
              <a:ext uri="{FF2B5EF4-FFF2-40B4-BE49-F238E27FC236}">
                <a16:creationId xmlns:a16="http://schemas.microsoft.com/office/drawing/2014/main" id="{1141F7A7-33E2-1861-B335-A0ECC1E69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3" y="36544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e9</a:t>
            </a:r>
          </a:p>
        </p:txBody>
      </p:sp>
      <p:sp>
        <p:nvSpPr>
          <p:cNvPr id="752672" name="Oval 32">
            <a:extLst>
              <a:ext uri="{FF2B5EF4-FFF2-40B4-BE49-F238E27FC236}">
                <a16:creationId xmlns:a16="http://schemas.microsoft.com/office/drawing/2014/main" id="{9A1E44FB-FF5B-D941-560C-DCC2854B6F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9150" y="1808163"/>
            <a:ext cx="109538" cy="10953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2673" name="Oval 33">
            <a:extLst>
              <a:ext uri="{FF2B5EF4-FFF2-40B4-BE49-F238E27FC236}">
                <a16:creationId xmlns:a16="http://schemas.microsoft.com/office/drawing/2014/main" id="{9204617A-C779-1DA6-84C4-7535C79300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5975" y="4202113"/>
            <a:ext cx="155575" cy="15557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2674" name="Oval 34">
            <a:extLst>
              <a:ext uri="{FF2B5EF4-FFF2-40B4-BE49-F238E27FC236}">
                <a16:creationId xmlns:a16="http://schemas.microsoft.com/office/drawing/2014/main" id="{DF4E7B3B-395F-39D2-44D7-A7B595F487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79788" y="4225925"/>
            <a:ext cx="109537" cy="109538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52677" name="AutoShape 37">
            <a:extLst>
              <a:ext uri="{FF2B5EF4-FFF2-40B4-BE49-F238E27FC236}">
                <a16:creationId xmlns:a16="http://schemas.microsoft.com/office/drawing/2014/main" id="{9A195275-F72B-8356-7C6D-3D854BE5A1DD}"/>
              </a:ext>
            </a:extLst>
          </p:cNvPr>
          <p:cNvCxnSpPr>
            <a:cxnSpLocks noChangeShapeType="1"/>
            <a:stCxn id="752673" idx="6"/>
            <a:endCxn id="752672" idx="6"/>
          </p:cNvCxnSpPr>
          <p:nvPr/>
        </p:nvCxnSpPr>
        <p:spPr bwMode="auto">
          <a:xfrm flipH="1" flipV="1">
            <a:off x="3468688" y="1863725"/>
            <a:ext cx="42862" cy="2416175"/>
          </a:xfrm>
          <a:prstGeom prst="curvedConnector3">
            <a:avLst>
              <a:gd name="adj1" fmla="val -988889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2683" name="Text Box 5">
            <a:extLst>
              <a:ext uri="{FF2B5EF4-FFF2-40B4-BE49-F238E27FC236}">
                <a16:creationId xmlns:a16="http://schemas.microsoft.com/office/drawing/2014/main" id="{6146FBBF-28D5-3205-BC7B-41BB50C2D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3" y="5148263"/>
            <a:ext cx="7223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Cycles:</a:t>
            </a:r>
          </a:p>
        </p:txBody>
      </p:sp>
      <p:sp>
        <p:nvSpPr>
          <p:cNvPr id="752684" name="Text Box 5">
            <a:extLst>
              <a:ext uri="{FF2B5EF4-FFF2-40B4-BE49-F238E27FC236}">
                <a16:creationId xmlns:a16="http://schemas.microsoft.com/office/drawing/2014/main" id="{DCB71E40-3181-50FC-5220-D32947E83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5556250"/>
            <a:ext cx="19018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P3 = e3, e4, e6, e7, e8, e10</a:t>
            </a:r>
          </a:p>
          <a:p>
            <a:pPr>
              <a:spcBef>
                <a:spcPct val="50000"/>
              </a:spcBef>
            </a:pPr>
            <a:r>
              <a:rPr lang="en-US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P5 = e1, e2, e4, e6, e9, e10</a:t>
            </a:r>
          </a:p>
          <a:p>
            <a:pPr>
              <a:spcBef>
                <a:spcPct val="50000"/>
              </a:spcBef>
            </a:pPr>
            <a:r>
              <a:rPr lang="en-US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P6 = e4, e5</a:t>
            </a:r>
          </a:p>
          <a:p>
            <a:pPr>
              <a:spcBef>
                <a:spcPct val="50000"/>
              </a:spcBef>
            </a:pPr>
            <a:r>
              <a:rPr lang="en-US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P7 = e3, e4, e6, e9, 10</a:t>
            </a:r>
          </a:p>
        </p:txBody>
      </p:sp>
      <p:sp>
        <p:nvSpPr>
          <p:cNvPr id="752685" name="Line 45">
            <a:extLst>
              <a:ext uri="{FF2B5EF4-FFF2-40B4-BE49-F238E27FC236}">
                <a16:creationId xmlns:a16="http://schemas.microsoft.com/office/drawing/2014/main" id="{5E6621F7-1C58-FDDE-0E22-3A62FA504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788" y="5438775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2686" name="Text Box 46">
            <a:extLst>
              <a:ext uri="{FF2B5EF4-FFF2-40B4-BE49-F238E27FC236}">
                <a16:creationId xmlns:a16="http://schemas.microsoft.com/office/drawing/2014/main" id="{F388AC7E-6EFD-7F7A-CAEB-41BD16C39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1903413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solidFill>
                  <a:srgbClr val="A50021"/>
                </a:solidFill>
                <a:latin typeface="Arial" panose="020B0604020202020204" pitchFamily="34" charset="0"/>
              </a:rPr>
              <a:t>e10</a:t>
            </a:r>
          </a:p>
        </p:txBody>
      </p:sp>
      <p:sp>
        <p:nvSpPr>
          <p:cNvPr id="752687" name="Text Box 5">
            <a:extLst>
              <a:ext uri="{FF2B5EF4-FFF2-40B4-BE49-F238E27FC236}">
                <a16:creationId xmlns:a16="http://schemas.microsoft.com/office/drawing/2014/main" id="{C6C44E33-7DDB-D6B4-FD26-AB72D8240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0" y="1647825"/>
            <a:ext cx="7334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Circuits:</a:t>
            </a:r>
          </a:p>
        </p:txBody>
      </p:sp>
      <p:sp>
        <p:nvSpPr>
          <p:cNvPr id="752688" name="Text Box 5">
            <a:extLst>
              <a:ext uri="{FF2B5EF4-FFF2-40B4-BE49-F238E27FC236}">
                <a16:creationId xmlns:a16="http://schemas.microsoft.com/office/drawing/2014/main" id="{40F48549-62D6-EC43-0CE3-05A952982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6438" y="2055813"/>
            <a:ext cx="2409825" cy="183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P3 = e3, e4, e6, e7, e8, e10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P4 = e6, e7, e8, e10, e3, e4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P5 = e1, e2, e4, e6, e9, e10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P6 = e4, e5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P7 = e3, e4, e6, e9, 10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P8 = e1, e2, e4, e5, e4, e6, e9, e10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P9 = e3, e4, e5, e4, e6, e9, 10</a:t>
            </a:r>
          </a:p>
        </p:txBody>
      </p:sp>
      <p:sp>
        <p:nvSpPr>
          <p:cNvPr id="752689" name="Text Box 5">
            <a:extLst>
              <a:ext uri="{FF2B5EF4-FFF2-40B4-BE49-F238E27FC236}">
                <a16:creationId xmlns:a16="http://schemas.microsoft.com/office/drawing/2014/main" id="{F4DA135F-5513-FF83-7D5E-BEE56BD56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450" y="2055813"/>
            <a:ext cx="1631950" cy="183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0, 0, 1, 1, 0, 1, 1, 1, 0, 1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0, 0, 1, 1, 0, 1, 1, 1, 0, 1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1, 1, 0, 1, 0, 1, 0, 0, 1, 1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0, 0, 0, 1, 1, 0, 0, 0, 0, 0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0, 0, 1, 1, 0, 1, 0, 0, 1, 1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1, 1, 0, 2, 1, 1, 0, 0, 1, 1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0, 0, 1, 2, 1, 1, 0, 0, 1, 1</a:t>
            </a:r>
          </a:p>
        </p:txBody>
      </p:sp>
      <p:sp>
        <p:nvSpPr>
          <p:cNvPr id="752690" name="Text Box 5">
            <a:extLst>
              <a:ext uri="{FF2B5EF4-FFF2-40B4-BE49-F238E27FC236}">
                <a16:creationId xmlns:a16="http://schemas.microsoft.com/office/drawing/2014/main" id="{DAFD02B2-3345-3F98-6741-5928E9D142F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809706" y="972344"/>
            <a:ext cx="271463" cy="173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e2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e3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e4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e5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e6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e7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e8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e9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e10</a:t>
            </a:r>
          </a:p>
        </p:txBody>
      </p:sp>
      <p:sp>
        <p:nvSpPr>
          <p:cNvPr id="752691" name="Line 51">
            <a:extLst>
              <a:ext uri="{FF2B5EF4-FFF2-40B4-BE49-F238E27FC236}">
                <a16:creationId xmlns:a16="http://schemas.microsoft.com/office/drawing/2014/main" id="{138705B4-0AAC-AFD6-B272-D0E15FAE123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513" y="201136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2692" name="Line 52">
            <a:extLst>
              <a:ext uri="{FF2B5EF4-FFF2-40B4-BE49-F238E27FC236}">
                <a16:creationId xmlns:a16="http://schemas.microsoft.com/office/drawing/2014/main" id="{4A161F8F-4A30-6364-3ADC-6CC84B44C1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038350"/>
            <a:ext cx="0" cy="210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2693" name="Line 53">
            <a:extLst>
              <a:ext uri="{FF2B5EF4-FFF2-40B4-BE49-F238E27FC236}">
                <a16:creationId xmlns:a16="http://schemas.microsoft.com/office/drawing/2014/main" id="{DD38EE53-A3DC-400A-1AEC-D3B8845E72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3425" y="1938338"/>
            <a:ext cx="2239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2695" name="Text Box 5">
            <a:extLst>
              <a:ext uri="{FF2B5EF4-FFF2-40B4-BE49-F238E27FC236}">
                <a16:creationId xmlns:a16="http://schemas.microsoft.com/office/drawing/2014/main" id="{104FD8B3-FBCF-2054-D432-A9EBDCC2E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8475" y="6350000"/>
            <a:ext cx="19923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P4, P8, P9 are not cycles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50F27BC-8945-B7E6-B81E-13B5A3FD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69FE0-C86D-0B41-954D-C5F9B19C9D3C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747522" name="Rectangle 2">
            <a:extLst>
              <a:ext uri="{FF2B5EF4-FFF2-40B4-BE49-F238E27FC236}">
                <a16:creationId xmlns:a16="http://schemas.microsoft.com/office/drawing/2014/main" id="{866BA186-5610-2FBF-C1D5-FAB9CAFAF7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Linearly Independent Paths</a:t>
            </a:r>
          </a:p>
        </p:txBody>
      </p:sp>
      <p:sp>
        <p:nvSpPr>
          <p:cNvPr id="747523" name="Rectangle 3">
            <a:extLst>
              <a:ext uri="{FF2B5EF4-FFF2-40B4-BE49-F238E27FC236}">
                <a16:creationId xmlns:a16="http://schemas.microsoft.com/office/drawing/2014/main" id="{60D4B55B-CF48-F4F5-24E8-8EA06992DC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9657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/>
              <a:t>A path </a:t>
            </a:r>
            <a:r>
              <a:rPr lang="en-US" altLang="en-US" sz="2000" i="1"/>
              <a:t>p</a:t>
            </a:r>
            <a:r>
              <a:rPr lang="en-US" altLang="en-US" sz="2000"/>
              <a:t> is said to be a </a:t>
            </a:r>
            <a:r>
              <a:rPr lang="en-US" altLang="en-US" sz="2000" b="1"/>
              <a:t>linear combination</a:t>
            </a:r>
            <a:r>
              <a:rPr lang="en-US" altLang="en-US" sz="2000"/>
              <a:t> of paths </a:t>
            </a:r>
            <a:r>
              <a:rPr lang="en-US" altLang="en-US" sz="2000" i="1"/>
              <a:t>p</a:t>
            </a:r>
            <a:r>
              <a:rPr lang="en-US" altLang="en-US" sz="2000" baseline="-25000"/>
              <a:t>1</a:t>
            </a:r>
            <a:r>
              <a:rPr lang="en-US" altLang="en-US" sz="2000"/>
              <a:t>, …, </a:t>
            </a:r>
            <a:r>
              <a:rPr lang="en-US" altLang="en-US" sz="2000" i="1"/>
              <a:t>p</a:t>
            </a:r>
            <a:r>
              <a:rPr lang="en-US" altLang="en-US" sz="2000" baseline="-25000"/>
              <a:t>n</a:t>
            </a:r>
            <a:r>
              <a:rPr lang="en-US" altLang="en-US" sz="2000"/>
              <a:t> if there are integers </a:t>
            </a:r>
            <a:r>
              <a:rPr lang="en-US" altLang="en-US" sz="2000" i="1"/>
              <a:t>a</a:t>
            </a:r>
            <a:r>
              <a:rPr lang="en-US" altLang="en-US" sz="2000" baseline="-25000"/>
              <a:t>1</a:t>
            </a:r>
            <a:r>
              <a:rPr lang="en-US" altLang="en-US" sz="2000"/>
              <a:t>, …, </a:t>
            </a:r>
            <a:r>
              <a:rPr lang="en-US" altLang="en-US" sz="2000" i="1"/>
              <a:t>a</a:t>
            </a:r>
            <a:r>
              <a:rPr lang="en-US" altLang="en-US" sz="2000" baseline="-25000"/>
              <a:t>n</a:t>
            </a:r>
            <a:r>
              <a:rPr lang="en-US" altLang="en-US" sz="2000"/>
              <a:t> such that </a:t>
            </a:r>
            <a:r>
              <a:rPr lang="en-US" altLang="en-US" sz="2000" i="1"/>
              <a:t>p</a:t>
            </a:r>
            <a:r>
              <a:rPr lang="en-US" altLang="en-US" sz="2000"/>
              <a:t> = </a:t>
            </a:r>
            <a:r>
              <a:rPr lang="en-US" altLang="en-US" sz="2000">
                <a:sym typeface="Symbol" pitchFamily="2" charset="2"/>
              </a:rPr>
              <a:t></a:t>
            </a:r>
            <a:r>
              <a:rPr lang="en-US" altLang="en-US" sz="2000" i="1">
                <a:sym typeface="Symbol" pitchFamily="2" charset="2"/>
              </a:rPr>
              <a:t>a</a:t>
            </a:r>
            <a:r>
              <a:rPr lang="en-US" altLang="en-US" sz="2000" baseline="-25000">
                <a:sym typeface="Symbol" pitchFamily="2" charset="2"/>
              </a:rPr>
              <a:t>i</a:t>
            </a:r>
            <a:r>
              <a:rPr lang="en-US" altLang="en-US" sz="2000">
                <a:sym typeface="Symbol" pitchFamily="2" charset="2"/>
              </a:rPr>
              <a:t></a:t>
            </a:r>
            <a:r>
              <a:rPr lang="en-US" altLang="en-US" sz="2000" i="1">
                <a:sym typeface="Symbol" pitchFamily="2" charset="2"/>
              </a:rPr>
              <a:t>p</a:t>
            </a:r>
            <a:r>
              <a:rPr lang="en-US" altLang="en-US" sz="2000" baseline="-25000">
                <a:sym typeface="Symbol" pitchFamily="2" charset="2"/>
              </a:rPr>
              <a:t>i</a:t>
            </a:r>
            <a:r>
              <a:rPr lang="en-US" altLang="en-US" sz="2000">
                <a:sym typeface="Symbol" pitchFamily="2" charset="2"/>
              </a:rPr>
              <a:t> 	(</a:t>
            </a:r>
            <a:r>
              <a:rPr lang="en-US" altLang="en-US" sz="2000" i="1"/>
              <a:t>a</a:t>
            </a:r>
            <a:r>
              <a:rPr lang="en-US" altLang="en-US" sz="2000" i="1" baseline="-25000"/>
              <a:t>i</a:t>
            </a:r>
            <a:r>
              <a:rPr lang="en-US" altLang="en-US" sz="2000">
                <a:sym typeface="Symbol" pitchFamily="2" charset="2"/>
              </a:rPr>
              <a:t> </a:t>
            </a:r>
            <a:r>
              <a:rPr lang="en-US" altLang="en-US" sz="1800">
                <a:sym typeface="Symbol" pitchFamily="2" charset="2"/>
              </a:rPr>
              <a:t>could be negative, zero, or positive</a:t>
            </a:r>
            <a:r>
              <a:rPr lang="en-US" altLang="en-US" sz="2000">
                <a:sym typeface="Symbol" pitchFamily="2" charset="2"/>
              </a:rPr>
              <a:t>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>
                <a:sym typeface="Symbol" pitchFamily="2" charset="2"/>
              </a:rPr>
              <a:t>A set of paths in a strongly connected graph is </a:t>
            </a:r>
            <a:r>
              <a:rPr lang="en-US" altLang="en-US" sz="2000" b="1">
                <a:sym typeface="Symbol" pitchFamily="2" charset="2"/>
              </a:rPr>
              <a:t>linearly independent</a:t>
            </a:r>
            <a:r>
              <a:rPr lang="en-US" altLang="en-US" sz="2000">
                <a:sym typeface="Symbol" pitchFamily="2" charset="2"/>
              </a:rPr>
              <a:t> if no path in the set is a linear combination of any other paths in the set</a:t>
            </a:r>
          </a:p>
          <a:p>
            <a:pPr lvl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>
                <a:sym typeface="Symbol" pitchFamily="2" charset="2"/>
              </a:rPr>
              <a:t>A </a:t>
            </a:r>
            <a:r>
              <a:rPr lang="en-US" altLang="en-US" sz="1600" b="1">
                <a:sym typeface="Symbol" pitchFamily="2" charset="2"/>
              </a:rPr>
              <a:t>linearly independent path</a:t>
            </a:r>
            <a:r>
              <a:rPr lang="en-US" altLang="en-US" sz="1600">
                <a:sym typeface="Symbol" pitchFamily="2" charset="2"/>
              </a:rPr>
              <a:t> is any path </a:t>
            </a:r>
            <a:r>
              <a:rPr lang="en-US" altLang="en-US" sz="1600" i="1">
                <a:sym typeface="Symbol" pitchFamily="2" charset="2"/>
              </a:rPr>
              <a:t>through</a:t>
            </a:r>
            <a:r>
              <a:rPr lang="en-US" altLang="en-US" sz="1600">
                <a:sym typeface="Symbol" pitchFamily="2" charset="2"/>
              </a:rPr>
              <a:t> the program (“complete path”) that introduces at least one </a:t>
            </a:r>
            <a:r>
              <a:rPr lang="en-US" altLang="en-US" sz="1600" i="1">
                <a:sym typeface="Symbol" pitchFamily="2" charset="2"/>
              </a:rPr>
              <a:t>new edge</a:t>
            </a:r>
            <a:r>
              <a:rPr lang="en-US" altLang="en-US" sz="1600">
                <a:sym typeface="Symbol" pitchFamily="2" charset="2"/>
              </a:rPr>
              <a:t> that is not included in any other linearly independent paths.</a:t>
            </a:r>
          </a:p>
          <a:p>
            <a:pPr lvl="2">
              <a:lnSpc>
                <a:spcPct val="80000"/>
              </a:lnSpc>
              <a:spcBef>
                <a:spcPct val="50000"/>
              </a:spcBef>
            </a:pPr>
            <a:r>
              <a:rPr lang="en-US" altLang="en-US" sz="1400">
                <a:sym typeface="Symbol" pitchFamily="2" charset="2"/>
              </a:rPr>
              <a:t>A path that is subpath of another path is not considered to be a linearly independent path.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>
                <a:sym typeface="Symbol" pitchFamily="2" charset="2"/>
              </a:rPr>
              <a:t>A </a:t>
            </a:r>
            <a:r>
              <a:rPr lang="en-US" altLang="en-US" sz="2000" b="1">
                <a:sym typeface="Symbol" pitchFamily="2" charset="2"/>
              </a:rPr>
              <a:t>basis set</a:t>
            </a:r>
            <a:r>
              <a:rPr lang="en-US" altLang="en-US" sz="2000">
                <a:sym typeface="Symbol" pitchFamily="2" charset="2"/>
              </a:rPr>
              <a:t> of </a:t>
            </a:r>
            <a:r>
              <a:rPr lang="en-US" altLang="en-US" sz="2000" i="1">
                <a:sym typeface="Symbol" pitchFamily="2" charset="2"/>
              </a:rPr>
              <a:t>cycles</a:t>
            </a:r>
            <a:r>
              <a:rPr lang="en-US" altLang="en-US" sz="2000">
                <a:sym typeface="Symbol" pitchFamily="2" charset="2"/>
              </a:rPr>
              <a:t> is a maximal linearly independent set of cycles</a:t>
            </a:r>
          </a:p>
          <a:p>
            <a:pPr lvl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>
                <a:sym typeface="Symbol" pitchFamily="2" charset="2"/>
              </a:rPr>
              <a:t>In a graph with </a:t>
            </a:r>
            <a:r>
              <a:rPr lang="en-US" altLang="en-US" sz="1600" i="1">
                <a:sym typeface="Symbol" pitchFamily="2" charset="2"/>
              </a:rPr>
              <a:t>e</a:t>
            </a:r>
            <a:r>
              <a:rPr lang="en-US" altLang="en-US" sz="1600">
                <a:sym typeface="Symbol" pitchFamily="2" charset="2"/>
              </a:rPr>
              <a:t> edges and </a:t>
            </a:r>
            <a:r>
              <a:rPr lang="en-US" altLang="en-US" sz="1600" i="1">
                <a:sym typeface="Symbol" pitchFamily="2" charset="2"/>
              </a:rPr>
              <a:t>n</a:t>
            </a:r>
            <a:r>
              <a:rPr lang="en-US" altLang="en-US" sz="1600">
                <a:sym typeface="Symbol" pitchFamily="2" charset="2"/>
              </a:rPr>
              <a:t> nodes, the basis has </a:t>
            </a:r>
            <a:r>
              <a:rPr lang="en-US" altLang="en-US" sz="1600" i="1">
                <a:sym typeface="Symbol" pitchFamily="2" charset="2"/>
              </a:rPr>
              <a:t>e</a:t>
            </a:r>
            <a:r>
              <a:rPr lang="en-US" altLang="en-US" sz="1600">
                <a:sym typeface="Symbol" pitchFamily="2" charset="2"/>
              </a:rPr>
              <a:t>  </a:t>
            </a:r>
            <a:r>
              <a:rPr lang="en-US" altLang="en-US" sz="1600" i="1">
                <a:sym typeface="Symbol" pitchFamily="2" charset="2"/>
              </a:rPr>
              <a:t>n</a:t>
            </a:r>
            <a:r>
              <a:rPr lang="en-US" altLang="en-US" sz="1600">
                <a:sym typeface="Symbol" pitchFamily="2" charset="2"/>
              </a:rPr>
              <a:t> + 1 cycles</a:t>
            </a:r>
          </a:p>
          <a:p>
            <a:pPr lvl="2">
              <a:lnSpc>
                <a:spcPct val="80000"/>
              </a:lnSpc>
              <a:spcBef>
                <a:spcPct val="50000"/>
              </a:spcBef>
            </a:pPr>
            <a:r>
              <a:rPr lang="en-US" altLang="en-US" sz="1400">
                <a:sym typeface="Symbol" pitchFamily="2" charset="2"/>
              </a:rPr>
              <a:t>+1 is for the virtual edge, introduced to obtain a strongly connected graph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2000">
                <a:sym typeface="Symbol" pitchFamily="2" charset="2"/>
              </a:rPr>
              <a:t>Every path is a linear combination of basis cycles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3C9A0A0-E248-36B7-D271-33F5675F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F0DD-9836-AD45-B6D9-DEE9085DA530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754690" name="Rectangle 2">
            <a:extLst>
              <a:ext uri="{FF2B5EF4-FFF2-40B4-BE49-F238E27FC236}">
                <a16:creationId xmlns:a16="http://schemas.microsoft.com/office/drawing/2014/main" id="{F04415D7-4190-5AAE-ED09-CC524F77A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Baseline method for finding the basis set of cycles</a:t>
            </a:r>
          </a:p>
        </p:txBody>
      </p:sp>
      <p:sp>
        <p:nvSpPr>
          <p:cNvPr id="754691" name="Rectangle 3">
            <a:extLst>
              <a:ext uri="{FF2B5EF4-FFF2-40B4-BE49-F238E27FC236}">
                <a16:creationId xmlns:a16="http://schemas.microsoft.com/office/drawing/2014/main" id="{9660F7CA-7619-9646-8590-FD57C9A95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Start at the source node</a:t>
            </a:r>
            <a:br>
              <a:rPr lang="en-US" altLang="en-US" sz="2800"/>
            </a:br>
            <a:r>
              <a:rPr lang="en-US" altLang="en-US" sz="2800"/>
              <a:t>(</a:t>
            </a:r>
            <a:r>
              <a:rPr lang="en-US" altLang="en-US" sz="2000"/>
              <a:t>the first statement of the program/module</a:t>
            </a:r>
            <a:r>
              <a:rPr lang="en-US" altLang="en-US" sz="2800"/>
              <a:t>)</a:t>
            </a:r>
          </a:p>
          <a:p>
            <a:r>
              <a:rPr lang="en-US" altLang="en-US" sz="2800"/>
              <a:t>Follow the leftmost path until the sink node is reached</a:t>
            </a:r>
          </a:p>
          <a:p>
            <a:r>
              <a:rPr lang="en-US" altLang="en-US" sz="2800"/>
              <a:t>Repeatedly retrace this path from the source node, but change decisions at every node with out-degree ≥2, starting with the decision node earliest in the path</a:t>
            </a:r>
          </a:p>
          <a:p>
            <a:pPr>
              <a:spcBef>
                <a:spcPct val="100000"/>
              </a:spcBef>
              <a:buFontTx/>
              <a:buNone/>
            </a:pPr>
            <a:r>
              <a:rPr lang="en-US" altLang="en-US" sz="1400"/>
              <a:t>T.J. McCabe &amp; A.H. Watson, </a:t>
            </a:r>
            <a:r>
              <a:rPr lang="en-US" altLang="en-US" sz="1400" i="1"/>
              <a:t>Structured Testing: A Testing Methodology Using the Cyclomatic Complexity Metric</a:t>
            </a:r>
            <a:r>
              <a:rPr lang="en-US" altLang="en-US" sz="1400"/>
              <a:t>, NIST Special Publication 500-235, 1996.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3D182EB-994C-D557-6FC7-802EF768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03AF1-2C07-C649-AEB7-049BD9FB802F}" type="slidenum">
              <a:rPr lang="en-US" altLang="en-US"/>
              <a:pPr/>
              <a:t>13</a:t>
            </a:fld>
            <a:endParaRPr lang="en-US" altLang="en-US"/>
          </a:p>
        </p:txBody>
      </p:sp>
      <p:cxnSp>
        <p:nvCxnSpPr>
          <p:cNvPr id="723975" name="AutoShape 7">
            <a:extLst>
              <a:ext uri="{FF2B5EF4-FFF2-40B4-BE49-F238E27FC236}">
                <a16:creationId xmlns:a16="http://schemas.microsoft.com/office/drawing/2014/main" id="{DF29B524-F9C4-B727-E075-ACFAC0323574}"/>
              </a:ext>
            </a:extLst>
          </p:cNvPr>
          <p:cNvCxnSpPr>
            <a:cxnSpLocks noChangeShapeType="1"/>
            <a:stCxn id="724010" idx="3"/>
            <a:endCxn id="723978" idx="7"/>
          </p:cNvCxnSpPr>
          <p:nvPr/>
        </p:nvCxnSpPr>
        <p:spPr bwMode="auto">
          <a:xfrm flipH="1">
            <a:off x="3248025" y="1901825"/>
            <a:ext cx="127000" cy="92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4009" name="AutoShape 41">
            <a:extLst>
              <a:ext uri="{FF2B5EF4-FFF2-40B4-BE49-F238E27FC236}">
                <a16:creationId xmlns:a16="http://schemas.microsoft.com/office/drawing/2014/main" id="{B2D26635-9FD0-0A36-D1FF-E1990325753D}"/>
              </a:ext>
            </a:extLst>
          </p:cNvPr>
          <p:cNvCxnSpPr>
            <a:cxnSpLocks noChangeShapeType="1"/>
            <a:stCxn id="723992" idx="5"/>
            <a:endCxn id="724011" idx="1"/>
          </p:cNvCxnSpPr>
          <p:nvPr/>
        </p:nvCxnSpPr>
        <p:spPr bwMode="auto">
          <a:xfrm>
            <a:off x="3248025" y="4108450"/>
            <a:ext cx="130175" cy="1158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3972" name="Rectangle 4">
            <a:extLst>
              <a:ext uri="{FF2B5EF4-FFF2-40B4-BE49-F238E27FC236}">
                <a16:creationId xmlns:a16="http://schemas.microsoft.com/office/drawing/2014/main" id="{3D6665B3-3ABD-F6D7-5CE8-AD08286F1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Linearly Independent Paths (1)</a:t>
            </a:r>
          </a:p>
        </p:txBody>
      </p:sp>
      <p:cxnSp>
        <p:nvCxnSpPr>
          <p:cNvPr id="723976" name="AutoShape 8">
            <a:extLst>
              <a:ext uri="{FF2B5EF4-FFF2-40B4-BE49-F238E27FC236}">
                <a16:creationId xmlns:a16="http://schemas.microsoft.com/office/drawing/2014/main" id="{B580CA4B-1132-ED32-0E3E-D966BB77AAF0}"/>
              </a:ext>
            </a:extLst>
          </p:cNvPr>
          <p:cNvCxnSpPr>
            <a:cxnSpLocks noChangeShapeType="1"/>
            <a:stCxn id="723978" idx="4"/>
            <a:endCxn id="723979" idx="0"/>
          </p:cNvCxnSpPr>
          <p:nvPr/>
        </p:nvCxnSpPr>
        <p:spPr bwMode="auto">
          <a:xfrm>
            <a:off x="3167063" y="2189163"/>
            <a:ext cx="0" cy="298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3977" name="AutoShape 9">
            <a:extLst>
              <a:ext uri="{FF2B5EF4-FFF2-40B4-BE49-F238E27FC236}">
                <a16:creationId xmlns:a16="http://schemas.microsoft.com/office/drawing/2014/main" id="{36D07596-8DB4-BF96-A9CD-0BD7809D6E8F}"/>
              </a:ext>
            </a:extLst>
          </p:cNvPr>
          <p:cNvCxnSpPr>
            <a:cxnSpLocks noChangeShapeType="1"/>
            <a:stCxn id="723980" idx="5"/>
            <a:endCxn id="723979" idx="2"/>
          </p:cNvCxnSpPr>
          <p:nvPr/>
        </p:nvCxnSpPr>
        <p:spPr bwMode="auto">
          <a:xfrm>
            <a:off x="2770188" y="2419350"/>
            <a:ext cx="282575" cy="182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3981" name="Text Box 13">
            <a:extLst>
              <a:ext uri="{FF2B5EF4-FFF2-40B4-BE49-F238E27FC236}">
                <a16:creationId xmlns:a16="http://schemas.microsoft.com/office/drawing/2014/main" id="{EE143A77-DFE5-BE2B-F91F-6D40FF4B9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2078038"/>
            <a:ext cx="14668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if</a:t>
            </a:r>
            <a:r>
              <a:rPr lang="en-US" altLang="en-US" sz="1000">
                <a:latin typeface="Courier New" panose="02070309020205020404" pitchFamily="49" charset="0"/>
              </a:rPr>
              <a:t> expression1 </a:t>
            </a:r>
            <a:r>
              <a:rPr lang="en-US" altLang="en-US" sz="1000" b="1">
                <a:latin typeface="Courier New" panose="02070309020205020404" pitchFamily="49" charset="0"/>
              </a:rPr>
              <a:t>then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statement2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end if</a:t>
            </a:r>
          </a:p>
          <a:p>
            <a:endParaRPr lang="en-US" altLang="en-US" sz="1000">
              <a:latin typeface="Courier New" panose="02070309020205020404" pitchFamily="49" charset="0"/>
            </a:endParaRPr>
          </a:p>
          <a:p>
            <a:r>
              <a:rPr lang="en-US" altLang="en-US" sz="1000" b="1">
                <a:latin typeface="Courier New" panose="02070309020205020404" pitchFamily="49" charset="0"/>
              </a:rPr>
              <a:t>do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statement3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</a:t>
            </a:r>
            <a:r>
              <a:rPr lang="en-US" altLang="en-US" sz="1000" b="1">
                <a:latin typeface="Courier New" panose="02070309020205020404" pitchFamily="49" charset="0"/>
              </a:rPr>
              <a:t>while</a:t>
            </a:r>
            <a:r>
              <a:rPr lang="en-US" altLang="en-US" sz="1000">
                <a:latin typeface="Courier New" panose="02070309020205020404" pitchFamily="49" charset="0"/>
              </a:rPr>
              <a:t> expr4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end do</a:t>
            </a:r>
          </a:p>
          <a:p>
            <a:endParaRPr lang="en-US" altLang="en-US" sz="1000">
              <a:latin typeface="Courier New" panose="02070309020205020404" pitchFamily="49" charset="0"/>
            </a:endParaRPr>
          </a:p>
          <a:p>
            <a:r>
              <a:rPr lang="en-US" altLang="en-US" sz="1000" b="1">
                <a:latin typeface="Courier New" panose="02070309020205020404" pitchFamily="49" charset="0"/>
              </a:rPr>
              <a:t>if</a:t>
            </a:r>
            <a:r>
              <a:rPr lang="en-US" altLang="en-US" sz="1000">
                <a:latin typeface="Courier New" panose="02070309020205020404" pitchFamily="49" charset="0"/>
              </a:rPr>
              <a:t> expression5 </a:t>
            </a:r>
            <a:r>
              <a:rPr lang="en-US" altLang="en-US" sz="1000" b="1">
                <a:latin typeface="Courier New" panose="02070309020205020404" pitchFamily="49" charset="0"/>
              </a:rPr>
              <a:t>then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    statement6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end if</a:t>
            </a:r>
          </a:p>
          <a:p>
            <a:r>
              <a:rPr lang="en-US" altLang="en-US" sz="1000">
                <a:latin typeface="Courier New" panose="02070309020205020404" pitchFamily="49" charset="0"/>
              </a:rPr>
              <a:t>statement7</a:t>
            </a:r>
          </a:p>
        </p:txBody>
      </p:sp>
      <p:cxnSp>
        <p:nvCxnSpPr>
          <p:cNvPr id="723983" name="AutoShape 15">
            <a:extLst>
              <a:ext uri="{FF2B5EF4-FFF2-40B4-BE49-F238E27FC236}">
                <a16:creationId xmlns:a16="http://schemas.microsoft.com/office/drawing/2014/main" id="{963D46B4-D613-47C8-7A68-14E240A7E6EE}"/>
              </a:ext>
            </a:extLst>
          </p:cNvPr>
          <p:cNvCxnSpPr>
            <a:cxnSpLocks noChangeShapeType="1"/>
            <a:stCxn id="723988" idx="6"/>
            <a:endCxn id="723979" idx="6"/>
          </p:cNvCxnSpPr>
          <p:nvPr/>
        </p:nvCxnSpPr>
        <p:spPr bwMode="auto">
          <a:xfrm flipV="1">
            <a:off x="3281363" y="2601913"/>
            <a:ext cx="1587" cy="488950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3985" name="AutoShape 17">
            <a:extLst>
              <a:ext uri="{FF2B5EF4-FFF2-40B4-BE49-F238E27FC236}">
                <a16:creationId xmlns:a16="http://schemas.microsoft.com/office/drawing/2014/main" id="{BCF19CE0-CB96-A990-64D6-24BEE82F08B1}"/>
              </a:ext>
            </a:extLst>
          </p:cNvPr>
          <p:cNvCxnSpPr>
            <a:cxnSpLocks noChangeShapeType="1"/>
            <a:stCxn id="723979" idx="4"/>
            <a:endCxn id="723988" idx="0"/>
          </p:cNvCxnSpPr>
          <p:nvPr/>
        </p:nvCxnSpPr>
        <p:spPr bwMode="auto">
          <a:xfrm>
            <a:off x="3167063" y="2716213"/>
            <a:ext cx="0" cy="260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3986" name="AutoShape 18">
            <a:extLst>
              <a:ext uri="{FF2B5EF4-FFF2-40B4-BE49-F238E27FC236}">
                <a16:creationId xmlns:a16="http://schemas.microsoft.com/office/drawing/2014/main" id="{F766CA4B-EE60-248F-E419-9EB610DDA4AE}"/>
              </a:ext>
            </a:extLst>
          </p:cNvPr>
          <p:cNvCxnSpPr>
            <a:cxnSpLocks noChangeShapeType="1"/>
            <a:stCxn id="723988" idx="4"/>
            <a:endCxn id="723989" idx="0"/>
          </p:cNvCxnSpPr>
          <p:nvPr/>
        </p:nvCxnSpPr>
        <p:spPr bwMode="auto">
          <a:xfrm>
            <a:off x="3167063" y="3205163"/>
            <a:ext cx="0" cy="179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3991" name="AutoShape 23">
            <a:extLst>
              <a:ext uri="{FF2B5EF4-FFF2-40B4-BE49-F238E27FC236}">
                <a16:creationId xmlns:a16="http://schemas.microsoft.com/office/drawing/2014/main" id="{F7A62DFC-81C0-7C4F-DD0D-CDC1AF2A6AA7}"/>
              </a:ext>
            </a:extLst>
          </p:cNvPr>
          <p:cNvCxnSpPr>
            <a:cxnSpLocks noChangeShapeType="1"/>
            <a:stCxn id="723989" idx="4"/>
            <a:endCxn id="723992" idx="0"/>
          </p:cNvCxnSpPr>
          <p:nvPr/>
        </p:nvCxnSpPr>
        <p:spPr bwMode="auto">
          <a:xfrm>
            <a:off x="3167063" y="3613150"/>
            <a:ext cx="0" cy="3000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3996" name="AutoShape 28">
            <a:extLst>
              <a:ext uri="{FF2B5EF4-FFF2-40B4-BE49-F238E27FC236}">
                <a16:creationId xmlns:a16="http://schemas.microsoft.com/office/drawing/2014/main" id="{85DF4FEB-4658-B9EC-E3C2-A38E5E35EC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4088" y="2865438"/>
            <a:ext cx="192087" cy="198437"/>
          </a:xfrm>
          <a:prstGeom prst="rightArrow">
            <a:avLst>
              <a:gd name="adj1" fmla="val 50324"/>
              <a:gd name="adj2" fmla="val 51514"/>
            </a:avLst>
          </a:prstGeom>
          <a:solidFill>
            <a:srgbClr val="80808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23997" name="AutoShape 29">
            <a:extLst>
              <a:ext uri="{FF2B5EF4-FFF2-40B4-BE49-F238E27FC236}">
                <a16:creationId xmlns:a16="http://schemas.microsoft.com/office/drawing/2014/main" id="{80AABDDC-447B-B494-8EA2-EE6BB109758F}"/>
              </a:ext>
            </a:extLst>
          </p:cNvPr>
          <p:cNvCxnSpPr>
            <a:cxnSpLocks noChangeShapeType="1"/>
            <a:stCxn id="723978" idx="2"/>
            <a:endCxn id="723980" idx="7"/>
          </p:cNvCxnSpPr>
          <p:nvPr/>
        </p:nvCxnSpPr>
        <p:spPr bwMode="auto">
          <a:xfrm flipH="1">
            <a:off x="2770188" y="2074863"/>
            <a:ext cx="282575" cy="182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3998" name="AutoShape 30">
            <a:extLst>
              <a:ext uri="{FF2B5EF4-FFF2-40B4-BE49-F238E27FC236}">
                <a16:creationId xmlns:a16="http://schemas.microsoft.com/office/drawing/2014/main" id="{1B4A43A3-2B31-5584-7300-8CDEE85785CB}"/>
              </a:ext>
            </a:extLst>
          </p:cNvPr>
          <p:cNvCxnSpPr>
            <a:cxnSpLocks noChangeShapeType="1"/>
            <a:stCxn id="723989" idx="2"/>
            <a:endCxn id="723994" idx="7"/>
          </p:cNvCxnSpPr>
          <p:nvPr/>
        </p:nvCxnSpPr>
        <p:spPr bwMode="auto">
          <a:xfrm flipH="1">
            <a:off x="2770188" y="3498850"/>
            <a:ext cx="282575" cy="182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3999" name="AutoShape 31">
            <a:extLst>
              <a:ext uri="{FF2B5EF4-FFF2-40B4-BE49-F238E27FC236}">
                <a16:creationId xmlns:a16="http://schemas.microsoft.com/office/drawing/2014/main" id="{73BE1823-9D4D-9D1A-5C6A-78804F33CA69}"/>
              </a:ext>
            </a:extLst>
          </p:cNvPr>
          <p:cNvCxnSpPr>
            <a:cxnSpLocks noChangeShapeType="1"/>
            <a:stCxn id="723994" idx="5"/>
            <a:endCxn id="723992" idx="2"/>
          </p:cNvCxnSpPr>
          <p:nvPr/>
        </p:nvCxnSpPr>
        <p:spPr bwMode="auto">
          <a:xfrm>
            <a:off x="2770188" y="3843338"/>
            <a:ext cx="282575" cy="184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3978" name="Oval 10">
            <a:extLst>
              <a:ext uri="{FF2B5EF4-FFF2-40B4-BE49-F238E27FC236}">
                <a16:creationId xmlns:a16="http://schemas.microsoft.com/office/drawing/2014/main" id="{250E1E29-5DE6-E1E7-0C4A-76F63B5060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1960563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n1</a:t>
            </a:r>
          </a:p>
        </p:txBody>
      </p:sp>
      <p:sp>
        <p:nvSpPr>
          <p:cNvPr id="723979" name="Oval 11">
            <a:extLst>
              <a:ext uri="{FF2B5EF4-FFF2-40B4-BE49-F238E27FC236}">
                <a16:creationId xmlns:a16="http://schemas.microsoft.com/office/drawing/2014/main" id="{A47D3A0A-3D35-098B-AC7F-42FEE73780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2487613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n3</a:t>
            </a:r>
          </a:p>
        </p:txBody>
      </p:sp>
      <p:sp>
        <p:nvSpPr>
          <p:cNvPr id="723980" name="Oval 12">
            <a:extLst>
              <a:ext uri="{FF2B5EF4-FFF2-40B4-BE49-F238E27FC236}">
                <a16:creationId xmlns:a16="http://schemas.microsoft.com/office/drawing/2014/main" id="{CC16F5B3-1A8C-7506-60CC-1674174326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4925" y="2224088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n2</a:t>
            </a:r>
          </a:p>
        </p:txBody>
      </p:sp>
      <p:sp>
        <p:nvSpPr>
          <p:cNvPr id="723988" name="Oval 20">
            <a:extLst>
              <a:ext uri="{FF2B5EF4-FFF2-40B4-BE49-F238E27FC236}">
                <a16:creationId xmlns:a16="http://schemas.microsoft.com/office/drawing/2014/main" id="{22C2AC57-CA84-14F0-0923-E2583C2C3A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2976563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n4</a:t>
            </a:r>
          </a:p>
        </p:txBody>
      </p:sp>
      <p:sp>
        <p:nvSpPr>
          <p:cNvPr id="723989" name="Oval 21">
            <a:extLst>
              <a:ext uri="{FF2B5EF4-FFF2-40B4-BE49-F238E27FC236}">
                <a16:creationId xmlns:a16="http://schemas.microsoft.com/office/drawing/2014/main" id="{7BB63D1B-603D-5886-9B4D-B1D6339972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3384550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n5</a:t>
            </a:r>
          </a:p>
        </p:txBody>
      </p:sp>
      <p:sp>
        <p:nvSpPr>
          <p:cNvPr id="723992" name="Oval 24">
            <a:extLst>
              <a:ext uri="{FF2B5EF4-FFF2-40B4-BE49-F238E27FC236}">
                <a16:creationId xmlns:a16="http://schemas.microsoft.com/office/drawing/2014/main" id="{BABF4665-2BC4-D95A-9EBE-DB08B854A5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2763" y="3913188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n7</a:t>
            </a:r>
          </a:p>
        </p:txBody>
      </p:sp>
      <p:sp>
        <p:nvSpPr>
          <p:cNvPr id="723994" name="Oval 26">
            <a:extLst>
              <a:ext uri="{FF2B5EF4-FFF2-40B4-BE49-F238E27FC236}">
                <a16:creationId xmlns:a16="http://schemas.microsoft.com/office/drawing/2014/main" id="{D7FEF6DB-8AB5-714F-F304-83D08724EC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4925" y="3648075"/>
            <a:ext cx="2286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n6</a:t>
            </a:r>
          </a:p>
        </p:txBody>
      </p:sp>
      <p:sp>
        <p:nvSpPr>
          <p:cNvPr id="724000" name="Text Box 32">
            <a:extLst>
              <a:ext uri="{FF2B5EF4-FFF2-40B4-BE49-F238E27FC236}">
                <a16:creationId xmlns:a16="http://schemas.microsoft.com/office/drawing/2014/main" id="{BBE414B8-7575-4724-386B-5F8B7F630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198120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e1</a:t>
            </a:r>
          </a:p>
        </p:txBody>
      </p:sp>
      <p:sp>
        <p:nvSpPr>
          <p:cNvPr id="724001" name="Text Box 33">
            <a:extLst>
              <a:ext uri="{FF2B5EF4-FFF2-40B4-BE49-F238E27FC236}">
                <a16:creationId xmlns:a16="http://schemas.microsoft.com/office/drawing/2014/main" id="{8006FDF9-8EE2-E99C-71AC-F24E2E2DB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2525713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e2</a:t>
            </a:r>
          </a:p>
        </p:txBody>
      </p:sp>
      <p:sp>
        <p:nvSpPr>
          <p:cNvPr id="724002" name="Text Box 34">
            <a:extLst>
              <a:ext uri="{FF2B5EF4-FFF2-40B4-BE49-F238E27FC236}">
                <a16:creationId xmlns:a16="http://schemas.microsoft.com/office/drawing/2014/main" id="{D0FE967D-9493-8B61-A4DA-6EBF4FDDD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3" y="22304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e3</a:t>
            </a:r>
          </a:p>
        </p:txBody>
      </p:sp>
      <p:sp>
        <p:nvSpPr>
          <p:cNvPr id="724003" name="Text Box 35">
            <a:extLst>
              <a:ext uri="{FF2B5EF4-FFF2-40B4-BE49-F238E27FC236}">
                <a16:creationId xmlns:a16="http://schemas.microsoft.com/office/drawing/2014/main" id="{B977E269-298A-77AB-53BF-4D4A755A8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27384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e4</a:t>
            </a:r>
          </a:p>
        </p:txBody>
      </p:sp>
      <p:sp>
        <p:nvSpPr>
          <p:cNvPr id="724004" name="Text Box 36">
            <a:extLst>
              <a:ext uri="{FF2B5EF4-FFF2-40B4-BE49-F238E27FC236}">
                <a16:creationId xmlns:a16="http://schemas.microsoft.com/office/drawing/2014/main" id="{DDE051CF-87C4-FD5F-9C63-162026C60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288" y="277018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e5</a:t>
            </a:r>
          </a:p>
        </p:txBody>
      </p:sp>
      <p:sp>
        <p:nvSpPr>
          <p:cNvPr id="724005" name="Text Box 37">
            <a:extLst>
              <a:ext uri="{FF2B5EF4-FFF2-40B4-BE49-F238E27FC236}">
                <a16:creationId xmlns:a16="http://schemas.microsoft.com/office/drawing/2014/main" id="{BCB03EB7-5114-CBE3-6F98-3D91A3AE4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3" y="317817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e6</a:t>
            </a:r>
          </a:p>
        </p:txBody>
      </p:sp>
      <p:sp>
        <p:nvSpPr>
          <p:cNvPr id="724006" name="Text Box 38">
            <a:extLst>
              <a:ext uri="{FF2B5EF4-FFF2-40B4-BE49-F238E27FC236}">
                <a16:creationId xmlns:a16="http://schemas.microsoft.com/office/drawing/2014/main" id="{96FF9CB7-26ED-BAC1-DC04-B19F9FC4B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34131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e7</a:t>
            </a:r>
          </a:p>
        </p:txBody>
      </p:sp>
      <p:sp>
        <p:nvSpPr>
          <p:cNvPr id="724007" name="Text Box 39">
            <a:extLst>
              <a:ext uri="{FF2B5EF4-FFF2-40B4-BE49-F238E27FC236}">
                <a16:creationId xmlns:a16="http://schemas.microsoft.com/office/drawing/2014/main" id="{C8F2A0AA-D3DB-61B9-2748-49D5C92EA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39465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e8</a:t>
            </a:r>
          </a:p>
        </p:txBody>
      </p:sp>
      <p:sp>
        <p:nvSpPr>
          <p:cNvPr id="724008" name="Text Box 40">
            <a:extLst>
              <a:ext uri="{FF2B5EF4-FFF2-40B4-BE49-F238E27FC236}">
                <a16:creationId xmlns:a16="http://schemas.microsoft.com/office/drawing/2014/main" id="{2055CF45-EE85-7D38-DC98-A9CE61C01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3" y="36544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e9</a:t>
            </a:r>
          </a:p>
        </p:txBody>
      </p:sp>
      <p:sp>
        <p:nvSpPr>
          <p:cNvPr id="724010" name="Oval 42">
            <a:extLst>
              <a:ext uri="{FF2B5EF4-FFF2-40B4-BE49-F238E27FC236}">
                <a16:creationId xmlns:a16="http://schemas.microsoft.com/office/drawing/2014/main" id="{F028A106-D617-7D36-09FB-A47102F4BF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9150" y="1808163"/>
            <a:ext cx="109538" cy="10953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4011" name="Oval 43">
            <a:extLst>
              <a:ext uri="{FF2B5EF4-FFF2-40B4-BE49-F238E27FC236}">
                <a16:creationId xmlns:a16="http://schemas.microsoft.com/office/drawing/2014/main" id="{E374860B-39E5-1460-5E4D-EBC925DF1F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5975" y="4202113"/>
            <a:ext cx="155575" cy="15557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4012" name="Oval 44">
            <a:extLst>
              <a:ext uri="{FF2B5EF4-FFF2-40B4-BE49-F238E27FC236}">
                <a16:creationId xmlns:a16="http://schemas.microsoft.com/office/drawing/2014/main" id="{8DF740D6-41ED-4022-1B3A-2A427B1F41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79788" y="4225925"/>
            <a:ext cx="109537" cy="109538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4034" name="Rectangle 66">
            <a:extLst>
              <a:ext uri="{FF2B5EF4-FFF2-40B4-BE49-F238E27FC236}">
                <a16:creationId xmlns:a16="http://schemas.microsoft.com/office/drawing/2014/main" id="{8841B003-1DEB-4A91-9F96-854498B6D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" y="4384675"/>
            <a:ext cx="2225675" cy="230188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5720" tIns="18288" rIns="45720" bIns="18288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V(G) = e – n + 2 = 9 – 7 + 2 = 4</a:t>
            </a:r>
          </a:p>
        </p:txBody>
      </p:sp>
      <p:sp>
        <p:nvSpPr>
          <p:cNvPr id="724035" name="Rectangle 67">
            <a:extLst>
              <a:ext uri="{FF2B5EF4-FFF2-40B4-BE49-F238E27FC236}">
                <a16:creationId xmlns:a16="http://schemas.microsoft.com/office/drawing/2014/main" id="{EF804E7B-97A6-78D6-D350-D7BC8BE73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8263" y="4740275"/>
            <a:ext cx="2322512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EXAMPLE #2:   2</a:t>
            </a: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</a:t>
            </a: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P3 – P5 + P6 =</a:t>
            </a:r>
          </a:p>
        </p:txBody>
      </p:sp>
      <p:cxnSp>
        <p:nvCxnSpPr>
          <p:cNvPr id="724036" name="AutoShape 68">
            <a:extLst>
              <a:ext uri="{FF2B5EF4-FFF2-40B4-BE49-F238E27FC236}">
                <a16:creationId xmlns:a16="http://schemas.microsoft.com/office/drawing/2014/main" id="{D919FAB1-ED15-84F7-2FD6-CB49E1323013}"/>
              </a:ext>
            </a:extLst>
          </p:cNvPr>
          <p:cNvCxnSpPr>
            <a:cxnSpLocks noChangeShapeType="1"/>
            <a:stCxn id="724011" idx="6"/>
            <a:endCxn id="724010" idx="6"/>
          </p:cNvCxnSpPr>
          <p:nvPr/>
        </p:nvCxnSpPr>
        <p:spPr bwMode="auto">
          <a:xfrm flipH="1" flipV="1">
            <a:off x="3468688" y="1863725"/>
            <a:ext cx="42862" cy="2416175"/>
          </a:xfrm>
          <a:prstGeom prst="curvedConnector3">
            <a:avLst>
              <a:gd name="adj1" fmla="val -988889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4039" name="Rectangle 71">
            <a:extLst>
              <a:ext uri="{FF2B5EF4-FFF2-40B4-BE49-F238E27FC236}">
                <a16:creationId xmlns:a16="http://schemas.microsoft.com/office/drawing/2014/main" id="{E96286F7-F052-D01E-1206-C64E3E43C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5575" y="5124450"/>
            <a:ext cx="2417763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</a:t>
            </a: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P3     { 0, 0, 2, 2, 0, 2, 2, 2, 0, 2}</a:t>
            </a:r>
          </a:p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 – P5     { 1, 1, 0, 1, 0, 1, 0, 0, 1, 1}</a:t>
            </a:r>
          </a:p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___       {-1,-1, 2, 1, 0, 1, 2, 2,-1, 1}</a:t>
            </a:r>
          </a:p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 + P6     { 0, 0, 0, 1, 1, 0, 0, 0, 0, 0}</a:t>
            </a:r>
          </a:p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 = P?      {-1,-1, 2, 2, 1, 1, 2, 2,-1, 1}</a:t>
            </a:r>
          </a:p>
        </p:txBody>
      </p:sp>
      <p:sp>
        <p:nvSpPr>
          <p:cNvPr id="724040" name="Line 72">
            <a:extLst>
              <a:ext uri="{FF2B5EF4-FFF2-40B4-BE49-F238E27FC236}">
                <a16:creationId xmlns:a16="http://schemas.microsoft.com/office/drawing/2014/main" id="{9E4CC174-9D05-ABAD-B8F5-B7AA2403C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4138" y="4960938"/>
            <a:ext cx="2289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041" name="Rectangle 73">
            <a:extLst>
              <a:ext uri="{FF2B5EF4-FFF2-40B4-BE49-F238E27FC236}">
                <a16:creationId xmlns:a16="http://schemas.microsoft.com/office/drawing/2014/main" id="{2B95094F-E901-9923-F713-5A536C315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4783138"/>
            <a:ext cx="20272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EXAMPLE #1:   P5 + P6 = P8</a:t>
            </a:r>
          </a:p>
        </p:txBody>
      </p:sp>
      <p:sp>
        <p:nvSpPr>
          <p:cNvPr id="724042" name="Rectangle 74">
            <a:extLst>
              <a:ext uri="{FF2B5EF4-FFF2-40B4-BE49-F238E27FC236}">
                <a16:creationId xmlns:a16="http://schemas.microsoft.com/office/drawing/2014/main" id="{0224F37C-EF7D-69A1-EF5B-DD1A72B78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438" y="5167313"/>
            <a:ext cx="2222500" cy="54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   P5    {1, 1, 0, 1, 0, 1, 0, 0, 1, 1}</a:t>
            </a:r>
          </a:p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+ P6    {0, 0, 0, 1, 1, 0, 0, 0, 0, 0}</a:t>
            </a:r>
          </a:p>
          <a:p>
            <a:r>
              <a:rPr lang="en-US" altLang="en-US" sz="1200">
                <a:solidFill>
                  <a:srgbClr val="A500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P8    {1, 1, 0, 2, 1, 1, 0, 0, 1, 1}</a:t>
            </a:r>
          </a:p>
        </p:txBody>
      </p:sp>
      <p:sp>
        <p:nvSpPr>
          <p:cNvPr id="724043" name="Line 75">
            <a:extLst>
              <a:ext uri="{FF2B5EF4-FFF2-40B4-BE49-F238E27FC236}">
                <a16:creationId xmlns:a16="http://schemas.microsoft.com/office/drawing/2014/main" id="{D5117ACC-7CA3-C28E-5726-B527D05361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0" y="5003800"/>
            <a:ext cx="2289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044" name="Text Box 5">
            <a:extLst>
              <a:ext uri="{FF2B5EF4-FFF2-40B4-BE49-F238E27FC236}">
                <a16:creationId xmlns:a16="http://schemas.microsoft.com/office/drawing/2014/main" id="{26900A14-363D-EB17-4663-1A6FD809E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3" y="5148263"/>
            <a:ext cx="7223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Cycles:</a:t>
            </a:r>
          </a:p>
        </p:txBody>
      </p:sp>
      <p:sp>
        <p:nvSpPr>
          <p:cNvPr id="724045" name="Text Box 5">
            <a:extLst>
              <a:ext uri="{FF2B5EF4-FFF2-40B4-BE49-F238E27FC236}">
                <a16:creationId xmlns:a16="http://schemas.microsoft.com/office/drawing/2014/main" id="{B79B9D8B-D9FE-3731-D42F-DE3C3B93B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5556250"/>
            <a:ext cx="19018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P3 = e3, e4, e6, e7, e8, e10</a:t>
            </a:r>
          </a:p>
          <a:p>
            <a:pPr>
              <a:spcBef>
                <a:spcPct val="50000"/>
              </a:spcBef>
            </a:pPr>
            <a:r>
              <a:rPr lang="en-US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P5 = e1, e2, e4, e6, e9, e10</a:t>
            </a:r>
          </a:p>
          <a:p>
            <a:pPr>
              <a:spcBef>
                <a:spcPct val="50000"/>
              </a:spcBef>
            </a:pPr>
            <a:r>
              <a:rPr lang="en-US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P6 = e4, e5</a:t>
            </a:r>
          </a:p>
          <a:p>
            <a:pPr>
              <a:spcBef>
                <a:spcPct val="50000"/>
              </a:spcBef>
            </a:pPr>
            <a:r>
              <a:rPr lang="en-US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P7 = e3, e4, e6, e9, 10</a:t>
            </a:r>
          </a:p>
        </p:txBody>
      </p:sp>
      <p:sp>
        <p:nvSpPr>
          <p:cNvPr id="724050" name="Line 82">
            <a:extLst>
              <a:ext uri="{FF2B5EF4-FFF2-40B4-BE49-F238E27FC236}">
                <a16:creationId xmlns:a16="http://schemas.microsoft.com/office/drawing/2014/main" id="{DAA75132-73CD-B616-703A-63C11A08D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788" y="5438775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051" name="Text Box 83">
            <a:extLst>
              <a:ext uri="{FF2B5EF4-FFF2-40B4-BE49-F238E27FC236}">
                <a16:creationId xmlns:a16="http://schemas.microsoft.com/office/drawing/2014/main" id="{F8BBC0A4-95CC-D34B-D1AD-D887806A5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1903413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000">
                <a:solidFill>
                  <a:srgbClr val="A50021"/>
                </a:solidFill>
                <a:latin typeface="Arial" panose="020B0604020202020204" pitchFamily="34" charset="0"/>
              </a:rPr>
              <a:t>e10</a:t>
            </a:r>
          </a:p>
        </p:txBody>
      </p:sp>
      <p:sp>
        <p:nvSpPr>
          <p:cNvPr id="724052" name="Text Box 5">
            <a:extLst>
              <a:ext uri="{FF2B5EF4-FFF2-40B4-BE49-F238E27FC236}">
                <a16:creationId xmlns:a16="http://schemas.microsoft.com/office/drawing/2014/main" id="{93DE8DED-0FF2-858C-BABA-0BAF27B45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0" y="1647825"/>
            <a:ext cx="1400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Example paths:</a:t>
            </a:r>
          </a:p>
        </p:txBody>
      </p:sp>
      <p:sp>
        <p:nvSpPr>
          <p:cNvPr id="724053" name="Text Box 5">
            <a:extLst>
              <a:ext uri="{FF2B5EF4-FFF2-40B4-BE49-F238E27FC236}">
                <a16:creationId xmlns:a16="http://schemas.microsoft.com/office/drawing/2014/main" id="{BA60459C-E631-DC39-03AA-C70A5F3D2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6438" y="2055813"/>
            <a:ext cx="2409825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P1 = e1, e2, e4, e6, e7, e8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P2 = e1, e2, e4, e5, e4, e6, e7, e8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P3 = e3, e4, e6, e7, e8, e10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P4 = e6, e7, e8, e10, e3, e4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P5 = e1, e2, e4, e6, e9, e10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P6 = e4, e5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P7 = e3, e4, e6, e9, 10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P8 = e1, e2, e4, e5, e4, e6, e9, e10</a:t>
            </a:r>
          </a:p>
        </p:txBody>
      </p:sp>
      <p:sp>
        <p:nvSpPr>
          <p:cNvPr id="724054" name="Text Box 5">
            <a:extLst>
              <a:ext uri="{FF2B5EF4-FFF2-40B4-BE49-F238E27FC236}">
                <a16:creationId xmlns:a16="http://schemas.microsoft.com/office/drawing/2014/main" id="{615B7973-0D5E-372B-55DB-A74F87878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450" y="2055813"/>
            <a:ext cx="163195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1, 1, 0, 1, 0, 1, 1, 1, 0, 0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1, 1, 0, 2, 1, 1, 1, 1, 0, 0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0, 0, 1, 1, 0, 1, 1, 1, 0, 1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0, 0, 1, 1, 0, 1, 1, 1, 0, 1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1, 1, 0, 1, 0, 1, 0, 0, 1, 1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0, 0, 0, 1, 1, 0, 0, 0, 0, 0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0, 0, 1, 1, 0, 1, 0, 0, 1, 1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1, 1, 0, 2, 1, 1, 0, 0, 1, 1</a:t>
            </a:r>
          </a:p>
        </p:txBody>
      </p:sp>
      <p:sp>
        <p:nvSpPr>
          <p:cNvPr id="724055" name="Text Box 5">
            <a:extLst>
              <a:ext uri="{FF2B5EF4-FFF2-40B4-BE49-F238E27FC236}">
                <a16:creationId xmlns:a16="http://schemas.microsoft.com/office/drawing/2014/main" id="{66430FB1-E3A0-57F3-240F-567EBA727EC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809706" y="972344"/>
            <a:ext cx="271463" cy="173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e2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e3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e4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e5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e6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e7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e8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e9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e10</a:t>
            </a:r>
          </a:p>
        </p:txBody>
      </p:sp>
      <p:sp>
        <p:nvSpPr>
          <p:cNvPr id="724056" name="Line 88">
            <a:extLst>
              <a:ext uri="{FF2B5EF4-FFF2-40B4-BE49-F238E27FC236}">
                <a16:creationId xmlns:a16="http://schemas.microsoft.com/office/drawing/2014/main" id="{E6293CFA-B153-0810-7E9E-5BCE924446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513" y="201136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057" name="Line 89">
            <a:extLst>
              <a:ext uri="{FF2B5EF4-FFF2-40B4-BE49-F238E27FC236}">
                <a16:creationId xmlns:a16="http://schemas.microsoft.com/office/drawing/2014/main" id="{9D90B9B9-5F0B-04D2-526D-AA3EF0183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038350"/>
            <a:ext cx="0" cy="210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058" name="Line 90">
            <a:extLst>
              <a:ext uri="{FF2B5EF4-FFF2-40B4-BE49-F238E27FC236}">
                <a16:creationId xmlns:a16="http://schemas.microsoft.com/office/drawing/2014/main" id="{3E5C261F-A4B9-2500-2A56-812209BD24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3425" y="1938338"/>
            <a:ext cx="2239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059" name="Text Box 5">
            <a:extLst>
              <a:ext uri="{FF2B5EF4-FFF2-40B4-BE49-F238E27FC236}">
                <a16:creationId xmlns:a16="http://schemas.microsoft.com/office/drawing/2014/main" id="{81742A24-3FBB-B030-A18A-1AA4E9415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8" y="4660900"/>
            <a:ext cx="2824162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t>Or, if we count e10, then </a:t>
            </a:r>
            <a:r>
              <a:rPr lang="pt-BR" altLang="en-US" sz="1000">
                <a:latin typeface="Arial" panose="020B0604020202020204" pitchFamily="34" charset="0"/>
                <a:cs typeface="Arial" panose="020B0604020202020204" pitchFamily="34" charset="0"/>
              </a:rPr>
              <a:t>e – n + 1 = 10 – 7 + 1 = 4</a:t>
            </a:r>
            <a:endParaRPr lang="en-US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4060" name="Rectangle 92">
            <a:extLst>
              <a:ext uri="{FF2B5EF4-FFF2-40B4-BE49-F238E27FC236}">
                <a16:creationId xmlns:a16="http://schemas.microsoft.com/office/drawing/2014/main" id="{0EC9FF83-4BD1-B809-3995-A9139A0E1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113" y="6276975"/>
            <a:ext cx="51514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5000"/>
              </a:spcBef>
            </a:pP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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:  The arithmetic doesn’t work for </a:t>
            </a:r>
            <a:r>
              <a:rPr lang="en-US" altLang="en-US" sz="1400" i="1"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paths</a:t>
            </a:r>
          </a:p>
          <a:p>
            <a:pPr>
              <a:spcBef>
                <a:spcPct val="25000"/>
              </a:spcBef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	— it works </a:t>
            </a:r>
            <a:r>
              <a:rPr lang="en-US" altLang="en-US" sz="1400" i="1">
                <a:latin typeface="Arial" panose="020B0604020202020204" pitchFamily="34" charset="0"/>
                <a:cs typeface="Arial" panose="020B0604020202020204" pitchFamily="34" charset="0"/>
              </a:rPr>
              <a:t>always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only for </a:t>
            </a:r>
            <a:r>
              <a:rPr lang="en-US" altLang="en-US" sz="1400" i="1">
                <a:latin typeface="Arial" panose="020B0604020202020204" pitchFamily="34" charset="0"/>
                <a:cs typeface="Arial" panose="020B0604020202020204" pitchFamily="34" charset="0"/>
              </a:rPr>
              <a:t>linearly independent paths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sp>
        <p:nvSpPr>
          <p:cNvPr id="724061" name="Line 93">
            <a:extLst>
              <a:ext uri="{FF2B5EF4-FFF2-40B4-BE49-F238E27FC236}">
                <a16:creationId xmlns:a16="http://schemas.microsoft.com/office/drawing/2014/main" id="{7BBC4274-0B4D-969B-1076-CFB8DE59F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9875" y="5867400"/>
            <a:ext cx="2286000" cy="228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4062" name="Line 94">
            <a:extLst>
              <a:ext uri="{FF2B5EF4-FFF2-40B4-BE49-F238E27FC236}">
                <a16:creationId xmlns:a16="http://schemas.microsoft.com/office/drawing/2014/main" id="{9110FEF4-EB7B-7509-0DED-FE9D2B2595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9875" y="5867400"/>
            <a:ext cx="2286000" cy="228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1851003-343E-53D7-116F-1B090D5E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7E8A-CC7E-0143-9ABA-AF7207D66EC9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760836" name="Rectangle 4">
            <a:extLst>
              <a:ext uri="{FF2B5EF4-FFF2-40B4-BE49-F238E27FC236}">
                <a16:creationId xmlns:a16="http://schemas.microsoft.com/office/drawing/2014/main" id="{9CDC518D-450C-BEAC-E392-8502113E5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Linearly Independent Paths (2)</a:t>
            </a:r>
          </a:p>
        </p:txBody>
      </p:sp>
      <p:sp>
        <p:nvSpPr>
          <p:cNvPr id="760867" name="Rectangle 35">
            <a:extLst>
              <a:ext uri="{FF2B5EF4-FFF2-40B4-BE49-F238E27FC236}">
                <a16:creationId xmlns:a16="http://schemas.microsoft.com/office/drawing/2014/main" id="{DF738527-95F3-9E54-09B3-7D041F49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" y="4384675"/>
            <a:ext cx="2225675" cy="230188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5720" tIns="18288" rIns="45720" bIns="18288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V(G) = e – n + 2 = 9 – 7 + 2 = 4</a:t>
            </a:r>
          </a:p>
        </p:txBody>
      </p:sp>
      <p:sp>
        <p:nvSpPr>
          <p:cNvPr id="760868" name="Rectangle 36">
            <a:extLst>
              <a:ext uri="{FF2B5EF4-FFF2-40B4-BE49-F238E27FC236}">
                <a16:creationId xmlns:a16="http://schemas.microsoft.com/office/drawing/2014/main" id="{EE4E7569-E123-84F6-F08E-CE66997FF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4992688"/>
            <a:ext cx="2468562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EXAMPLE #4:   P7 = P3' + P4' – P1'</a:t>
            </a:r>
          </a:p>
        </p:txBody>
      </p:sp>
      <p:sp>
        <p:nvSpPr>
          <p:cNvPr id="760870" name="Rectangle 38">
            <a:extLst>
              <a:ext uri="{FF2B5EF4-FFF2-40B4-BE49-F238E27FC236}">
                <a16:creationId xmlns:a16="http://schemas.microsoft.com/office/drawing/2014/main" id="{6C11126F-AA69-6167-970A-84B9BCE94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5376863"/>
            <a:ext cx="2265363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   P3'    {0, 0, 1, 1, 0, 1, 1, 1, 0, 1}</a:t>
            </a:r>
          </a:p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+ P4'    {0, 0, 1, 1, 0, 1, 1, 1, 0, 1}</a:t>
            </a:r>
          </a:p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– P1'    {1, 1, 0, 1, 0, 1, 1, 1, 0, 0}</a:t>
            </a:r>
          </a:p>
          <a:p>
            <a:r>
              <a:rPr lang="en-US" altLang="en-US" sz="1200">
                <a:solidFill>
                  <a:srgbClr val="A500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P7     {0, 0, 1, 1, 0, 1, 0, 0, 1, 1}</a:t>
            </a:r>
          </a:p>
        </p:txBody>
      </p:sp>
      <p:sp>
        <p:nvSpPr>
          <p:cNvPr id="760871" name="Line 39">
            <a:extLst>
              <a:ext uri="{FF2B5EF4-FFF2-40B4-BE49-F238E27FC236}">
                <a16:creationId xmlns:a16="http://schemas.microsoft.com/office/drawing/2014/main" id="{4D6FD45D-A4B5-6268-BE59-257FACBBF4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13" y="5213350"/>
            <a:ext cx="2395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0872" name="Rectangle 40">
            <a:extLst>
              <a:ext uri="{FF2B5EF4-FFF2-40B4-BE49-F238E27FC236}">
                <a16:creationId xmlns:a16="http://schemas.microsoft.com/office/drawing/2014/main" id="{0906F779-0FAE-4B78-9B52-3DC53C503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5035550"/>
            <a:ext cx="20796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EXAMPLE #3:   P6 = P2' – P1'</a:t>
            </a:r>
          </a:p>
        </p:txBody>
      </p:sp>
      <p:sp>
        <p:nvSpPr>
          <p:cNvPr id="760873" name="Rectangle 41">
            <a:extLst>
              <a:ext uri="{FF2B5EF4-FFF2-40B4-BE49-F238E27FC236}">
                <a16:creationId xmlns:a16="http://schemas.microsoft.com/office/drawing/2014/main" id="{EB680287-8F9B-9A6A-D712-598DE8612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5419725"/>
            <a:ext cx="2247900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   P2'    {1, 1, 0, 2, 1, 1, 1, 1, 0, 0}</a:t>
            </a:r>
          </a:p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– P1'    {1, 1, 0, 1, 0, 1, 1, 1, 0, 0}</a:t>
            </a:r>
          </a:p>
          <a:p>
            <a:r>
              <a:rPr lang="en-US" altLang="en-US" sz="1200">
                <a:solidFill>
                  <a:srgbClr val="A500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P6    {0, 0, 0, 1, 1, 0, 0, 0, 0, 0}</a:t>
            </a:r>
          </a:p>
        </p:txBody>
      </p:sp>
      <p:sp>
        <p:nvSpPr>
          <p:cNvPr id="760874" name="Line 42">
            <a:extLst>
              <a:ext uri="{FF2B5EF4-FFF2-40B4-BE49-F238E27FC236}">
                <a16:creationId xmlns:a16="http://schemas.microsoft.com/office/drawing/2014/main" id="{58B86832-5610-E09F-712E-ECEE51D58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875" y="5256213"/>
            <a:ext cx="2289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60887" name="Group 55">
            <a:extLst>
              <a:ext uri="{FF2B5EF4-FFF2-40B4-BE49-F238E27FC236}">
                <a16:creationId xmlns:a16="http://schemas.microsoft.com/office/drawing/2014/main" id="{B5D398C2-A420-D11D-0726-BBCD21AC8E5E}"/>
              </a:ext>
            </a:extLst>
          </p:cNvPr>
          <p:cNvGrpSpPr>
            <a:grpSpLocks/>
          </p:cNvGrpSpPr>
          <p:nvPr/>
        </p:nvGrpSpPr>
        <p:grpSpPr bwMode="auto">
          <a:xfrm>
            <a:off x="657225" y="1673225"/>
            <a:ext cx="1360488" cy="2549525"/>
            <a:chOff x="1622" y="1139"/>
            <a:chExt cx="857" cy="1606"/>
          </a:xfrm>
        </p:grpSpPr>
        <p:cxnSp>
          <p:nvCxnSpPr>
            <p:cNvPr id="760834" name="AutoShape 2">
              <a:extLst>
                <a:ext uri="{FF2B5EF4-FFF2-40B4-BE49-F238E27FC236}">
                  <a16:creationId xmlns:a16="http://schemas.microsoft.com/office/drawing/2014/main" id="{32918C01-2944-A63B-0BB1-8E95D3D70A56}"/>
                </a:ext>
              </a:extLst>
            </p:cNvPr>
            <p:cNvCxnSpPr>
              <a:cxnSpLocks noChangeShapeType="1"/>
              <a:stCxn id="760864" idx="3"/>
              <a:endCxn id="760848" idx="7"/>
            </p:cNvCxnSpPr>
            <p:nvPr/>
          </p:nvCxnSpPr>
          <p:spPr bwMode="auto">
            <a:xfrm flipH="1">
              <a:off x="2046" y="1198"/>
              <a:ext cx="80" cy="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0835" name="AutoShape 3">
              <a:extLst>
                <a:ext uri="{FF2B5EF4-FFF2-40B4-BE49-F238E27FC236}">
                  <a16:creationId xmlns:a16="http://schemas.microsoft.com/office/drawing/2014/main" id="{CB54D16D-8195-F449-CFEB-8628770AECA8}"/>
                </a:ext>
              </a:extLst>
            </p:cNvPr>
            <p:cNvCxnSpPr>
              <a:cxnSpLocks noChangeShapeType="1"/>
              <a:stCxn id="760853" idx="5"/>
              <a:endCxn id="760865" idx="1"/>
            </p:cNvCxnSpPr>
            <p:nvPr/>
          </p:nvCxnSpPr>
          <p:spPr bwMode="auto">
            <a:xfrm>
              <a:off x="2046" y="2588"/>
              <a:ext cx="82" cy="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0837" name="AutoShape 5">
              <a:extLst>
                <a:ext uri="{FF2B5EF4-FFF2-40B4-BE49-F238E27FC236}">
                  <a16:creationId xmlns:a16="http://schemas.microsoft.com/office/drawing/2014/main" id="{71BEA869-DF76-CEA2-FC63-15B771778921}"/>
                </a:ext>
              </a:extLst>
            </p:cNvPr>
            <p:cNvCxnSpPr>
              <a:cxnSpLocks noChangeShapeType="1"/>
              <a:stCxn id="760848" idx="4"/>
              <a:endCxn id="760849" idx="0"/>
            </p:cNvCxnSpPr>
            <p:nvPr/>
          </p:nvCxnSpPr>
          <p:spPr bwMode="auto">
            <a:xfrm>
              <a:off x="1995" y="1379"/>
              <a:ext cx="0" cy="1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0838" name="AutoShape 6">
              <a:extLst>
                <a:ext uri="{FF2B5EF4-FFF2-40B4-BE49-F238E27FC236}">
                  <a16:creationId xmlns:a16="http://schemas.microsoft.com/office/drawing/2014/main" id="{3D3C0C47-BB21-0C88-1E37-23B182C15196}"/>
                </a:ext>
              </a:extLst>
            </p:cNvPr>
            <p:cNvCxnSpPr>
              <a:cxnSpLocks noChangeShapeType="1"/>
              <a:stCxn id="760850" idx="5"/>
              <a:endCxn id="760849" idx="2"/>
            </p:cNvCxnSpPr>
            <p:nvPr/>
          </p:nvCxnSpPr>
          <p:spPr bwMode="auto">
            <a:xfrm>
              <a:off x="1745" y="1524"/>
              <a:ext cx="178" cy="1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0840" name="AutoShape 8">
              <a:extLst>
                <a:ext uri="{FF2B5EF4-FFF2-40B4-BE49-F238E27FC236}">
                  <a16:creationId xmlns:a16="http://schemas.microsoft.com/office/drawing/2014/main" id="{68ACAEF0-091A-C182-9909-9A0F835BFE55}"/>
                </a:ext>
              </a:extLst>
            </p:cNvPr>
            <p:cNvCxnSpPr>
              <a:cxnSpLocks noChangeShapeType="1"/>
              <a:stCxn id="760851" idx="6"/>
              <a:endCxn id="760849" idx="6"/>
            </p:cNvCxnSpPr>
            <p:nvPr/>
          </p:nvCxnSpPr>
          <p:spPr bwMode="auto">
            <a:xfrm flipV="1">
              <a:off x="2067" y="1639"/>
              <a:ext cx="1" cy="308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0841" name="AutoShape 9">
              <a:extLst>
                <a:ext uri="{FF2B5EF4-FFF2-40B4-BE49-F238E27FC236}">
                  <a16:creationId xmlns:a16="http://schemas.microsoft.com/office/drawing/2014/main" id="{BE4824F9-1E7F-5B00-1E76-4B09E3CD0643}"/>
                </a:ext>
              </a:extLst>
            </p:cNvPr>
            <p:cNvCxnSpPr>
              <a:cxnSpLocks noChangeShapeType="1"/>
              <a:stCxn id="760849" idx="4"/>
              <a:endCxn id="760851" idx="0"/>
            </p:cNvCxnSpPr>
            <p:nvPr/>
          </p:nvCxnSpPr>
          <p:spPr bwMode="auto">
            <a:xfrm>
              <a:off x="1995" y="1711"/>
              <a:ext cx="0" cy="1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0842" name="AutoShape 10">
              <a:extLst>
                <a:ext uri="{FF2B5EF4-FFF2-40B4-BE49-F238E27FC236}">
                  <a16:creationId xmlns:a16="http://schemas.microsoft.com/office/drawing/2014/main" id="{437CE49E-FE01-14B7-5AD3-93D2F091D2D6}"/>
                </a:ext>
              </a:extLst>
            </p:cNvPr>
            <p:cNvCxnSpPr>
              <a:cxnSpLocks noChangeShapeType="1"/>
              <a:stCxn id="760851" idx="4"/>
              <a:endCxn id="760852" idx="0"/>
            </p:cNvCxnSpPr>
            <p:nvPr/>
          </p:nvCxnSpPr>
          <p:spPr bwMode="auto">
            <a:xfrm>
              <a:off x="1995" y="2019"/>
              <a:ext cx="0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0843" name="AutoShape 11">
              <a:extLst>
                <a:ext uri="{FF2B5EF4-FFF2-40B4-BE49-F238E27FC236}">
                  <a16:creationId xmlns:a16="http://schemas.microsoft.com/office/drawing/2014/main" id="{4A932C9A-C350-59E8-21AE-8296034294C1}"/>
                </a:ext>
              </a:extLst>
            </p:cNvPr>
            <p:cNvCxnSpPr>
              <a:cxnSpLocks noChangeShapeType="1"/>
              <a:stCxn id="760852" idx="4"/>
              <a:endCxn id="760853" idx="0"/>
            </p:cNvCxnSpPr>
            <p:nvPr/>
          </p:nvCxnSpPr>
          <p:spPr bwMode="auto">
            <a:xfrm>
              <a:off x="1995" y="2276"/>
              <a:ext cx="0" cy="1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0845" name="AutoShape 13">
              <a:extLst>
                <a:ext uri="{FF2B5EF4-FFF2-40B4-BE49-F238E27FC236}">
                  <a16:creationId xmlns:a16="http://schemas.microsoft.com/office/drawing/2014/main" id="{BFDECF72-4FD3-C6CD-1840-0084FFF395A1}"/>
                </a:ext>
              </a:extLst>
            </p:cNvPr>
            <p:cNvCxnSpPr>
              <a:cxnSpLocks noChangeShapeType="1"/>
              <a:stCxn id="760848" idx="2"/>
              <a:endCxn id="760850" idx="7"/>
            </p:cNvCxnSpPr>
            <p:nvPr/>
          </p:nvCxnSpPr>
          <p:spPr bwMode="auto">
            <a:xfrm flipH="1">
              <a:off x="1745" y="1307"/>
              <a:ext cx="178" cy="1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0846" name="AutoShape 14">
              <a:extLst>
                <a:ext uri="{FF2B5EF4-FFF2-40B4-BE49-F238E27FC236}">
                  <a16:creationId xmlns:a16="http://schemas.microsoft.com/office/drawing/2014/main" id="{8E55F8D2-1F5D-C4C8-2E0C-679015B4C50A}"/>
                </a:ext>
              </a:extLst>
            </p:cNvPr>
            <p:cNvCxnSpPr>
              <a:cxnSpLocks noChangeShapeType="1"/>
              <a:stCxn id="760852" idx="2"/>
              <a:endCxn id="760854" idx="7"/>
            </p:cNvCxnSpPr>
            <p:nvPr/>
          </p:nvCxnSpPr>
          <p:spPr bwMode="auto">
            <a:xfrm flipH="1">
              <a:off x="1745" y="2204"/>
              <a:ext cx="178" cy="1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0847" name="AutoShape 15">
              <a:extLst>
                <a:ext uri="{FF2B5EF4-FFF2-40B4-BE49-F238E27FC236}">
                  <a16:creationId xmlns:a16="http://schemas.microsoft.com/office/drawing/2014/main" id="{B5EEE14B-93A9-8893-791A-218AD8E506C7}"/>
                </a:ext>
              </a:extLst>
            </p:cNvPr>
            <p:cNvCxnSpPr>
              <a:cxnSpLocks noChangeShapeType="1"/>
              <a:stCxn id="760854" idx="5"/>
              <a:endCxn id="760853" idx="2"/>
            </p:cNvCxnSpPr>
            <p:nvPr/>
          </p:nvCxnSpPr>
          <p:spPr bwMode="auto">
            <a:xfrm>
              <a:off x="1745" y="2421"/>
              <a:ext cx="178" cy="1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60848" name="Oval 16">
              <a:extLst>
                <a:ext uri="{FF2B5EF4-FFF2-40B4-BE49-F238E27FC236}">
                  <a16:creationId xmlns:a16="http://schemas.microsoft.com/office/drawing/2014/main" id="{855B7E8A-C432-B200-207D-0E1B9BFFE18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3" y="123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n1</a:t>
              </a:r>
            </a:p>
          </p:txBody>
        </p:sp>
        <p:sp>
          <p:nvSpPr>
            <p:cNvPr id="760849" name="Oval 17">
              <a:extLst>
                <a:ext uri="{FF2B5EF4-FFF2-40B4-BE49-F238E27FC236}">
                  <a16:creationId xmlns:a16="http://schemas.microsoft.com/office/drawing/2014/main" id="{F7AB019B-CE6D-CAB8-05A2-A1E5851C0A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3" y="1567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n3</a:t>
              </a:r>
            </a:p>
          </p:txBody>
        </p:sp>
        <p:sp>
          <p:nvSpPr>
            <p:cNvPr id="760850" name="Oval 18">
              <a:extLst>
                <a:ext uri="{FF2B5EF4-FFF2-40B4-BE49-F238E27FC236}">
                  <a16:creationId xmlns:a16="http://schemas.microsoft.com/office/drawing/2014/main" id="{FAD9EF63-CEBE-B13F-750D-6A5EFCFBAF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22" y="1401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n2</a:t>
              </a:r>
            </a:p>
          </p:txBody>
        </p:sp>
        <p:sp>
          <p:nvSpPr>
            <p:cNvPr id="760851" name="Oval 19">
              <a:extLst>
                <a:ext uri="{FF2B5EF4-FFF2-40B4-BE49-F238E27FC236}">
                  <a16:creationId xmlns:a16="http://schemas.microsoft.com/office/drawing/2014/main" id="{E990CBC0-143A-7BF9-C63B-9173F76E27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3" y="187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n4</a:t>
              </a:r>
            </a:p>
          </p:txBody>
        </p:sp>
        <p:sp>
          <p:nvSpPr>
            <p:cNvPr id="760852" name="Oval 20">
              <a:extLst>
                <a:ext uri="{FF2B5EF4-FFF2-40B4-BE49-F238E27FC236}">
                  <a16:creationId xmlns:a16="http://schemas.microsoft.com/office/drawing/2014/main" id="{F0186348-9718-6355-B85B-716923677A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3" y="2132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n5</a:t>
              </a:r>
            </a:p>
          </p:txBody>
        </p:sp>
        <p:sp>
          <p:nvSpPr>
            <p:cNvPr id="760853" name="Oval 21">
              <a:extLst>
                <a:ext uri="{FF2B5EF4-FFF2-40B4-BE49-F238E27FC236}">
                  <a16:creationId xmlns:a16="http://schemas.microsoft.com/office/drawing/2014/main" id="{B93C8B9E-483B-E2D9-0A2D-6938671A56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3" y="246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n7</a:t>
              </a:r>
            </a:p>
          </p:txBody>
        </p:sp>
        <p:sp>
          <p:nvSpPr>
            <p:cNvPr id="760854" name="Oval 22">
              <a:extLst>
                <a:ext uri="{FF2B5EF4-FFF2-40B4-BE49-F238E27FC236}">
                  <a16:creationId xmlns:a16="http://schemas.microsoft.com/office/drawing/2014/main" id="{CC0F4010-8A4D-49E1-5C87-5B29D7BC89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22" y="2298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altLang="en-US" sz="1000">
                  <a:latin typeface="Arial" panose="020B0604020202020204" pitchFamily="34" charset="0"/>
                </a:rPr>
                <a:t>n6</a:t>
              </a:r>
            </a:p>
          </p:txBody>
        </p:sp>
        <p:sp>
          <p:nvSpPr>
            <p:cNvPr id="760855" name="Text Box 23">
              <a:extLst>
                <a:ext uri="{FF2B5EF4-FFF2-40B4-BE49-F238E27FC236}">
                  <a16:creationId xmlns:a16="http://schemas.microsoft.com/office/drawing/2014/main" id="{82278964-2DB1-C6F1-77CA-D2064FCC38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1248"/>
              <a:ext cx="88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000">
                  <a:latin typeface="Arial" panose="020B0604020202020204" pitchFamily="34" charset="0"/>
                </a:rPr>
                <a:t>e1</a:t>
              </a:r>
            </a:p>
          </p:txBody>
        </p:sp>
        <p:sp>
          <p:nvSpPr>
            <p:cNvPr id="760856" name="Text Box 24">
              <a:extLst>
                <a:ext uri="{FF2B5EF4-FFF2-40B4-BE49-F238E27FC236}">
                  <a16:creationId xmlns:a16="http://schemas.microsoft.com/office/drawing/2014/main" id="{5918EC29-8E9D-7736-8CCC-950B4A830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1591"/>
              <a:ext cx="88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000">
                  <a:latin typeface="Arial" panose="020B0604020202020204" pitchFamily="34" charset="0"/>
                </a:rPr>
                <a:t>e2</a:t>
              </a:r>
            </a:p>
          </p:txBody>
        </p:sp>
        <p:sp>
          <p:nvSpPr>
            <p:cNvPr id="760857" name="Text Box 25">
              <a:extLst>
                <a:ext uri="{FF2B5EF4-FFF2-40B4-BE49-F238E27FC236}">
                  <a16:creationId xmlns:a16="http://schemas.microsoft.com/office/drawing/2014/main" id="{BA89CF87-CDF8-84C6-4AA0-FFEFBC873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5" y="1405"/>
              <a:ext cx="88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000">
                  <a:latin typeface="Arial" panose="020B0604020202020204" pitchFamily="34" charset="0"/>
                </a:rPr>
                <a:t>e3</a:t>
              </a:r>
            </a:p>
          </p:txBody>
        </p:sp>
        <p:sp>
          <p:nvSpPr>
            <p:cNvPr id="760858" name="Text Box 26">
              <a:extLst>
                <a:ext uri="{FF2B5EF4-FFF2-40B4-BE49-F238E27FC236}">
                  <a16:creationId xmlns:a16="http://schemas.microsoft.com/office/drawing/2014/main" id="{5B9F59C3-0283-BA37-8137-D0DE0DE39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6" y="1725"/>
              <a:ext cx="88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000">
                  <a:latin typeface="Arial" panose="020B0604020202020204" pitchFamily="34" charset="0"/>
                </a:rPr>
                <a:t>e4</a:t>
              </a:r>
            </a:p>
          </p:txBody>
        </p:sp>
        <p:sp>
          <p:nvSpPr>
            <p:cNvPr id="760859" name="Text Box 27">
              <a:extLst>
                <a:ext uri="{FF2B5EF4-FFF2-40B4-BE49-F238E27FC236}">
                  <a16:creationId xmlns:a16="http://schemas.microsoft.com/office/drawing/2014/main" id="{2104E958-5223-88A6-E1CE-3DF95CC61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9" y="1745"/>
              <a:ext cx="88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000">
                  <a:latin typeface="Arial" panose="020B0604020202020204" pitchFamily="34" charset="0"/>
                </a:rPr>
                <a:t>e5</a:t>
              </a:r>
            </a:p>
          </p:txBody>
        </p:sp>
        <p:sp>
          <p:nvSpPr>
            <p:cNvPr id="760860" name="Text Box 28">
              <a:extLst>
                <a:ext uri="{FF2B5EF4-FFF2-40B4-BE49-F238E27FC236}">
                  <a16:creationId xmlns:a16="http://schemas.microsoft.com/office/drawing/2014/main" id="{9DA4F152-C02E-3B5A-EF70-D571550AE6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5" y="2002"/>
              <a:ext cx="88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000">
                  <a:latin typeface="Arial" panose="020B0604020202020204" pitchFamily="34" charset="0"/>
                </a:rPr>
                <a:t>e6</a:t>
              </a:r>
            </a:p>
          </p:txBody>
        </p:sp>
        <p:sp>
          <p:nvSpPr>
            <p:cNvPr id="760861" name="Text Box 29">
              <a:extLst>
                <a:ext uri="{FF2B5EF4-FFF2-40B4-BE49-F238E27FC236}">
                  <a16:creationId xmlns:a16="http://schemas.microsoft.com/office/drawing/2014/main" id="{7E389370-EB82-FE1F-1DF6-7D3C53B8A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2150"/>
              <a:ext cx="88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000">
                  <a:latin typeface="Arial" panose="020B0604020202020204" pitchFamily="34" charset="0"/>
                </a:rPr>
                <a:t>e7</a:t>
              </a:r>
            </a:p>
          </p:txBody>
        </p:sp>
        <p:sp>
          <p:nvSpPr>
            <p:cNvPr id="760862" name="Text Box 30">
              <a:extLst>
                <a:ext uri="{FF2B5EF4-FFF2-40B4-BE49-F238E27FC236}">
                  <a16:creationId xmlns:a16="http://schemas.microsoft.com/office/drawing/2014/main" id="{1673885B-90FF-F85D-62C3-2A0DC9AB1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2486"/>
              <a:ext cx="88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000">
                  <a:latin typeface="Arial" panose="020B0604020202020204" pitchFamily="34" charset="0"/>
                </a:rPr>
                <a:t>e8</a:t>
              </a:r>
            </a:p>
          </p:txBody>
        </p:sp>
        <p:sp>
          <p:nvSpPr>
            <p:cNvPr id="760863" name="Text Box 31">
              <a:extLst>
                <a:ext uri="{FF2B5EF4-FFF2-40B4-BE49-F238E27FC236}">
                  <a16:creationId xmlns:a16="http://schemas.microsoft.com/office/drawing/2014/main" id="{9F5E7A2C-FE24-BED4-C6AB-1A4C2E056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5" y="2302"/>
              <a:ext cx="88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000">
                  <a:latin typeface="Arial" panose="020B0604020202020204" pitchFamily="34" charset="0"/>
                </a:rPr>
                <a:t>e9</a:t>
              </a:r>
            </a:p>
          </p:txBody>
        </p:sp>
        <p:sp>
          <p:nvSpPr>
            <p:cNvPr id="760864" name="Oval 32">
              <a:extLst>
                <a:ext uri="{FF2B5EF4-FFF2-40B4-BE49-F238E27FC236}">
                  <a16:creationId xmlns:a16="http://schemas.microsoft.com/office/drawing/2014/main" id="{A7A96D99-3FA7-AAE6-134D-E4CC6E7C97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16" y="1139"/>
              <a:ext cx="69" cy="69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0865" name="Oval 33">
              <a:extLst>
                <a:ext uri="{FF2B5EF4-FFF2-40B4-BE49-F238E27FC236}">
                  <a16:creationId xmlns:a16="http://schemas.microsoft.com/office/drawing/2014/main" id="{A79E19F0-0B3D-0076-B001-5A1DF283AF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14" y="2647"/>
              <a:ext cx="98" cy="98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0866" name="Oval 34">
              <a:extLst>
                <a:ext uri="{FF2B5EF4-FFF2-40B4-BE49-F238E27FC236}">
                  <a16:creationId xmlns:a16="http://schemas.microsoft.com/office/drawing/2014/main" id="{035DA04D-EB13-C2AE-ED33-06850A4F098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29" y="2662"/>
              <a:ext cx="69" cy="69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60869" name="AutoShape 37">
              <a:extLst>
                <a:ext uri="{FF2B5EF4-FFF2-40B4-BE49-F238E27FC236}">
                  <a16:creationId xmlns:a16="http://schemas.microsoft.com/office/drawing/2014/main" id="{51C2603D-3369-F92C-7EDF-29213AEE7D8E}"/>
                </a:ext>
              </a:extLst>
            </p:cNvPr>
            <p:cNvCxnSpPr>
              <a:cxnSpLocks noChangeShapeType="1"/>
              <a:stCxn id="760865" idx="6"/>
              <a:endCxn id="760864" idx="6"/>
            </p:cNvCxnSpPr>
            <p:nvPr/>
          </p:nvCxnSpPr>
          <p:spPr bwMode="auto">
            <a:xfrm flipH="1" flipV="1">
              <a:off x="2185" y="1174"/>
              <a:ext cx="27" cy="1522"/>
            </a:xfrm>
            <a:prstGeom prst="curvedConnector3">
              <a:avLst>
                <a:gd name="adj1" fmla="val -988889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60878" name="Text Box 46">
              <a:extLst>
                <a:ext uri="{FF2B5EF4-FFF2-40B4-BE49-F238E27FC236}">
                  <a16:creationId xmlns:a16="http://schemas.microsoft.com/office/drawing/2014/main" id="{E954B59E-9B8F-3967-B030-A51F0BFD1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7" y="1199"/>
              <a:ext cx="132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000">
                  <a:solidFill>
                    <a:srgbClr val="A50021"/>
                  </a:solidFill>
                  <a:latin typeface="Arial" panose="020B0604020202020204" pitchFamily="34" charset="0"/>
                </a:rPr>
                <a:t>e10</a:t>
              </a:r>
            </a:p>
          </p:txBody>
        </p:sp>
      </p:grpSp>
      <p:sp>
        <p:nvSpPr>
          <p:cNvPr id="760879" name="Text Box 5">
            <a:extLst>
              <a:ext uri="{FF2B5EF4-FFF2-40B4-BE49-F238E27FC236}">
                <a16:creationId xmlns:a16="http://schemas.microsoft.com/office/drawing/2014/main" id="{70829529-599A-FD65-1B2B-4474F4F44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2563" y="1647825"/>
            <a:ext cx="252888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Linearly Independent Paths:</a:t>
            </a:r>
          </a:p>
        </p:txBody>
      </p:sp>
      <p:sp>
        <p:nvSpPr>
          <p:cNvPr id="760880" name="Text Box 5">
            <a:extLst>
              <a:ext uri="{FF2B5EF4-FFF2-40B4-BE49-F238E27FC236}">
                <a16:creationId xmlns:a16="http://schemas.microsoft.com/office/drawing/2014/main" id="{07950581-2264-22C1-DDE6-C7D389479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0" y="2055813"/>
            <a:ext cx="2692400" cy="1281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(by enumeration)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P1' = e1, e2, e4, e6, e7, e8, e10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P2' = e1, e2, e4, e5, e4, e6, e7, e8, e10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P3' = e3, e4, e6, e7, e8, e10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P4' = e1, e2, e4, e6, e9, e10</a:t>
            </a:r>
          </a:p>
        </p:txBody>
      </p:sp>
      <p:sp>
        <p:nvSpPr>
          <p:cNvPr id="760881" name="Text Box 5">
            <a:extLst>
              <a:ext uri="{FF2B5EF4-FFF2-40B4-BE49-F238E27FC236}">
                <a16:creationId xmlns:a16="http://schemas.microsoft.com/office/drawing/2014/main" id="{5240900E-A5BC-BD20-C6A5-C735A72BD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450" y="2055813"/>
            <a:ext cx="163195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1, 1, 0, 1, 0, 1, 1, 1, 0, 0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1, 1, 0, 2, 1, 1, 1, 1, 0, 0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0, 0, 1, 1, 0, 1, 1, 1, 0, 1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0, 0, 1, 1, 0, 1, 1, 1, 0, 1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1, 1, 0, 1, 0, 1, 0, 0, 1, 1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0, 0, 0, 1, 1, 0, 0, 0, 0, 0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0, 0, 1, 1, 0, 1, 0, 0, 1, 1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1, 1, 0, 2, 1, 1, 0, 0, 1, 1</a:t>
            </a:r>
          </a:p>
        </p:txBody>
      </p:sp>
      <p:sp>
        <p:nvSpPr>
          <p:cNvPr id="760882" name="Text Box 5">
            <a:extLst>
              <a:ext uri="{FF2B5EF4-FFF2-40B4-BE49-F238E27FC236}">
                <a16:creationId xmlns:a16="http://schemas.microsoft.com/office/drawing/2014/main" id="{B8573FFE-B733-3F54-33BC-5D2395A6186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809706" y="972344"/>
            <a:ext cx="271463" cy="173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e2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e3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e4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e5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e6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e7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e8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e9</a:t>
            </a:r>
          </a:p>
          <a:p>
            <a:pPr>
              <a:lnSpc>
                <a:spcPct val="95000"/>
              </a:lnSpc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e10</a:t>
            </a:r>
          </a:p>
        </p:txBody>
      </p:sp>
      <p:sp>
        <p:nvSpPr>
          <p:cNvPr id="760883" name="Line 51">
            <a:extLst>
              <a:ext uri="{FF2B5EF4-FFF2-40B4-BE49-F238E27FC236}">
                <a16:creationId xmlns:a16="http://schemas.microsoft.com/office/drawing/2014/main" id="{7CD79FE5-B3AE-AB85-A953-EA9A894032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513" y="201136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0884" name="Line 52">
            <a:extLst>
              <a:ext uri="{FF2B5EF4-FFF2-40B4-BE49-F238E27FC236}">
                <a16:creationId xmlns:a16="http://schemas.microsoft.com/office/drawing/2014/main" id="{FC602278-D803-456F-1A3C-542E7CBDCB0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038350"/>
            <a:ext cx="0" cy="210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0885" name="Line 53">
            <a:extLst>
              <a:ext uri="{FF2B5EF4-FFF2-40B4-BE49-F238E27FC236}">
                <a16:creationId xmlns:a16="http://schemas.microsoft.com/office/drawing/2014/main" id="{84A5EBEC-B86E-060E-8723-E14A80FAE6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8438" y="1938338"/>
            <a:ext cx="2486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0890" name="Text Box 5">
            <a:extLst>
              <a:ext uri="{FF2B5EF4-FFF2-40B4-BE49-F238E27FC236}">
                <a16:creationId xmlns:a16="http://schemas.microsoft.com/office/drawing/2014/main" id="{0FB0BCB4-99DA-3E45-0266-F617D5A34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2055813"/>
            <a:ext cx="33655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P1 =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P2 =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P3 =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P4 =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P5 =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P6 =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P7 =</a:t>
            </a:r>
          </a:p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P8 =</a:t>
            </a:r>
          </a:p>
        </p:txBody>
      </p:sp>
      <p:sp>
        <p:nvSpPr>
          <p:cNvPr id="760891" name="Freeform 59">
            <a:extLst>
              <a:ext uri="{FF2B5EF4-FFF2-40B4-BE49-F238E27FC236}">
                <a16:creationId xmlns:a16="http://schemas.microsoft.com/office/drawing/2014/main" id="{E43DEA0B-63B1-E423-4B48-13CCD5E0F937}"/>
              </a:ext>
            </a:extLst>
          </p:cNvPr>
          <p:cNvSpPr>
            <a:spLocks/>
          </p:cNvSpPr>
          <p:nvPr/>
        </p:nvSpPr>
        <p:spPr bwMode="auto">
          <a:xfrm>
            <a:off x="4991100" y="2157413"/>
            <a:ext cx="1527175" cy="268287"/>
          </a:xfrm>
          <a:custGeom>
            <a:avLst/>
            <a:gdLst>
              <a:gd name="T0" fmla="*/ 0 w 962"/>
              <a:gd name="T1" fmla="*/ 169 h 169"/>
              <a:gd name="T2" fmla="*/ 962 w 962"/>
              <a:gd name="T3" fmla="*/ 0 h 16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62" h="169">
                <a:moveTo>
                  <a:pt x="0" y="169"/>
                </a:moveTo>
                <a:cubicBezTo>
                  <a:pt x="471" y="147"/>
                  <a:pt x="486" y="36"/>
                  <a:pt x="962" y="0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0892" name="Freeform 60">
            <a:extLst>
              <a:ext uri="{FF2B5EF4-FFF2-40B4-BE49-F238E27FC236}">
                <a16:creationId xmlns:a16="http://schemas.microsoft.com/office/drawing/2014/main" id="{6EC970AA-0E77-65CA-3C06-09616FED3380}"/>
              </a:ext>
            </a:extLst>
          </p:cNvPr>
          <p:cNvSpPr>
            <a:spLocks/>
          </p:cNvSpPr>
          <p:nvPr/>
        </p:nvSpPr>
        <p:spPr bwMode="auto">
          <a:xfrm>
            <a:off x="5480050" y="2441575"/>
            <a:ext cx="1038225" cy="246063"/>
          </a:xfrm>
          <a:custGeom>
            <a:avLst/>
            <a:gdLst>
              <a:gd name="T0" fmla="*/ 0 w 654"/>
              <a:gd name="T1" fmla="*/ 155 h 155"/>
              <a:gd name="T2" fmla="*/ 654 w 654"/>
              <a:gd name="T3" fmla="*/ 0 h 15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54" h="155">
                <a:moveTo>
                  <a:pt x="0" y="155"/>
                </a:moveTo>
                <a:cubicBezTo>
                  <a:pt x="263" y="111"/>
                  <a:pt x="316" y="42"/>
                  <a:pt x="654" y="0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0893" name="Freeform 61">
            <a:extLst>
              <a:ext uri="{FF2B5EF4-FFF2-40B4-BE49-F238E27FC236}">
                <a16:creationId xmlns:a16="http://schemas.microsoft.com/office/drawing/2014/main" id="{B125AD3E-F099-50CB-F8F0-AF52A39BF7A4}"/>
              </a:ext>
            </a:extLst>
          </p:cNvPr>
          <p:cNvSpPr>
            <a:spLocks/>
          </p:cNvSpPr>
          <p:nvPr/>
        </p:nvSpPr>
        <p:spPr bwMode="auto">
          <a:xfrm>
            <a:off x="4740275" y="2692400"/>
            <a:ext cx="1778000" cy="280988"/>
          </a:xfrm>
          <a:custGeom>
            <a:avLst/>
            <a:gdLst>
              <a:gd name="T0" fmla="*/ 0 w 1120"/>
              <a:gd name="T1" fmla="*/ 177 h 177"/>
              <a:gd name="T2" fmla="*/ 1120 w 1120"/>
              <a:gd name="T3" fmla="*/ 0 h 17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20" h="177">
                <a:moveTo>
                  <a:pt x="0" y="177"/>
                </a:moveTo>
                <a:cubicBezTo>
                  <a:pt x="829" y="138"/>
                  <a:pt x="803" y="16"/>
                  <a:pt x="1120" y="0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0894" name="Freeform 62">
            <a:extLst>
              <a:ext uri="{FF2B5EF4-FFF2-40B4-BE49-F238E27FC236}">
                <a16:creationId xmlns:a16="http://schemas.microsoft.com/office/drawing/2014/main" id="{5D24A732-881D-FBEB-411F-4C8E8E7220DE}"/>
              </a:ext>
            </a:extLst>
          </p:cNvPr>
          <p:cNvSpPr>
            <a:spLocks/>
          </p:cNvSpPr>
          <p:nvPr/>
        </p:nvSpPr>
        <p:spPr bwMode="auto">
          <a:xfrm>
            <a:off x="4757738" y="3205163"/>
            <a:ext cx="1719262" cy="90487"/>
          </a:xfrm>
          <a:custGeom>
            <a:avLst/>
            <a:gdLst>
              <a:gd name="T0" fmla="*/ 0 w 1083"/>
              <a:gd name="T1" fmla="*/ 22 h 57"/>
              <a:gd name="T2" fmla="*/ 1083 w 1083"/>
              <a:gd name="T3" fmla="*/ 21 h 5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83" h="57">
                <a:moveTo>
                  <a:pt x="0" y="22"/>
                </a:moveTo>
                <a:cubicBezTo>
                  <a:pt x="471" y="0"/>
                  <a:pt x="607" y="57"/>
                  <a:pt x="1083" y="21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0895" name="Text Box 5">
            <a:extLst>
              <a:ext uri="{FF2B5EF4-FFF2-40B4-BE49-F238E27FC236}">
                <a16:creationId xmlns:a16="http://schemas.microsoft.com/office/drawing/2014/main" id="{25700BB9-6203-FD9B-1CA1-994AA8AEE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9913" y="2913063"/>
            <a:ext cx="8699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900">
                <a:latin typeface="Arial" panose="020B0604020202020204" pitchFamily="34" charset="0"/>
                <a:cs typeface="Arial" panose="020B0604020202020204" pitchFamily="34" charset="0"/>
              </a:rPr>
              <a:t>(P4 same as P3)</a:t>
            </a:r>
          </a:p>
        </p:txBody>
      </p:sp>
      <p:sp>
        <p:nvSpPr>
          <p:cNvPr id="760896" name="Rectangle 64">
            <a:extLst>
              <a:ext uri="{FF2B5EF4-FFF2-40B4-BE49-F238E27FC236}">
                <a16:creationId xmlns:a16="http://schemas.microsoft.com/office/drawing/2014/main" id="{653063B8-CF25-1F9C-B3D2-F0B9A8F5F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1550" y="4992688"/>
            <a:ext cx="2511425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EXAMPLE #5:   P8 = P2' – P1' + P4' </a:t>
            </a:r>
          </a:p>
        </p:txBody>
      </p:sp>
      <p:sp>
        <p:nvSpPr>
          <p:cNvPr id="760897" name="Rectangle 65">
            <a:extLst>
              <a:ext uri="{FF2B5EF4-FFF2-40B4-BE49-F238E27FC236}">
                <a16:creationId xmlns:a16="http://schemas.microsoft.com/office/drawing/2014/main" id="{0EF1D244-79A3-DC64-52A7-1B9BED6B3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738" y="5376863"/>
            <a:ext cx="2265362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   P2'    {1, 1, 0, 2, 1, 1, 1, 1, 0, 0}</a:t>
            </a:r>
          </a:p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– P1'    {1, 1, 0, 1, 0, 1, 1, 1, 0, 0}</a:t>
            </a:r>
          </a:p>
          <a:p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+ P4'    {0, 0, 1, 1, 0, 1, 1, 1, 0, 1}</a:t>
            </a:r>
          </a:p>
          <a:p>
            <a:r>
              <a:rPr lang="en-US" altLang="en-US" sz="1200">
                <a:solidFill>
                  <a:srgbClr val="A500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P8     {1, 1, 0, 2, 1, 1, 0, 0, 1, 1}</a:t>
            </a:r>
          </a:p>
        </p:txBody>
      </p:sp>
      <p:sp>
        <p:nvSpPr>
          <p:cNvPr id="760898" name="Line 66">
            <a:extLst>
              <a:ext uri="{FF2B5EF4-FFF2-40B4-BE49-F238E27FC236}">
                <a16:creationId xmlns:a16="http://schemas.microsoft.com/office/drawing/2014/main" id="{22CAB56A-242C-D807-69D8-2665F3E36A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7425" y="5213350"/>
            <a:ext cx="2395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0901" name="Rectangle 69">
            <a:extLst>
              <a:ext uri="{FF2B5EF4-FFF2-40B4-BE49-F238E27FC236}">
                <a16:creationId xmlns:a16="http://schemas.microsoft.com/office/drawing/2014/main" id="{268CFB4F-FD1B-3FB5-01CE-E216C14FB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284913"/>
            <a:ext cx="5595938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5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Q: Note that P2' = P1' + P6, so why not use P1' and P6 instead of P2'?</a:t>
            </a:r>
          </a:p>
          <a:p>
            <a:pPr>
              <a:spcBef>
                <a:spcPct val="25000"/>
              </a:spcBef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A: Because P6 is not a “complete path”, so it cannot be a linearly independent path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FBC270-A627-9C9F-A903-AFC30A05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2B933-D2B5-C349-A4D3-FF3E4BDC6A54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750594" name="Rectangle 2">
            <a:extLst>
              <a:ext uri="{FF2B5EF4-FFF2-40B4-BE49-F238E27FC236}">
                <a16:creationId xmlns:a16="http://schemas.microsoft.com/office/drawing/2014/main" id="{1E4022DB-FFA7-3E9F-EB22-46FD11855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Unit Testing</a:t>
            </a:r>
            <a:r>
              <a:rPr lang="en-US" altLang="en-US"/>
              <a:t>: Path Coverage</a:t>
            </a:r>
          </a:p>
        </p:txBody>
      </p:sp>
      <p:sp>
        <p:nvSpPr>
          <p:cNvPr id="750595" name="Rectangle 3">
            <a:extLst>
              <a:ext uri="{FF2B5EF4-FFF2-40B4-BE49-F238E27FC236}">
                <a16:creationId xmlns:a16="http://schemas.microsoft.com/office/drawing/2014/main" id="{6FACA0A3-8839-CCD1-223A-3E8EDA4BC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/>
              <a:t>Finds the number of distinct paths through the program to be traversed at least once</a:t>
            </a:r>
          </a:p>
          <a:p>
            <a:pPr>
              <a:spcBef>
                <a:spcPct val="60000"/>
              </a:spcBef>
            </a:pPr>
            <a:r>
              <a:rPr lang="en-US" altLang="en-US"/>
              <a:t>Minimum number of tests necessary to cover all edges is equal to the </a:t>
            </a:r>
            <a:r>
              <a:rPr lang="en-US" altLang="en-US" b="1">
                <a:solidFill>
                  <a:srgbClr val="800000"/>
                </a:solidFill>
              </a:rPr>
              <a:t>number of independent paths</a:t>
            </a:r>
            <a:r>
              <a:rPr lang="en-US" altLang="en-US"/>
              <a:t> through the control-flow graph</a:t>
            </a:r>
          </a:p>
          <a:p>
            <a:pPr>
              <a:spcBef>
                <a:spcPct val="60000"/>
              </a:spcBef>
            </a:pPr>
            <a:r>
              <a:rPr lang="en-US" altLang="en-US"/>
              <a:t>(Recall the lecture on Unit Testing)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C30B8C6-C861-DEAB-F548-B9083D81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22F90-84B4-484E-96A5-124A3D6C3017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CFD432AA-4B28-F3DC-C9E4-923AF3996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Issues (1)</a:t>
            </a:r>
          </a:p>
        </p:txBody>
      </p:sp>
      <p:sp>
        <p:nvSpPr>
          <p:cNvPr id="736260" name="Text Box 4">
            <a:extLst>
              <a:ext uri="{FF2B5EF4-FFF2-40B4-BE49-F238E27FC236}">
                <a16:creationId xmlns:a16="http://schemas.microsoft.com/office/drawing/2014/main" id="{6FCFFFE5-5BC9-D168-BC98-1FF880E99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63" y="3365500"/>
            <a:ext cx="1946275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4400">
                <a:latin typeface="Arial" panose="020B0604020202020204" pitchFamily="34" charset="0"/>
              </a:rPr>
              <a:t>= CC = </a:t>
            </a:r>
          </a:p>
        </p:txBody>
      </p:sp>
      <p:sp>
        <p:nvSpPr>
          <p:cNvPr id="736261" name="Line 5">
            <a:extLst>
              <a:ext uri="{FF2B5EF4-FFF2-40B4-BE49-F238E27FC236}">
                <a16:creationId xmlns:a16="http://schemas.microsoft.com/office/drawing/2014/main" id="{5873E188-2AC0-3224-A683-0EAEE6A170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6575" y="3406775"/>
            <a:ext cx="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6269" name="AutoShape 13">
            <a:extLst>
              <a:ext uri="{FF2B5EF4-FFF2-40B4-BE49-F238E27FC236}">
                <a16:creationId xmlns:a16="http://schemas.microsoft.com/office/drawing/2014/main" id="{0683BF32-BB5E-62C3-0E6A-3C3C75C38EE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760538" y="3471863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87" name="Text Box 31">
            <a:extLst>
              <a:ext uri="{FF2B5EF4-FFF2-40B4-BE49-F238E27FC236}">
                <a16:creationId xmlns:a16="http://schemas.microsoft.com/office/drawing/2014/main" id="{868C7CE4-9571-30CC-7DCD-486E744E4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5110163"/>
            <a:ext cx="852487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Cyclomatic complexity (CC) remains the same for a linear sequence of statements regardless of the sequence length</a:t>
            </a:r>
          </a:p>
          <a:p>
            <a:r>
              <a:rPr lang="en-US" altLang="en-US" sz="2000">
                <a:latin typeface="Comic Sans MS" panose="030F0902030302020204" pitchFamily="66" charset="0"/>
              </a:rPr>
              <a:t>—insensitive to complexity contributed by the multitude of statements</a:t>
            </a:r>
          </a:p>
          <a:p>
            <a:r>
              <a:rPr lang="en-US" altLang="en-US" sz="2000">
                <a:latin typeface="Comic Sans MS" panose="030F0902030302020204" pitchFamily="66" charset="0"/>
              </a:rPr>
              <a:t>   (</a:t>
            </a:r>
            <a:r>
              <a:rPr lang="en-US" altLang="en-US" sz="1600">
                <a:latin typeface="Comic Sans MS" panose="030F0902030302020204" pitchFamily="66" charset="0"/>
              </a:rPr>
              <a:t>Recall that discriminative power (sensitivity) is a desirable property of a metric</a:t>
            </a:r>
            <a:r>
              <a:rPr lang="en-US" altLang="en-US" sz="2000">
                <a:latin typeface="Comic Sans MS" panose="030F0902030302020204" pitchFamily="66" charset="0"/>
              </a:rPr>
              <a:t>)</a:t>
            </a:r>
          </a:p>
        </p:txBody>
      </p:sp>
      <p:sp>
        <p:nvSpPr>
          <p:cNvPr id="736288" name="Text Box 32">
            <a:extLst>
              <a:ext uri="{FF2B5EF4-FFF2-40B4-BE49-F238E27FC236}">
                <a16:creationId xmlns:a16="http://schemas.microsoft.com/office/drawing/2014/main" id="{E2C5E431-8988-0C76-292F-680BF2E9B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8" y="2312988"/>
            <a:ext cx="21177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Single statement:</a:t>
            </a:r>
          </a:p>
        </p:txBody>
      </p:sp>
      <p:sp>
        <p:nvSpPr>
          <p:cNvPr id="736289" name="Text Box 33">
            <a:extLst>
              <a:ext uri="{FF2B5EF4-FFF2-40B4-BE49-F238E27FC236}">
                <a16:creationId xmlns:a16="http://schemas.microsoft.com/office/drawing/2014/main" id="{2C3314DE-5756-4651-2241-03A8FB26C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2312988"/>
            <a:ext cx="31829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Two (or more) statements:</a:t>
            </a:r>
          </a:p>
        </p:txBody>
      </p:sp>
      <p:sp>
        <p:nvSpPr>
          <p:cNvPr id="736290" name="AutoShape 34">
            <a:extLst>
              <a:ext uri="{FF2B5EF4-FFF2-40B4-BE49-F238E27FC236}">
                <a16:creationId xmlns:a16="http://schemas.microsoft.com/office/drawing/2014/main" id="{EC5DE19E-8216-959A-1645-B5FF3AE8C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3552825"/>
            <a:ext cx="639762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36292" name="Text Box 36">
            <a:extLst>
              <a:ext uri="{FF2B5EF4-FFF2-40B4-BE49-F238E27FC236}">
                <a16:creationId xmlns:a16="http://schemas.microsoft.com/office/drawing/2014/main" id="{412673FD-4CEA-C976-356D-AD1542778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825" y="3590925"/>
            <a:ext cx="5730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statement</a:t>
            </a:r>
          </a:p>
        </p:txBody>
      </p:sp>
      <p:cxnSp>
        <p:nvCxnSpPr>
          <p:cNvPr id="736293" name="AutoShape 37">
            <a:extLst>
              <a:ext uri="{FF2B5EF4-FFF2-40B4-BE49-F238E27FC236}">
                <a16:creationId xmlns:a16="http://schemas.microsoft.com/office/drawing/2014/main" id="{37A2D0B4-AC84-F1C3-63B2-E1FB8E9597EF}"/>
              </a:ext>
            </a:extLst>
          </p:cNvPr>
          <p:cNvCxnSpPr>
            <a:cxnSpLocks noChangeShapeType="1"/>
            <a:stCxn id="736298" idx="2"/>
            <a:endCxn id="736297" idx="3"/>
          </p:cNvCxnSpPr>
          <p:nvPr/>
        </p:nvCxnSpPr>
        <p:spPr bwMode="auto">
          <a:xfrm>
            <a:off x="6575425" y="3454400"/>
            <a:ext cx="0" cy="339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6294" name="Line 38">
            <a:extLst>
              <a:ext uri="{FF2B5EF4-FFF2-40B4-BE49-F238E27FC236}">
                <a16:creationId xmlns:a16="http://schemas.microsoft.com/office/drawing/2014/main" id="{B80683A7-8A81-962F-7B48-8DE87CF96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5425" y="3055938"/>
            <a:ext cx="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6295" name="AutoShape 39">
            <a:extLst>
              <a:ext uri="{FF2B5EF4-FFF2-40B4-BE49-F238E27FC236}">
                <a16:creationId xmlns:a16="http://schemas.microsoft.com/office/drawing/2014/main" id="{BD7863DE-8DDD-E2DF-26BC-B2AC01DB8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063" y="3875088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36296" name="AutoShape 40">
            <a:extLst>
              <a:ext uri="{FF2B5EF4-FFF2-40B4-BE49-F238E27FC236}">
                <a16:creationId xmlns:a16="http://schemas.microsoft.com/office/drawing/2014/main" id="{07077BBC-B631-693D-BF3D-5DCA1BF19FB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529388" y="3121025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97" name="AutoShape 41">
            <a:extLst>
              <a:ext uri="{FF2B5EF4-FFF2-40B4-BE49-F238E27FC236}">
                <a16:creationId xmlns:a16="http://schemas.microsoft.com/office/drawing/2014/main" id="{AB7AC35B-9B0B-2281-0E84-1FB85D8D3DB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529388" y="3792538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98" name="AutoShape 42">
            <a:extLst>
              <a:ext uri="{FF2B5EF4-FFF2-40B4-BE49-F238E27FC236}">
                <a16:creationId xmlns:a16="http://schemas.microsoft.com/office/drawing/2014/main" id="{CD20EE92-6541-CAA7-A60B-67D04D76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063" y="3201988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36299" name="Text Box 43">
            <a:extLst>
              <a:ext uri="{FF2B5EF4-FFF2-40B4-BE49-F238E27FC236}">
                <a16:creationId xmlns:a16="http://schemas.microsoft.com/office/drawing/2014/main" id="{55979136-AB0E-AFF5-FE8A-8CA8AD9C1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50" y="3240088"/>
            <a:ext cx="3349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stat-1</a:t>
            </a:r>
          </a:p>
        </p:txBody>
      </p:sp>
      <p:sp>
        <p:nvSpPr>
          <p:cNvPr id="736300" name="Text Box 44">
            <a:extLst>
              <a:ext uri="{FF2B5EF4-FFF2-40B4-BE49-F238E27FC236}">
                <a16:creationId xmlns:a16="http://schemas.microsoft.com/office/drawing/2014/main" id="{6905B7E0-91C7-7D80-DD43-F712B1512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8738" y="3921125"/>
            <a:ext cx="334962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stat-2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6DAD6F67-B7F7-1C84-CE6E-74D2D818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3D23B-6FC6-754C-90DE-3BA4DCF0196F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728110" name="Line 46">
            <a:extLst>
              <a:ext uri="{FF2B5EF4-FFF2-40B4-BE49-F238E27FC236}">
                <a16:creationId xmlns:a16="http://schemas.microsoft.com/office/drawing/2014/main" id="{1878AF19-3EED-67BD-1C12-F3336DEF1E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3598863"/>
            <a:ext cx="0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8066" name="Rectangle 2">
            <a:extLst>
              <a:ext uri="{FF2B5EF4-FFF2-40B4-BE49-F238E27FC236}">
                <a16:creationId xmlns:a16="http://schemas.microsoft.com/office/drawing/2014/main" id="{8009C598-3BBA-F3EC-3240-4D124BE6E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Issues (2)</a:t>
            </a:r>
          </a:p>
        </p:txBody>
      </p:sp>
      <p:sp>
        <p:nvSpPr>
          <p:cNvPr id="728087" name="Text Box 23">
            <a:extLst>
              <a:ext uri="{FF2B5EF4-FFF2-40B4-BE49-F238E27FC236}">
                <a16:creationId xmlns:a16="http://schemas.microsoft.com/office/drawing/2014/main" id="{F73D4661-3004-C753-E86D-600CE9531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63" y="3365500"/>
            <a:ext cx="1946275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4400">
                <a:latin typeface="Arial" panose="020B0604020202020204" pitchFamily="34" charset="0"/>
              </a:rPr>
              <a:t>= CC = </a:t>
            </a:r>
          </a:p>
        </p:txBody>
      </p:sp>
      <p:sp>
        <p:nvSpPr>
          <p:cNvPr id="728089" name="Line 25">
            <a:extLst>
              <a:ext uri="{FF2B5EF4-FFF2-40B4-BE49-F238E27FC236}">
                <a16:creationId xmlns:a16="http://schemas.microsoft.com/office/drawing/2014/main" id="{53BC98C1-EFA6-4BBC-D9E0-49F908353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3054350"/>
            <a:ext cx="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728078" name="AutoShape 14">
            <a:extLst>
              <a:ext uri="{FF2B5EF4-FFF2-40B4-BE49-F238E27FC236}">
                <a16:creationId xmlns:a16="http://schemas.microsoft.com/office/drawing/2014/main" id="{D6D5436B-CC33-13DE-426C-0A73415F0E40}"/>
              </a:ext>
            </a:extLst>
          </p:cNvPr>
          <p:cNvCxnSpPr>
            <a:cxnSpLocks noChangeAspect="1" noChangeShapeType="1"/>
            <a:stCxn id="728083" idx="1"/>
            <a:endCxn id="728090" idx="3"/>
          </p:cNvCxnSpPr>
          <p:nvPr/>
        </p:nvCxnSpPr>
        <p:spPr bwMode="auto">
          <a:xfrm rot="10800000" flipV="1">
            <a:off x="1550988" y="3400425"/>
            <a:ext cx="130175" cy="10953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8080" name="AutoShape 16">
            <a:extLst>
              <a:ext uri="{FF2B5EF4-FFF2-40B4-BE49-F238E27FC236}">
                <a16:creationId xmlns:a16="http://schemas.microsoft.com/office/drawing/2014/main" id="{854E1E98-3C1E-8E06-59EA-F8FB4FCDD5BD}"/>
              </a:ext>
            </a:extLst>
          </p:cNvPr>
          <p:cNvCxnSpPr>
            <a:cxnSpLocks noChangeAspect="1" noChangeShapeType="1"/>
            <a:stCxn id="728085" idx="2"/>
            <a:endCxn id="728092" idx="3"/>
          </p:cNvCxnSpPr>
          <p:nvPr/>
        </p:nvCxnSpPr>
        <p:spPr bwMode="auto">
          <a:xfrm rot="16200000" flipH="1">
            <a:off x="1681163" y="3713163"/>
            <a:ext cx="171450" cy="431800"/>
          </a:xfrm>
          <a:prstGeom prst="bentConnector3">
            <a:avLst>
              <a:gd name="adj1" fmla="val 6481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8081" name="Text Box 17">
            <a:extLst>
              <a:ext uri="{FF2B5EF4-FFF2-40B4-BE49-F238E27FC236}">
                <a16:creationId xmlns:a16="http://schemas.microsoft.com/office/drawing/2014/main" id="{A85FCF41-8BB8-4DEE-A699-A96A1D36F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038" y="3201988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28082" name="Text Box 18">
            <a:extLst>
              <a:ext uri="{FF2B5EF4-FFF2-40B4-BE49-F238E27FC236}">
                <a16:creationId xmlns:a16="http://schemas.microsoft.com/office/drawing/2014/main" id="{6746C8F2-80D5-CCAE-C7D9-C01E6F077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3635375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728083" name="AutoShape 19">
            <a:extLst>
              <a:ext uri="{FF2B5EF4-FFF2-40B4-BE49-F238E27FC236}">
                <a16:creationId xmlns:a16="http://schemas.microsoft.com/office/drawing/2014/main" id="{9F4598FF-0195-9E1F-6B2A-FD9EF8CE98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1163" y="3200400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864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expr</a:t>
            </a:r>
          </a:p>
          <a:p>
            <a:pPr algn="ctr"/>
            <a:r>
              <a:rPr lang="en-US" altLang="en-US" sz="1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728084" name="AutoShape 20">
            <a:extLst>
              <a:ext uri="{FF2B5EF4-FFF2-40B4-BE49-F238E27FC236}">
                <a16:creationId xmlns:a16="http://schemas.microsoft.com/office/drawing/2014/main" id="{A1702526-6D94-E9CC-E82E-1E8B3DC28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425" y="4095750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28085" name="AutoShape 21">
            <a:extLst>
              <a:ext uri="{FF2B5EF4-FFF2-40B4-BE49-F238E27FC236}">
                <a16:creationId xmlns:a16="http://schemas.microsoft.com/office/drawing/2014/main" id="{D0636C27-333B-1B4B-DE3E-E0ED3929E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25" y="3590925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28088" name="AutoShape 24">
            <a:extLst>
              <a:ext uri="{FF2B5EF4-FFF2-40B4-BE49-F238E27FC236}">
                <a16:creationId xmlns:a16="http://schemas.microsoft.com/office/drawing/2014/main" id="{5F5D1C59-227B-FD8C-6956-4A660D5C0ED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936750" y="3119438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8090" name="AutoShape 26">
            <a:extLst>
              <a:ext uri="{FF2B5EF4-FFF2-40B4-BE49-F238E27FC236}">
                <a16:creationId xmlns:a16="http://schemas.microsoft.com/office/drawing/2014/main" id="{3957AFE2-81A6-864D-D743-776E1EBC810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504950" y="3508375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8092" name="AutoShape 28">
            <a:extLst>
              <a:ext uri="{FF2B5EF4-FFF2-40B4-BE49-F238E27FC236}">
                <a16:creationId xmlns:a16="http://schemas.microsoft.com/office/drawing/2014/main" id="{0E4B3A5C-7E38-A3E2-831D-CCD3F8C92C4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936750" y="4013200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8093" name="Line 29">
            <a:extLst>
              <a:ext uri="{FF2B5EF4-FFF2-40B4-BE49-F238E27FC236}">
                <a16:creationId xmlns:a16="http://schemas.microsoft.com/office/drawing/2014/main" id="{2FF3737D-CBD7-333B-7F36-375297047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7613" y="3054350"/>
            <a:ext cx="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728094" name="AutoShape 30">
            <a:extLst>
              <a:ext uri="{FF2B5EF4-FFF2-40B4-BE49-F238E27FC236}">
                <a16:creationId xmlns:a16="http://schemas.microsoft.com/office/drawing/2014/main" id="{52E51388-247F-DCB1-3E05-A9E29691C317}"/>
              </a:ext>
            </a:extLst>
          </p:cNvPr>
          <p:cNvCxnSpPr>
            <a:cxnSpLocks noChangeAspect="1" noChangeShapeType="1"/>
            <a:stCxn id="728100" idx="3"/>
            <a:endCxn id="728106" idx="3"/>
          </p:cNvCxnSpPr>
          <p:nvPr/>
        </p:nvCxnSpPr>
        <p:spPr bwMode="auto">
          <a:xfrm>
            <a:off x="6599238" y="3400425"/>
            <a:ext cx="130175" cy="10953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8095" name="AutoShape 31">
            <a:extLst>
              <a:ext uri="{FF2B5EF4-FFF2-40B4-BE49-F238E27FC236}">
                <a16:creationId xmlns:a16="http://schemas.microsoft.com/office/drawing/2014/main" id="{CC7AC8EF-7582-FC5A-DF0D-AD4EFE8FA1F0}"/>
              </a:ext>
            </a:extLst>
          </p:cNvPr>
          <p:cNvCxnSpPr>
            <a:cxnSpLocks noChangeAspect="1" noChangeShapeType="1"/>
            <a:stCxn id="728100" idx="1"/>
            <a:endCxn id="728105" idx="3"/>
          </p:cNvCxnSpPr>
          <p:nvPr/>
        </p:nvCxnSpPr>
        <p:spPr bwMode="auto">
          <a:xfrm rot="10800000" flipV="1">
            <a:off x="5865813" y="3400425"/>
            <a:ext cx="130175" cy="10953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8096" name="AutoShape 32">
            <a:extLst>
              <a:ext uri="{FF2B5EF4-FFF2-40B4-BE49-F238E27FC236}">
                <a16:creationId xmlns:a16="http://schemas.microsoft.com/office/drawing/2014/main" id="{81EA488A-9574-A77C-9BE8-272E95CC82B4}"/>
              </a:ext>
            </a:extLst>
          </p:cNvPr>
          <p:cNvCxnSpPr>
            <a:cxnSpLocks noChangeAspect="1" noChangeShapeType="1"/>
            <a:stCxn id="728103" idx="2"/>
            <a:endCxn id="728107" idx="3"/>
          </p:cNvCxnSpPr>
          <p:nvPr/>
        </p:nvCxnSpPr>
        <p:spPr bwMode="auto">
          <a:xfrm rot="5400000">
            <a:off x="6427788" y="3713163"/>
            <a:ext cx="171450" cy="431800"/>
          </a:xfrm>
          <a:prstGeom prst="bentConnector3">
            <a:avLst>
              <a:gd name="adj1" fmla="val 4907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8097" name="AutoShape 33">
            <a:extLst>
              <a:ext uri="{FF2B5EF4-FFF2-40B4-BE49-F238E27FC236}">
                <a16:creationId xmlns:a16="http://schemas.microsoft.com/office/drawing/2014/main" id="{47790417-AECF-C606-0448-107756C1BA89}"/>
              </a:ext>
            </a:extLst>
          </p:cNvPr>
          <p:cNvCxnSpPr>
            <a:cxnSpLocks noChangeAspect="1" noChangeShapeType="1"/>
            <a:stCxn id="728102" idx="2"/>
            <a:endCxn id="728107" idx="3"/>
          </p:cNvCxnSpPr>
          <p:nvPr/>
        </p:nvCxnSpPr>
        <p:spPr bwMode="auto">
          <a:xfrm rot="16200000" flipH="1">
            <a:off x="5995988" y="3713163"/>
            <a:ext cx="171450" cy="431800"/>
          </a:xfrm>
          <a:prstGeom prst="bentConnector3">
            <a:avLst>
              <a:gd name="adj1" fmla="val 4907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8098" name="Text Box 34">
            <a:extLst>
              <a:ext uri="{FF2B5EF4-FFF2-40B4-BE49-F238E27FC236}">
                <a16:creationId xmlns:a16="http://schemas.microsoft.com/office/drawing/2014/main" id="{738416BA-5B49-A8DE-18E3-841E9B7E9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863" y="3201988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28099" name="Text Box 35">
            <a:extLst>
              <a:ext uri="{FF2B5EF4-FFF2-40B4-BE49-F238E27FC236}">
                <a16:creationId xmlns:a16="http://schemas.microsoft.com/office/drawing/2014/main" id="{E101D8F2-D4E2-899D-CEDF-25B3A5B45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3201988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728100" name="AutoShape 36">
            <a:extLst>
              <a:ext uri="{FF2B5EF4-FFF2-40B4-BE49-F238E27FC236}">
                <a16:creationId xmlns:a16="http://schemas.microsoft.com/office/drawing/2014/main" id="{97E585FC-4CB6-8F14-D530-E603EDD32F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5988" y="3200400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864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expr</a:t>
            </a:r>
          </a:p>
          <a:p>
            <a:pPr algn="ctr"/>
            <a:r>
              <a:rPr lang="en-US" altLang="en-US" sz="1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728101" name="AutoShape 37">
            <a:extLst>
              <a:ext uri="{FF2B5EF4-FFF2-40B4-BE49-F238E27FC236}">
                <a16:creationId xmlns:a16="http://schemas.microsoft.com/office/drawing/2014/main" id="{6DB77231-B832-587F-E591-2E6732409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4095750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28102" name="AutoShape 38">
            <a:extLst>
              <a:ext uri="{FF2B5EF4-FFF2-40B4-BE49-F238E27FC236}">
                <a16:creationId xmlns:a16="http://schemas.microsoft.com/office/drawing/2014/main" id="{C92AF966-F707-49D8-2287-ED9E41BA8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450" y="3590925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28103" name="AutoShape 39">
            <a:extLst>
              <a:ext uri="{FF2B5EF4-FFF2-40B4-BE49-F238E27FC236}">
                <a16:creationId xmlns:a16="http://schemas.microsoft.com/office/drawing/2014/main" id="{94D41CF3-E6EC-571C-9769-9E156F873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6050" y="3590925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28104" name="AutoShape 40">
            <a:extLst>
              <a:ext uri="{FF2B5EF4-FFF2-40B4-BE49-F238E27FC236}">
                <a16:creationId xmlns:a16="http://schemas.microsoft.com/office/drawing/2014/main" id="{E50B3B42-6EDB-E073-C2D9-542A0CE273E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251575" y="3119438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8105" name="AutoShape 41">
            <a:extLst>
              <a:ext uri="{FF2B5EF4-FFF2-40B4-BE49-F238E27FC236}">
                <a16:creationId xmlns:a16="http://schemas.microsoft.com/office/drawing/2014/main" id="{DB3B7A0A-17F1-BC39-CD51-4EBF5252EDA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819775" y="3508375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8106" name="AutoShape 42">
            <a:extLst>
              <a:ext uri="{FF2B5EF4-FFF2-40B4-BE49-F238E27FC236}">
                <a16:creationId xmlns:a16="http://schemas.microsoft.com/office/drawing/2014/main" id="{A99C9DC9-8530-2DE4-3B93-33A7D0B767F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683375" y="3508375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8107" name="AutoShape 43">
            <a:extLst>
              <a:ext uri="{FF2B5EF4-FFF2-40B4-BE49-F238E27FC236}">
                <a16:creationId xmlns:a16="http://schemas.microsoft.com/office/drawing/2014/main" id="{FF888F3A-FDCE-B946-6124-B258A7017A7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251575" y="4013200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8111" name="Text Box 47">
            <a:extLst>
              <a:ext uri="{FF2B5EF4-FFF2-40B4-BE49-F238E27FC236}">
                <a16:creationId xmlns:a16="http://schemas.microsoft.com/office/drawing/2014/main" id="{84761CB1-1638-879F-F4F8-D67821281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5337175"/>
            <a:ext cx="59499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Optional action versus alternative choices —</a:t>
            </a:r>
          </a:p>
          <a:p>
            <a:r>
              <a:rPr lang="en-US" altLang="en-US" sz="2000">
                <a:latin typeface="Comic Sans MS" panose="030F0902030302020204" pitchFamily="66" charset="0"/>
              </a:rPr>
              <a:t>	the latter is psychologically more difficult</a:t>
            </a:r>
          </a:p>
        </p:txBody>
      </p:sp>
      <p:sp>
        <p:nvSpPr>
          <p:cNvPr id="728112" name="Text Box 48">
            <a:extLst>
              <a:ext uri="{FF2B5EF4-FFF2-40B4-BE49-F238E27FC236}">
                <a16:creationId xmlns:a16="http://schemas.microsoft.com/office/drawing/2014/main" id="{B5134ACA-B3E6-B005-9B3B-9E650EEB2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8" y="2312988"/>
            <a:ext cx="1885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Optional action:</a:t>
            </a:r>
          </a:p>
        </p:txBody>
      </p:sp>
      <p:sp>
        <p:nvSpPr>
          <p:cNvPr id="728113" name="Text Box 49">
            <a:extLst>
              <a:ext uri="{FF2B5EF4-FFF2-40B4-BE49-F238E27FC236}">
                <a16:creationId xmlns:a16="http://schemas.microsoft.com/office/drawing/2014/main" id="{792DB46D-3F03-B468-34B1-D361283A6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2312988"/>
            <a:ext cx="24003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Alternative choices: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96F7D78-0AE4-A94C-6E34-A1BB32594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8E142-7BB2-F645-843F-64ACB171BB1C}" type="slidenum">
              <a:rPr lang="en-US" altLang="en-US"/>
              <a:pPr/>
              <a:t>18</a:t>
            </a:fld>
            <a:endParaRPr lang="en-US" altLang="en-US"/>
          </a:p>
        </p:txBody>
      </p:sp>
      <p:cxnSp>
        <p:nvCxnSpPr>
          <p:cNvPr id="742447" name="AutoShape 47">
            <a:extLst>
              <a:ext uri="{FF2B5EF4-FFF2-40B4-BE49-F238E27FC236}">
                <a16:creationId xmlns:a16="http://schemas.microsoft.com/office/drawing/2014/main" id="{8E002028-C843-84BD-197B-0421BE878737}"/>
              </a:ext>
            </a:extLst>
          </p:cNvPr>
          <p:cNvCxnSpPr>
            <a:cxnSpLocks noChangeAspect="1" noChangeShapeType="1"/>
            <a:stCxn id="742451" idx="1"/>
            <a:endCxn id="742455" idx="3"/>
          </p:cNvCxnSpPr>
          <p:nvPr/>
        </p:nvCxnSpPr>
        <p:spPr bwMode="auto">
          <a:xfrm rot="10800000" flipV="1">
            <a:off x="6761163" y="4862513"/>
            <a:ext cx="130175" cy="109537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2448" name="AutoShape 48">
            <a:extLst>
              <a:ext uri="{FF2B5EF4-FFF2-40B4-BE49-F238E27FC236}">
                <a16:creationId xmlns:a16="http://schemas.microsoft.com/office/drawing/2014/main" id="{0D4741EE-DDE3-640B-42B4-06085DCC4422}"/>
              </a:ext>
            </a:extLst>
          </p:cNvPr>
          <p:cNvCxnSpPr>
            <a:cxnSpLocks noChangeAspect="1" noChangeShapeType="1"/>
            <a:stCxn id="742453" idx="2"/>
            <a:endCxn id="742465" idx="2"/>
          </p:cNvCxnSpPr>
          <p:nvPr/>
        </p:nvCxnSpPr>
        <p:spPr bwMode="auto">
          <a:xfrm rot="16200000" flipH="1">
            <a:off x="7121525" y="4948238"/>
            <a:ext cx="144463" cy="865187"/>
          </a:xfrm>
          <a:prstGeom prst="bentConnector3">
            <a:avLst>
              <a:gd name="adj1" fmla="val 37252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2473" name="AutoShape 73">
            <a:extLst>
              <a:ext uri="{FF2B5EF4-FFF2-40B4-BE49-F238E27FC236}">
                <a16:creationId xmlns:a16="http://schemas.microsoft.com/office/drawing/2014/main" id="{D819A1AA-53AF-DC17-C367-1EE79156DBF0}"/>
              </a:ext>
            </a:extLst>
          </p:cNvPr>
          <p:cNvCxnSpPr>
            <a:cxnSpLocks noChangeAspect="1" noChangeShapeType="1"/>
            <a:stCxn id="742451" idx="3"/>
            <a:endCxn id="742478" idx="3"/>
          </p:cNvCxnSpPr>
          <p:nvPr/>
        </p:nvCxnSpPr>
        <p:spPr bwMode="auto">
          <a:xfrm>
            <a:off x="7494588" y="4862513"/>
            <a:ext cx="130175" cy="109537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2459" name="Line 59">
            <a:extLst>
              <a:ext uri="{FF2B5EF4-FFF2-40B4-BE49-F238E27FC236}">
                <a16:creationId xmlns:a16="http://schemas.microsoft.com/office/drawing/2014/main" id="{98D9A4BA-B1CF-DFCC-CC2C-17CC65C4CE8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2963" y="5705475"/>
            <a:ext cx="0" cy="274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742461" name="AutoShape 61">
            <a:extLst>
              <a:ext uri="{FF2B5EF4-FFF2-40B4-BE49-F238E27FC236}">
                <a16:creationId xmlns:a16="http://schemas.microsoft.com/office/drawing/2014/main" id="{46D0A716-E8B4-801E-D739-3CA7FB4F123C}"/>
              </a:ext>
            </a:extLst>
          </p:cNvPr>
          <p:cNvCxnSpPr>
            <a:cxnSpLocks noChangeAspect="1" noChangeShapeType="1"/>
            <a:stCxn id="742465" idx="1"/>
            <a:endCxn id="742469" idx="3"/>
          </p:cNvCxnSpPr>
          <p:nvPr/>
        </p:nvCxnSpPr>
        <p:spPr bwMode="auto">
          <a:xfrm rot="10800000" flipV="1">
            <a:off x="7192963" y="5253038"/>
            <a:ext cx="131762" cy="109537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2441" name="Line 41">
            <a:extLst>
              <a:ext uri="{FF2B5EF4-FFF2-40B4-BE49-F238E27FC236}">
                <a16:creationId xmlns:a16="http://schemas.microsoft.com/office/drawing/2014/main" id="{8C85E6A0-FF88-B930-5EA9-0A76347145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7613" y="3281363"/>
            <a:ext cx="0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2402" name="Line 2">
            <a:extLst>
              <a:ext uri="{FF2B5EF4-FFF2-40B4-BE49-F238E27FC236}">
                <a16:creationId xmlns:a16="http://schemas.microsoft.com/office/drawing/2014/main" id="{C647952F-CA5D-9DB1-B8A2-2EB352614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3281363"/>
            <a:ext cx="0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2403" name="Rectangle 3">
            <a:extLst>
              <a:ext uri="{FF2B5EF4-FFF2-40B4-BE49-F238E27FC236}">
                <a16:creationId xmlns:a16="http://schemas.microsoft.com/office/drawing/2014/main" id="{ABDCDFED-A003-7F0F-13BB-2341E8AD9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Issues (3)</a:t>
            </a:r>
          </a:p>
        </p:txBody>
      </p:sp>
      <p:sp>
        <p:nvSpPr>
          <p:cNvPr id="742404" name="Text Box 4">
            <a:extLst>
              <a:ext uri="{FF2B5EF4-FFF2-40B4-BE49-F238E27FC236}">
                <a16:creationId xmlns:a16="http://schemas.microsoft.com/office/drawing/2014/main" id="{76D8FFEE-A4B0-E51D-FF0B-920DF3A73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63" y="3048000"/>
            <a:ext cx="1946275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4400">
                <a:latin typeface="Arial" panose="020B0604020202020204" pitchFamily="34" charset="0"/>
              </a:rPr>
              <a:t>= CC = </a:t>
            </a:r>
          </a:p>
        </p:txBody>
      </p:sp>
      <p:sp>
        <p:nvSpPr>
          <p:cNvPr id="742405" name="Line 5">
            <a:extLst>
              <a:ext uri="{FF2B5EF4-FFF2-40B4-BE49-F238E27FC236}">
                <a16:creationId xmlns:a16="http://schemas.microsoft.com/office/drawing/2014/main" id="{2B71C0B7-FF21-CCFE-0B20-EDB01B124F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2736850"/>
            <a:ext cx="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742406" name="AutoShape 6">
            <a:extLst>
              <a:ext uri="{FF2B5EF4-FFF2-40B4-BE49-F238E27FC236}">
                <a16:creationId xmlns:a16="http://schemas.microsoft.com/office/drawing/2014/main" id="{69E2D905-7817-415C-DD7E-D108C859CB82}"/>
              </a:ext>
            </a:extLst>
          </p:cNvPr>
          <p:cNvCxnSpPr>
            <a:cxnSpLocks noChangeAspect="1" noChangeShapeType="1"/>
            <a:stCxn id="742410" idx="1"/>
            <a:endCxn id="742414" idx="3"/>
          </p:cNvCxnSpPr>
          <p:nvPr/>
        </p:nvCxnSpPr>
        <p:spPr bwMode="auto">
          <a:xfrm rot="10800000" flipV="1">
            <a:off x="1550988" y="3082925"/>
            <a:ext cx="130175" cy="10953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2407" name="AutoShape 7">
            <a:extLst>
              <a:ext uri="{FF2B5EF4-FFF2-40B4-BE49-F238E27FC236}">
                <a16:creationId xmlns:a16="http://schemas.microsoft.com/office/drawing/2014/main" id="{97AD9D0C-0B5D-4674-658B-1252069E3FAF}"/>
              </a:ext>
            </a:extLst>
          </p:cNvPr>
          <p:cNvCxnSpPr>
            <a:cxnSpLocks noChangeAspect="1" noChangeShapeType="1"/>
            <a:stCxn id="742412" idx="2"/>
            <a:endCxn id="742415" idx="3"/>
          </p:cNvCxnSpPr>
          <p:nvPr/>
        </p:nvCxnSpPr>
        <p:spPr bwMode="auto">
          <a:xfrm rot="16200000" flipH="1">
            <a:off x="1682750" y="3397251"/>
            <a:ext cx="168275" cy="431800"/>
          </a:xfrm>
          <a:prstGeom prst="bentConnector3">
            <a:avLst>
              <a:gd name="adj1" fmla="val 4905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2408" name="Text Box 8">
            <a:extLst>
              <a:ext uri="{FF2B5EF4-FFF2-40B4-BE49-F238E27FC236}">
                <a16:creationId xmlns:a16="http://schemas.microsoft.com/office/drawing/2014/main" id="{37D99298-CC81-3D8F-C95E-6AE126025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038" y="2884488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42409" name="Text Box 9">
            <a:extLst>
              <a:ext uri="{FF2B5EF4-FFF2-40B4-BE49-F238E27FC236}">
                <a16:creationId xmlns:a16="http://schemas.microsoft.com/office/drawing/2014/main" id="{98FCE84D-5002-A8CF-FBCB-127633793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3317875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742410" name="AutoShape 10">
            <a:extLst>
              <a:ext uri="{FF2B5EF4-FFF2-40B4-BE49-F238E27FC236}">
                <a16:creationId xmlns:a16="http://schemas.microsoft.com/office/drawing/2014/main" id="{6AE3C68D-2647-7465-5529-9387B62342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1163" y="2882900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A ?</a:t>
            </a:r>
          </a:p>
        </p:txBody>
      </p:sp>
      <p:sp>
        <p:nvSpPr>
          <p:cNvPr id="742411" name="AutoShape 11">
            <a:extLst>
              <a:ext uri="{FF2B5EF4-FFF2-40B4-BE49-F238E27FC236}">
                <a16:creationId xmlns:a16="http://schemas.microsoft.com/office/drawing/2014/main" id="{DA5CF7FE-AFC6-798A-0C42-44F6B64CC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425" y="3778250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42412" name="AutoShape 12">
            <a:extLst>
              <a:ext uri="{FF2B5EF4-FFF2-40B4-BE49-F238E27FC236}">
                <a16:creationId xmlns:a16="http://schemas.microsoft.com/office/drawing/2014/main" id="{008162B8-E781-143B-87B1-298A275B4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25" y="3273425"/>
            <a:ext cx="466725" cy="255588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742413" name="AutoShape 13">
            <a:extLst>
              <a:ext uri="{FF2B5EF4-FFF2-40B4-BE49-F238E27FC236}">
                <a16:creationId xmlns:a16="http://schemas.microsoft.com/office/drawing/2014/main" id="{263A6B07-884E-71DC-EF69-10785F63A76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936750" y="2801938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14" name="AutoShape 14">
            <a:extLst>
              <a:ext uri="{FF2B5EF4-FFF2-40B4-BE49-F238E27FC236}">
                <a16:creationId xmlns:a16="http://schemas.microsoft.com/office/drawing/2014/main" id="{7F7945CF-61EC-79CF-CC49-FC7CFF909FE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504950" y="3190875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15" name="AutoShape 15">
            <a:extLst>
              <a:ext uri="{FF2B5EF4-FFF2-40B4-BE49-F238E27FC236}">
                <a16:creationId xmlns:a16="http://schemas.microsoft.com/office/drawing/2014/main" id="{A9F6BEDB-FB41-B72A-3EF4-8FDA9CEA367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936750" y="3695700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16" name="Line 16">
            <a:extLst>
              <a:ext uri="{FF2B5EF4-FFF2-40B4-BE49-F238E27FC236}">
                <a16:creationId xmlns:a16="http://schemas.microsoft.com/office/drawing/2014/main" id="{7240F1CD-CFB2-C4DF-B654-7D394BA8C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7613" y="2736850"/>
            <a:ext cx="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742418" name="AutoShape 18">
            <a:extLst>
              <a:ext uri="{FF2B5EF4-FFF2-40B4-BE49-F238E27FC236}">
                <a16:creationId xmlns:a16="http://schemas.microsoft.com/office/drawing/2014/main" id="{34E47497-C27F-5737-E765-4282E7DCF01B}"/>
              </a:ext>
            </a:extLst>
          </p:cNvPr>
          <p:cNvCxnSpPr>
            <a:cxnSpLocks noChangeAspect="1" noChangeShapeType="1"/>
            <a:stCxn id="742423" idx="1"/>
            <a:endCxn id="742428" idx="3"/>
          </p:cNvCxnSpPr>
          <p:nvPr/>
        </p:nvCxnSpPr>
        <p:spPr bwMode="auto">
          <a:xfrm rot="10800000" flipV="1">
            <a:off x="5865813" y="3082925"/>
            <a:ext cx="130175" cy="10953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2420" name="AutoShape 20">
            <a:extLst>
              <a:ext uri="{FF2B5EF4-FFF2-40B4-BE49-F238E27FC236}">
                <a16:creationId xmlns:a16="http://schemas.microsoft.com/office/drawing/2014/main" id="{A0510B09-62BC-E5AE-A086-09F2193E002D}"/>
              </a:ext>
            </a:extLst>
          </p:cNvPr>
          <p:cNvCxnSpPr>
            <a:cxnSpLocks noChangeAspect="1" noChangeShapeType="1"/>
            <a:stCxn id="742425" idx="2"/>
            <a:endCxn id="742430" idx="3"/>
          </p:cNvCxnSpPr>
          <p:nvPr/>
        </p:nvCxnSpPr>
        <p:spPr bwMode="auto">
          <a:xfrm rot="16200000" flipH="1">
            <a:off x="5995988" y="3395663"/>
            <a:ext cx="171450" cy="431800"/>
          </a:xfrm>
          <a:prstGeom prst="bentConnector3">
            <a:avLst>
              <a:gd name="adj1" fmla="val 4907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2421" name="Text Box 21">
            <a:extLst>
              <a:ext uri="{FF2B5EF4-FFF2-40B4-BE49-F238E27FC236}">
                <a16:creationId xmlns:a16="http://schemas.microsoft.com/office/drawing/2014/main" id="{BDDAE8DB-0829-0CCC-7A00-9A0154B97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863" y="2884488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42423" name="AutoShape 23">
            <a:extLst>
              <a:ext uri="{FF2B5EF4-FFF2-40B4-BE49-F238E27FC236}">
                <a16:creationId xmlns:a16="http://schemas.microsoft.com/office/drawing/2014/main" id="{4EECDF6A-9224-81CC-4F4A-8E9C4A15BA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5988" y="2882900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A || D ?</a:t>
            </a:r>
          </a:p>
        </p:txBody>
      </p:sp>
      <p:sp>
        <p:nvSpPr>
          <p:cNvPr id="742424" name="AutoShape 24">
            <a:extLst>
              <a:ext uri="{FF2B5EF4-FFF2-40B4-BE49-F238E27FC236}">
                <a16:creationId xmlns:a16="http://schemas.microsoft.com/office/drawing/2014/main" id="{A12B947B-CAA5-2FE0-A833-9CD9F9DA9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778250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42425" name="AutoShape 25">
            <a:extLst>
              <a:ext uri="{FF2B5EF4-FFF2-40B4-BE49-F238E27FC236}">
                <a16:creationId xmlns:a16="http://schemas.microsoft.com/office/drawing/2014/main" id="{7F4B72A0-EFFE-04F0-742C-AFF6E25C3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450" y="3273425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42427" name="AutoShape 27">
            <a:extLst>
              <a:ext uri="{FF2B5EF4-FFF2-40B4-BE49-F238E27FC236}">
                <a16:creationId xmlns:a16="http://schemas.microsoft.com/office/drawing/2014/main" id="{05788AF1-72F2-F682-8F61-04D4C3DD99A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251575" y="2801938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28" name="AutoShape 28">
            <a:extLst>
              <a:ext uri="{FF2B5EF4-FFF2-40B4-BE49-F238E27FC236}">
                <a16:creationId xmlns:a16="http://schemas.microsoft.com/office/drawing/2014/main" id="{6927F2B6-FA4A-B37A-570E-DB862121627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819775" y="3190875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30" name="AutoShape 30">
            <a:extLst>
              <a:ext uri="{FF2B5EF4-FFF2-40B4-BE49-F238E27FC236}">
                <a16:creationId xmlns:a16="http://schemas.microsoft.com/office/drawing/2014/main" id="{DDFCB4C8-92F8-6C8F-2E4E-39627B04D3F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251575" y="3695700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32" name="Text Box 32">
            <a:extLst>
              <a:ext uri="{FF2B5EF4-FFF2-40B4-BE49-F238E27FC236}">
                <a16:creationId xmlns:a16="http://schemas.microsoft.com/office/drawing/2014/main" id="{388FEC1B-BE3A-5AF3-9977-CE6716613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8" y="1614488"/>
            <a:ext cx="20367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Simple condition:</a:t>
            </a:r>
          </a:p>
        </p:txBody>
      </p:sp>
      <p:sp>
        <p:nvSpPr>
          <p:cNvPr id="742433" name="Text Box 33">
            <a:extLst>
              <a:ext uri="{FF2B5EF4-FFF2-40B4-BE49-F238E27FC236}">
                <a16:creationId xmlns:a16="http://schemas.microsoft.com/office/drawing/2014/main" id="{47635B9E-DD22-6947-F89E-726167DD1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1614488"/>
            <a:ext cx="2413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Compound condition:</a:t>
            </a:r>
          </a:p>
        </p:txBody>
      </p:sp>
      <p:sp>
        <p:nvSpPr>
          <p:cNvPr id="742434" name="Text Box 34">
            <a:extLst>
              <a:ext uri="{FF2B5EF4-FFF2-40B4-BE49-F238E27FC236}">
                <a16:creationId xmlns:a16="http://schemas.microsoft.com/office/drawing/2014/main" id="{85356EE0-E957-136C-B639-9DEF44648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" y="2311400"/>
            <a:ext cx="21526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if (A) then D;</a:t>
            </a:r>
          </a:p>
        </p:txBody>
      </p:sp>
      <p:sp>
        <p:nvSpPr>
          <p:cNvPr id="742435" name="Text Box 35">
            <a:extLst>
              <a:ext uri="{FF2B5EF4-FFF2-40B4-BE49-F238E27FC236}">
                <a16:creationId xmlns:a16="http://schemas.microsoft.com/office/drawing/2014/main" id="{71D645A9-AC95-B86D-E951-2A809E639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088" y="2220913"/>
            <a:ext cx="29146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if (A OR B) then D;</a:t>
            </a:r>
          </a:p>
        </p:txBody>
      </p:sp>
      <p:sp>
        <p:nvSpPr>
          <p:cNvPr id="742439" name="Text Box 39">
            <a:extLst>
              <a:ext uri="{FF2B5EF4-FFF2-40B4-BE49-F238E27FC236}">
                <a16:creationId xmlns:a16="http://schemas.microsoft.com/office/drawing/2014/main" id="{2B5C1E30-3918-7B98-878C-9581628DA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4476750"/>
            <a:ext cx="494823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BUT, compound condition can be written as a nested IF:</a:t>
            </a:r>
          </a:p>
        </p:txBody>
      </p:sp>
      <p:sp>
        <p:nvSpPr>
          <p:cNvPr id="742440" name="Text Box 40">
            <a:extLst>
              <a:ext uri="{FF2B5EF4-FFF2-40B4-BE49-F238E27FC236}">
                <a16:creationId xmlns:a16="http://schemas.microsoft.com/office/drawing/2014/main" id="{925869BE-8B1D-0D90-D15E-DBDBF7E11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175" y="5133975"/>
            <a:ext cx="29146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if (A) then D;</a:t>
            </a:r>
          </a:p>
          <a:p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else if (B) then D;</a:t>
            </a:r>
          </a:p>
        </p:txBody>
      </p:sp>
      <p:sp>
        <p:nvSpPr>
          <p:cNvPr id="742442" name="Text Box 42">
            <a:extLst>
              <a:ext uri="{FF2B5EF4-FFF2-40B4-BE49-F238E27FC236}">
                <a16:creationId xmlns:a16="http://schemas.microsoft.com/office/drawing/2014/main" id="{455D8695-E236-A03B-43FB-A69415909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6513" y="3317875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742446" name="Line 46">
            <a:extLst>
              <a:ext uri="{FF2B5EF4-FFF2-40B4-BE49-F238E27FC236}">
                <a16:creationId xmlns:a16="http://schemas.microsoft.com/office/drawing/2014/main" id="{DF9C33AF-4C26-C82F-D18F-155B9C956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2963" y="4516438"/>
            <a:ext cx="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2449" name="Text Box 49">
            <a:extLst>
              <a:ext uri="{FF2B5EF4-FFF2-40B4-BE49-F238E27FC236}">
                <a16:creationId xmlns:a16="http://schemas.microsoft.com/office/drawing/2014/main" id="{96475873-B66C-4E50-D053-07C745659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213" y="4687888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42451" name="AutoShape 51">
            <a:extLst>
              <a:ext uri="{FF2B5EF4-FFF2-40B4-BE49-F238E27FC236}">
                <a16:creationId xmlns:a16="http://schemas.microsoft.com/office/drawing/2014/main" id="{C181B5B2-E4C4-7FAA-BA75-CA82CCF2C1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1338" y="4662488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A ?</a:t>
            </a:r>
          </a:p>
        </p:txBody>
      </p:sp>
      <p:sp>
        <p:nvSpPr>
          <p:cNvPr id="742453" name="AutoShape 53">
            <a:extLst>
              <a:ext uri="{FF2B5EF4-FFF2-40B4-BE49-F238E27FC236}">
                <a16:creationId xmlns:a16="http://schemas.microsoft.com/office/drawing/2014/main" id="{94D27A36-173A-3ADA-60CD-F1D97AE6A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5053013"/>
            <a:ext cx="466725" cy="255587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742454" name="AutoShape 54">
            <a:extLst>
              <a:ext uri="{FF2B5EF4-FFF2-40B4-BE49-F238E27FC236}">
                <a16:creationId xmlns:a16="http://schemas.microsoft.com/office/drawing/2014/main" id="{8E5123C5-B555-642B-2FE5-7842FBA21D6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146925" y="4581525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55" name="AutoShape 55">
            <a:extLst>
              <a:ext uri="{FF2B5EF4-FFF2-40B4-BE49-F238E27FC236}">
                <a16:creationId xmlns:a16="http://schemas.microsoft.com/office/drawing/2014/main" id="{E20A1603-5A22-5C53-A01A-B11F9ECF950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715125" y="4970463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63" name="Text Box 63">
            <a:extLst>
              <a:ext uri="{FF2B5EF4-FFF2-40B4-BE49-F238E27FC236}">
                <a16:creationId xmlns:a16="http://schemas.microsoft.com/office/drawing/2014/main" id="{531178F2-6996-122B-10C2-66F62EF84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3600" y="5078413"/>
            <a:ext cx="968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42464" name="Text Box 64">
            <a:extLst>
              <a:ext uri="{FF2B5EF4-FFF2-40B4-BE49-F238E27FC236}">
                <a16:creationId xmlns:a16="http://schemas.microsoft.com/office/drawing/2014/main" id="{10189516-1632-34AE-2AFB-9B2406384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313" y="5480050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742465" name="AutoShape 65">
            <a:extLst>
              <a:ext uri="{FF2B5EF4-FFF2-40B4-BE49-F238E27FC236}">
                <a16:creationId xmlns:a16="http://schemas.microsoft.com/office/drawing/2014/main" id="{4FB566F6-BB9C-C4D6-FEE9-71C5612EAE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24725" y="5053013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B ?</a:t>
            </a:r>
          </a:p>
        </p:txBody>
      </p:sp>
      <p:sp>
        <p:nvSpPr>
          <p:cNvPr id="742466" name="AutoShape 66">
            <a:extLst>
              <a:ext uri="{FF2B5EF4-FFF2-40B4-BE49-F238E27FC236}">
                <a16:creationId xmlns:a16="http://schemas.microsoft.com/office/drawing/2014/main" id="{19C53A01-0C66-3F19-F6EF-1D0E26E28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0" y="6034088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42467" name="AutoShape 67">
            <a:extLst>
              <a:ext uri="{FF2B5EF4-FFF2-40B4-BE49-F238E27FC236}">
                <a16:creationId xmlns:a16="http://schemas.microsoft.com/office/drawing/2014/main" id="{6E6BEB3C-D5A7-78BD-6033-D56BFB67E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0" y="5443538"/>
            <a:ext cx="466725" cy="255587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742469" name="AutoShape 69">
            <a:extLst>
              <a:ext uri="{FF2B5EF4-FFF2-40B4-BE49-F238E27FC236}">
                <a16:creationId xmlns:a16="http://schemas.microsoft.com/office/drawing/2014/main" id="{E3E0BB9A-D5D9-945E-5486-C6F928F0347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146925" y="5360988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70" name="AutoShape 70">
            <a:extLst>
              <a:ext uri="{FF2B5EF4-FFF2-40B4-BE49-F238E27FC236}">
                <a16:creationId xmlns:a16="http://schemas.microsoft.com/office/drawing/2014/main" id="{1B5F1FE0-58BE-C966-F705-2BAB224FE3F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146925" y="5951538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75" name="Text Box 75">
            <a:extLst>
              <a:ext uri="{FF2B5EF4-FFF2-40B4-BE49-F238E27FC236}">
                <a16:creationId xmlns:a16="http://schemas.microsoft.com/office/drawing/2014/main" id="{06781F00-B075-A08E-5FEF-FBD76E8D5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938" y="4687888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742478" name="AutoShape 78">
            <a:extLst>
              <a:ext uri="{FF2B5EF4-FFF2-40B4-BE49-F238E27FC236}">
                <a16:creationId xmlns:a16="http://schemas.microsoft.com/office/drawing/2014/main" id="{AF66344A-4CCD-E05A-97B8-DCF90DA1476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578725" y="4970463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C2FA2C4-3AFA-CFD5-FAC3-AC75A0CB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74BEC-8467-AB49-BB07-55DCEEB9C2F5}" type="slidenum">
              <a:rPr lang="en-US" altLang="en-US"/>
              <a:pPr/>
              <a:t>19</a:t>
            </a:fld>
            <a:endParaRPr lang="en-US" altLang="en-US"/>
          </a:p>
        </p:txBody>
      </p:sp>
      <p:cxnSp>
        <p:nvCxnSpPr>
          <p:cNvPr id="743525" name="AutoShape 101">
            <a:extLst>
              <a:ext uri="{FF2B5EF4-FFF2-40B4-BE49-F238E27FC236}">
                <a16:creationId xmlns:a16="http://schemas.microsoft.com/office/drawing/2014/main" id="{1A998A7B-5D05-3A07-CAA3-C6223BDF2694}"/>
              </a:ext>
            </a:extLst>
          </p:cNvPr>
          <p:cNvCxnSpPr>
            <a:cxnSpLocks noChangeAspect="1" noChangeShapeType="1"/>
            <a:stCxn id="743516" idx="2"/>
            <a:endCxn id="743494" idx="2"/>
          </p:cNvCxnSpPr>
          <p:nvPr/>
        </p:nvCxnSpPr>
        <p:spPr bwMode="auto">
          <a:xfrm rot="16200000" flipV="1">
            <a:off x="6552407" y="2993231"/>
            <a:ext cx="673100" cy="1598613"/>
          </a:xfrm>
          <a:prstGeom prst="bentConnector3">
            <a:avLst>
              <a:gd name="adj1" fmla="val -4788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3523" name="AutoShape 99">
            <a:extLst>
              <a:ext uri="{FF2B5EF4-FFF2-40B4-BE49-F238E27FC236}">
                <a16:creationId xmlns:a16="http://schemas.microsoft.com/office/drawing/2014/main" id="{44218C71-D7B9-806F-14F2-4E6EDEDFDA1A}"/>
              </a:ext>
            </a:extLst>
          </p:cNvPr>
          <p:cNvCxnSpPr>
            <a:cxnSpLocks noChangeAspect="1" noChangeShapeType="1"/>
            <a:stCxn id="743501" idx="2"/>
            <a:endCxn id="743518" idx="2"/>
          </p:cNvCxnSpPr>
          <p:nvPr/>
        </p:nvCxnSpPr>
        <p:spPr bwMode="auto">
          <a:xfrm rot="16200000" flipH="1">
            <a:off x="6623844" y="3744119"/>
            <a:ext cx="528637" cy="733425"/>
          </a:xfrm>
          <a:prstGeom prst="bentConnector3">
            <a:avLst>
              <a:gd name="adj1" fmla="val 11471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3427" name="Rectangle 3">
            <a:extLst>
              <a:ext uri="{FF2B5EF4-FFF2-40B4-BE49-F238E27FC236}">
                <a16:creationId xmlns:a16="http://schemas.microsoft.com/office/drawing/2014/main" id="{1166F9C1-345A-46A0-5635-3111FDE76E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Issues (4)</a:t>
            </a:r>
          </a:p>
        </p:txBody>
      </p:sp>
      <p:sp>
        <p:nvSpPr>
          <p:cNvPr id="743428" name="Text Box 4">
            <a:extLst>
              <a:ext uri="{FF2B5EF4-FFF2-40B4-BE49-F238E27FC236}">
                <a16:creationId xmlns:a16="http://schemas.microsoft.com/office/drawing/2014/main" id="{493B3968-C07C-A557-82CC-B2A63B865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63" y="3063875"/>
            <a:ext cx="1946275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4400">
                <a:latin typeface="Arial" panose="020B0604020202020204" pitchFamily="34" charset="0"/>
              </a:rPr>
              <a:t>= CC = </a:t>
            </a:r>
          </a:p>
        </p:txBody>
      </p:sp>
      <p:sp>
        <p:nvSpPr>
          <p:cNvPr id="743455" name="Text Box 31">
            <a:extLst>
              <a:ext uri="{FF2B5EF4-FFF2-40B4-BE49-F238E27FC236}">
                <a16:creationId xmlns:a16="http://schemas.microsoft.com/office/drawing/2014/main" id="{493787F7-0CB3-9E27-A570-B049D80BF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4767263"/>
            <a:ext cx="8428038" cy="164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0" rIns="9144" bIns="0">
            <a:spAutoFit/>
          </a:bodyPr>
          <a:lstStyle/>
          <a:p>
            <a:r>
              <a:rPr lang="en-US" altLang="en-US" sz="2000" u="sng">
                <a:latin typeface="Comic Sans MS" panose="030F0902030302020204" pitchFamily="66" charset="0"/>
              </a:rPr>
              <a:t>Counting a </a:t>
            </a:r>
            <a:r>
              <a:rPr lang="en-US" altLang="en-US" sz="2000" b="1" u="sng">
                <a:latin typeface="Comic Sans MS" panose="030F0902030302020204" pitchFamily="66" charset="0"/>
              </a:rPr>
              <a:t>switch</a:t>
            </a:r>
            <a:r>
              <a:rPr lang="en-US" altLang="en-US" sz="2000" u="sng">
                <a:latin typeface="Comic Sans MS" panose="030F0902030302020204" pitchFamily="66" charset="0"/>
              </a:rPr>
              <a:t> statement</a:t>
            </a:r>
            <a:r>
              <a:rPr lang="en-US" altLang="en-US" sz="2000">
                <a:latin typeface="Comic Sans MS" panose="030F0902030302020204" pitchFamily="66" charset="0"/>
              </a:rPr>
              <a:t>:</a:t>
            </a:r>
          </a:p>
          <a:p>
            <a:r>
              <a:rPr lang="en-US" altLang="en-US" sz="2000">
                <a:latin typeface="Comic Sans MS" panose="030F0902030302020204" pitchFamily="66" charset="0"/>
              </a:rPr>
              <a:t>	—as a single decision</a:t>
            </a:r>
            <a:br>
              <a:rPr lang="en-US" altLang="en-US" sz="2000">
                <a:latin typeface="Comic Sans MS" panose="030F0902030302020204" pitchFamily="66" charset="0"/>
              </a:rPr>
            </a:br>
            <a:r>
              <a:rPr lang="en-US" altLang="en-US" sz="1200">
                <a:latin typeface="Comic Sans MS" panose="030F0902030302020204" pitchFamily="66" charset="0"/>
              </a:rPr>
              <a:t>proposed by W. J. Hansen, “Measurement of program complexity by the pair (cyclomatic number, operator count),” </a:t>
            </a:r>
            <a:r>
              <a:rPr lang="en-US" altLang="en-US" sz="1200" i="1">
                <a:latin typeface="Comic Sans MS" panose="030F0902030302020204" pitchFamily="66" charset="0"/>
              </a:rPr>
              <a:t>SIGPLAN Notices</a:t>
            </a:r>
            <a:r>
              <a:rPr lang="en-US" altLang="en-US" sz="1200">
                <a:latin typeface="Comic Sans MS" panose="030F0902030302020204" pitchFamily="66" charset="0"/>
              </a:rPr>
              <a:t>, vol.13, no.3, pp.29-33, March 1978.</a:t>
            </a:r>
          </a:p>
          <a:p>
            <a:r>
              <a:rPr lang="en-US" altLang="en-US" sz="2000">
                <a:latin typeface="Comic Sans MS" panose="030F0902030302020204" pitchFamily="66" charset="0"/>
              </a:rPr>
              <a:t>	 —as log</a:t>
            </a:r>
            <a:r>
              <a:rPr lang="en-US" altLang="en-US" sz="2000" baseline="-25000">
                <a:latin typeface="Comic Sans MS" panose="030F0902030302020204" pitchFamily="66" charset="0"/>
              </a:rPr>
              <a:t>2</a:t>
            </a:r>
            <a:r>
              <a:rPr lang="en-US" altLang="en-US" sz="2000">
                <a:latin typeface="Comic Sans MS" panose="030F0902030302020204" pitchFamily="66" charset="0"/>
              </a:rPr>
              <a:t>(N) relationship</a:t>
            </a:r>
          </a:p>
          <a:p>
            <a:r>
              <a:rPr lang="en-US" altLang="en-US" sz="1200">
                <a:latin typeface="Comic Sans MS" panose="030F0902030302020204" pitchFamily="66" charset="0"/>
              </a:rPr>
              <a:t>proposed by V. Basili and R. Reiter, “Evaluating automatable measures for software development,” </a:t>
            </a:r>
            <a:r>
              <a:rPr lang="en-US" altLang="en-US" sz="1200" i="1">
                <a:latin typeface="Comic Sans MS" panose="030F0902030302020204" pitchFamily="66" charset="0"/>
              </a:rPr>
              <a:t>Proceedings of the IEEE Workshop on Quantitative Software Models for Reliability, Complexity and Cost</a:t>
            </a:r>
            <a:r>
              <a:rPr lang="en-US" altLang="en-US" sz="1200">
                <a:latin typeface="Comic Sans MS" panose="030F0902030302020204" pitchFamily="66" charset="0"/>
              </a:rPr>
              <a:t>, pp.107-116, October 1979.</a:t>
            </a:r>
          </a:p>
        </p:txBody>
      </p:sp>
      <p:sp>
        <p:nvSpPr>
          <p:cNvPr id="743456" name="Text Box 32">
            <a:extLst>
              <a:ext uri="{FF2B5EF4-FFF2-40B4-BE49-F238E27FC236}">
                <a16:creationId xmlns:a16="http://schemas.microsoft.com/office/drawing/2014/main" id="{E745D807-6BE8-31EB-3593-44C26835E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8" y="2011363"/>
            <a:ext cx="28844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Switch/Case statement:</a:t>
            </a:r>
          </a:p>
        </p:txBody>
      </p:sp>
      <p:sp>
        <p:nvSpPr>
          <p:cNvPr id="743457" name="Text Box 33">
            <a:extLst>
              <a:ext uri="{FF2B5EF4-FFF2-40B4-BE49-F238E27FC236}">
                <a16:creationId xmlns:a16="http://schemas.microsoft.com/office/drawing/2014/main" id="{60673269-FEB4-F5E3-9CE9-6604DDAD6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2011363"/>
            <a:ext cx="18907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N</a:t>
            </a:r>
            <a:r>
              <a:rPr lang="en-US" altLang="en-US" sz="2000">
                <a:latin typeface="Comic Sans MS" panose="030F0902030302020204" pitchFamily="66" charset="0"/>
                <a:sym typeface="Symbol" pitchFamily="2" charset="2"/>
              </a:rPr>
              <a:t>1 predicates:</a:t>
            </a:r>
          </a:p>
        </p:txBody>
      </p:sp>
      <p:cxnSp>
        <p:nvCxnSpPr>
          <p:cNvPr id="743486" name="AutoShape 62">
            <a:extLst>
              <a:ext uri="{FF2B5EF4-FFF2-40B4-BE49-F238E27FC236}">
                <a16:creationId xmlns:a16="http://schemas.microsoft.com/office/drawing/2014/main" id="{B2138A87-B2A1-FEEE-3B64-76B7261C43F9}"/>
              </a:ext>
            </a:extLst>
          </p:cNvPr>
          <p:cNvCxnSpPr>
            <a:cxnSpLocks noChangeAspect="1" noChangeShapeType="1"/>
            <a:stCxn id="743493" idx="1"/>
            <a:endCxn id="743496" idx="3"/>
          </p:cNvCxnSpPr>
          <p:nvPr/>
        </p:nvCxnSpPr>
        <p:spPr bwMode="auto">
          <a:xfrm rot="10800000" flipV="1">
            <a:off x="6089650" y="3009900"/>
            <a:ext cx="130175" cy="10953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3488" name="AutoShape 64">
            <a:extLst>
              <a:ext uri="{FF2B5EF4-FFF2-40B4-BE49-F238E27FC236}">
                <a16:creationId xmlns:a16="http://schemas.microsoft.com/office/drawing/2014/main" id="{E59D28BB-35B8-28FC-9E1D-C94E22B98D47}"/>
              </a:ext>
            </a:extLst>
          </p:cNvPr>
          <p:cNvCxnSpPr>
            <a:cxnSpLocks noChangeAspect="1" noChangeShapeType="1"/>
            <a:stCxn id="743493" idx="3"/>
            <a:endCxn id="743505" idx="3"/>
          </p:cNvCxnSpPr>
          <p:nvPr/>
        </p:nvCxnSpPr>
        <p:spPr bwMode="auto">
          <a:xfrm>
            <a:off x="6823075" y="3009900"/>
            <a:ext cx="130175" cy="10953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3489" name="Line 65">
            <a:extLst>
              <a:ext uri="{FF2B5EF4-FFF2-40B4-BE49-F238E27FC236}">
                <a16:creationId xmlns:a16="http://schemas.microsoft.com/office/drawing/2014/main" id="{43093B63-F6C6-BA32-409A-18621B1F1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8050" y="3400425"/>
            <a:ext cx="136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743490" name="AutoShape 66">
            <a:extLst>
              <a:ext uri="{FF2B5EF4-FFF2-40B4-BE49-F238E27FC236}">
                <a16:creationId xmlns:a16="http://schemas.microsoft.com/office/drawing/2014/main" id="{1C4904E6-621E-0E1F-A6A7-8830BF9740A8}"/>
              </a:ext>
            </a:extLst>
          </p:cNvPr>
          <p:cNvCxnSpPr>
            <a:cxnSpLocks noChangeAspect="1" noChangeShapeType="1"/>
            <a:stCxn id="743499" idx="1"/>
            <a:endCxn id="743502" idx="3"/>
          </p:cNvCxnSpPr>
          <p:nvPr/>
        </p:nvCxnSpPr>
        <p:spPr bwMode="auto">
          <a:xfrm rot="10800000" flipV="1">
            <a:off x="6521450" y="3400425"/>
            <a:ext cx="131763" cy="10953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3491" name="Line 67">
            <a:extLst>
              <a:ext uri="{FF2B5EF4-FFF2-40B4-BE49-F238E27FC236}">
                <a16:creationId xmlns:a16="http://schemas.microsoft.com/office/drawing/2014/main" id="{E6FFF5E7-F39B-3B25-AF75-164201C4B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1450" y="2663825"/>
            <a:ext cx="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3492" name="Text Box 68">
            <a:extLst>
              <a:ext uri="{FF2B5EF4-FFF2-40B4-BE49-F238E27FC236}">
                <a16:creationId xmlns:a16="http://schemas.microsoft.com/office/drawing/2014/main" id="{7FD2BA50-85D8-D9AA-20CE-5B6E1CCF1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700" y="2835275"/>
            <a:ext cx="968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43493" name="AutoShape 69">
            <a:extLst>
              <a:ext uri="{FF2B5EF4-FFF2-40B4-BE49-F238E27FC236}">
                <a16:creationId xmlns:a16="http://schemas.microsoft.com/office/drawing/2014/main" id="{FAE20FAD-EBC7-376E-8C3A-345F40F095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9825" y="2809875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864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expr=1</a:t>
            </a:r>
          </a:p>
          <a:p>
            <a:pPr algn="ctr"/>
            <a:r>
              <a:rPr lang="en-US" altLang="en-US" sz="1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743494" name="AutoShape 70">
            <a:extLst>
              <a:ext uri="{FF2B5EF4-FFF2-40B4-BE49-F238E27FC236}">
                <a16:creationId xmlns:a16="http://schemas.microsoft.com/office/drawing/2014/main" id="{D2AC4CF0-251A-85D3-4959-438EF8EEE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288" y="3200400"/>
            <a:ext cx="466725" cy="255588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statm1</a:t>
            </a:r>
          </a:p>
        </p:txBody>
      </p:sp>
      <p:sp>
        <p:nvSpPr>
          <p:cNvPr id="743495" name="AutoShape 71">
            <a:extLst>
              <a:ext uri="{FF2B5EF4-FFF2-40B4-BE49-F238E27FC236}">
                <a16:creationId xmlns:a16="http://schemas.microsoft.com/office/drawing/2014/main" id="{D63BD505-E610-E4B5-F5E0-EA9402C4B31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475413" y="2728913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96" name="AutoShape 72">
            <a:extLst>
              <a:ext uri="{FF2B5EF4-FFF2-40B4-BE49-F238E27FC236}">
                <a16:creationId xmlns:a16="http://schemas.microsoft.com/office/drawing/2014/main" id="{9BED053F-8D7F-4E5B-00D1-4546D8DEAE9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043613" y="3117850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97" name="Text Box 73">
            <a:extLst>
              <a:ext uri="{FF2B5EF4-FFF2-40B4-BE49-F238E27FC236}">
                <a16:creationId xmlns:a16="http://schemas.microsoft.com/office/drawing/2014/main" id="{A9BDBABE-C547-0C03-1EAB-95C445F81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088" y="3225800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43499" name="AutoShape 75">
            <a:extLst>
              <a:ext uri="{FF2B5EF4-FFF2-40B4-BE49-F238E27FC236}">
                <a16:creationId xmlns:a16="http://schemas.microsoft.com/office/drawing/2014/main" id="{7C5F61CB-32FA-294A-62F1-2F62E8924A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53213" y="3200400"/>
            <a:ext cx="603250" cy="400050"/>
          </a:xfrm>
          <a:prstGeom prst="flowChartDecision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864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expr=2</a:t>
            </a:r>
          </a:p>
          <a:p>
            <a:pPr algn="ctr"/>
            <a:r>
              <a:rPr lang="en-US" altLang="en-US" sz="1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743501" name="AutoShape 77">
            <a:extLst>
              <a:ext uri="{FF2B5EF4-FFF2-40B4-BE49-F238E27FC236}">
                <a16:creationId xmlns:a16="http://schemas.microsoft.com/office/drawing/2014/main" id="{D1CFFBC3-13D3-DC5A-239B-B697C3DF7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3590925"/>
            <a:ext cx="466725" cy="255588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statm2</a:t>
            </a:r>
          </a:p>
        </p:txBody>
      </p:sp>
      <p:sp>
        <p:nvSpPr>
          <p:cNvPr id="743502" name="AutoShape 78">
            <a:extLst>
              <a:ext uri="{FF2B5EF4-FFF2-40B4-BE49-F238E27FC236}">
                <a16:creationId xmlns:a16="http://schemas.microsoft.com/office/drawing/2014/main" id="{F7B1A871-BC55-3FAD-FC38-C691EADA19B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475413" y="3508375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04" name="Text Box 80">
            <a:extLst>
              <a:ext uri="{FF2B5EF4-FFF2-40B4-BE49-F238E27FC236}">
                <a16:creationId xmlns:a16="http://schemas.microsoft.com/office/drawing/2014/main" id="{421A71CC-945E-5358-2B27-79BB5D449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9425" y="2835275"/>
            <a:ext cx="968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743505" name="AutoShape 81">
            <a:extLst>
              <a:ext uri="{FF2B5EF4-FFF2-40B4-BE49-F238E27FC236}">
                <a16:creationId xmlns:a16="http://schemas.microsoft.com/office/drawing/2014/main" id="{D3342C2C-2466-F739-4AAC-FBC699F585A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907213" y="3117850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08" name="Line 84">
            <a:extLst>
              <a:ext uri="{FF2B5EF4-FFF2-40B4-BE49-F238E27FC236}">
                <a16:creationId xmlns:a16="http://schemas.microsoft.com/office/drawing/2014/main" id="{A3A518FC-27F9-EEF4-26E4-9D51A5D6C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4013" y="2663825"/>
            <a:ext cx="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3480" name="Line 56">
            <a:extLst>
              <a:ext uri="{FF2B5EF4-FFF2-40B4-BE49-F238E27FC236}">
                <a16:creationId xmlns:a16="http://schemas.microsoft.com/office/drawing/2014/main" id="{4B8A11B8-9F2B-CB9A-50D2-BD94D530FD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4950" y="3128963"/>
            <a:ext cx="0" cy="147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743462" name="AutoShape 38">
            <a:extLst>
              <a:ext uri="{FF2B5EF4-FFF2-40B4-BE49-F238E27FC236}">
                <a16:creationId xmlns:a16="http://schemas.microsoft.com/office/drawing/2014/main" id="{744EC6DD-6010-9876-B225-602090125913}"/>
              </a:ext>
            </a:extLst>
          </p:cNvPr>
          <p:cNvCxnSpPr>
            <a:cxnSpLocks noChangeAspect="1" noChangeShapeType="1"/>
            <a:stCxn id="743471" idx="2"/>
            <a:endCxn id="743472" idx="2"/>
          </p:cNvCxnSpPr>
          <p:nvPr/>
        </p:nvCxnSpPr>
        <p:spPr bwMode="auto">
          <a:xfrm rot="16200000" flipH="1">
            <a:off x="1623219" y="2882107"/>
            <a:ext cx="1587" cy="1447800"/>
          </a:xfrm>
          <a:prstGeom prst="bentConnector3">
            <a:avLst>
              <a:gd name="adj1" fmla="val 63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3475" name="AutoShape 51">
            <a:extLst>
              <a:ext uri="{FF2B5EF4-FFF2-40B4-BE49-F238E27FC236}">
                <a16:creationId xmlns:a16="http://schemas.microsoft.com/office/drawing/2014/main" id="{ED8D0099-35C0-FC8C-9888-0698F5BDC6BE}"/>
              </a:ext>
            </a:extLst>
          </p:cNvPr>
          <p:cNvCxnSpPr>
            <a:cxnSpLocks noChangeAspect="1" noChangeShapeType="1"/>
            <a:stCxn id="743470" idx="2"/>
            <a:endCxn id="743474" idx="3"/>
          </p:cNvCxnSpPr>
          <p:nvPr/>
        </p:nvCxnSpPr>
        <p:spPr bwMode="auto">
          <a:xfrm rot="16200000" flipH="1">
            <a:off x="1464469" y="3644106"/>
            <a:ext cx="200025" cy="119063"/>
          </a:xfrm>
          <a:prstGeom prst="bentConnector3">
            <a:avLst>
              <a:gd name="adj1" fmla="val 4920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3459" name="AutoShape 35">
            <a:extLst>
              <a:ext uri="{FF2B5EF4-FFF2-40B4-BE49-F238E27FC236}">
                <a16:creationId xmlns:a16="http://schemas.microsoft.com/office/drawing/2014/main" id="{964CB4DE-89BE-14B5-7792-B4A5A19CF3D4}"/>
              </a:ext>
            </a:extLst>
          </p:cNvPr>
          <p:cNvCxnSpPr>
            <a:cxnSpLocks noChangeAspect="1" noChangeShapeType="1"/>
            <a:stCxn id="743468" idx="3"/>
            <a:endCxn id="743478" idx="3"/>
          </p:cNvCxnSpPr>
          <p:nvPr/>
        </p:nvCxnSpPr>
        <p:spPr bwMode="auto">
          <a:xfrm>
            <a:off x="1925638" y="3008313"/>
            <a:ext cx="422275" cy="263525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3460" name="AutoShape 36">
            <a:extLst>
              <a:ext uri="{FF2B5EF4-FFF2-40B4-BE49-F238E27FC236}">
                <a16:creationId xmlns:a16="http://schemas.microsoft.com/office/drawing/2014/main" id="{2C60447E-9D92-3461-35CA-D808B5E0B331}"/>
              </a:ext>
            </a:extLst>
          </p:cNvPr>
          <p:cNvCxnSpPr>
            <a:cxnSpLocks noChangeAspect="1" noChangeShapeType="1"/>
            <a:stCxn id="743468" idx="1"/>
            <a:endCxn id="743476" idx="3"/>
          </p:cNvCxnSpPr>
          <p:nvPr/>
        </p:nvCxnSpPr>
        <p:spPr bwMode="auto">
          <a:xfrm rot="10800000" flipV="1">
            <a:off x="900113" y="3008313"/>
            <a:ext cx="422275" cy="263525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3465" name="Text Box 41">
            <a:extLst>
              <a:ext uri="{FF2B5EF4-FFF2-40B4-BE49-F238E27FC236}">
                <a16:creationId xmlns:a16="http://schemas.microsoft.com/office/drawing/2014/main" id="{6695350E-A519-5ABE-2051-31EC6148C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950" y="3113088"/>
            <a:ext cx="889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43466" name="Text Box 42">
            <a:extLst>
              <a:ext uri="{FF2B5EF4-FFF2-40B4-BE49-F238E27FC236}">
                <a16:creationId xmlns:a16="http://schemas.microsoft.com/office/drawing/2014/main" id="{E1A16617-DA99-B2DB-7068-210FF9932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563" y="2808288"/>
            <a:ext cx="889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43467" name="Text Box 43">
            <a:extLst>
              <a:ext uri="{FF2B5EF4-FFF2-40B4-BE49-F238E27FC236}">
                <a16:creationId xmlns:a16="http://schemas.microsoft.com/office/drawing/2014/main" id="{9DBE5B06-9E7C-64BE-D8CF-FB9178AB9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388" y="2808288"/>
            <a:ext cx="1111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743468" name="AutoShape 44">
            <a:extLst>
              <a:ext uri="{FF2B5EF4-FFF2-40B4-BE49-F238E27FC236}">
                <a16:creationId xmlns:a16="http://schemas.microsoft.com/office/drawing/2014/main" id="{92A84A61-C279-2DB2-5345-9FE8A5396A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22388" y="2808288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864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expr</a:t>
            </a:r>
          </a:p>
          <a:p>
            <a:pPr algn="ctr"/>
            <a:r>
              <a:rPr lang="en-US" altLang="en-US" sz="1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743470" name="AutoShape 46">
            <a:extLst>
              <a:ext uri="{FF2B5EF4-FFF2-40B4-BE49-F238E27FC236}">
                <a16:creationId xmlns:a16="http://schemas.microsoft.com/office/drawing/2014/main" id="{99C96848-B9F2-D034-04B0-E6134ADAD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3351213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statm2</a:t>
            </a:r>
          </a:p>
        </p:txBody>
      </p:sp>
      <p:sp>
        <p:nvSpPr>
          <p:cNvPr id="743471" name="AutoShape 47">
            <a:extLst>
              <a:ext uri="{FF2B5EF4-FFF2-40B4-BE49-F238E27FC236}">
                <a16:creationId xmlns:a16="http://schemas.microsoft.com/office/drawing/2014/main" id="{770CC021-4E98-84B0-18CD-392EF3986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3352800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statm1</a:t>
            </a:r>
          </a:p>
        </p:txBody>
      </p:sp>
      <p:sp>
        <p:nvSpPr>
          <p:cNvPr id="743472" name="AutoShape 48">
            <a:extLst>
              <a:ext uri="{FF2B5EF4-FFF2-40B4-BE49-F238E27FC236}">
                <a16:creationId xmlns:a16="http://schemas.microsoft.com/office/drawing/2014/main" id="{9B24F695-C223-5315-E938-F67AAD15B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3352800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statmN</a:t>
            </a:r>
          </a:p>
        </p:txBody>
      </p:sp>
      <p:sp>
        <p:nvSpPr>
          <p:cNvPr id="743473" name="Rectangle 49">
            <a:extLst>
              <a:ext uri="{FF2B5EF4-FFF2-40B4-BE49-F238E27FC236}">
                <a16:creationId xmlns:a16="http://schemas.microsoft.com/office/drawing/2014/main" id="{8340B1B6-C54D-AC91-177E-B2BE5579B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884613"/>
            <a:ext cx="466725" cy="2555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74" name="AutoShape 50">
            <a:extLst>
              <a:ext uri="{FF2B5EF4-FFF2-40B4-BE49-F238E27FC236}">
                <a16:creationId xmlns:a16="http://schemas.microsoft.com/office/drawing/2014/main" id="{836F04AF-577D-6BD8-2399-E3F19D3094C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577975" y="3802063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76" name="AutoShape 52">
            <a:extLst>
              <a:ext uri="{FF2B5EF4-FFF2-40B4-BE49-F238E27FC236}">
                <a16:creationId xmlns:a16="http://schemas.microsoft.com/office/drawing/2014/main" id="{A5761B69-274B-C741-396A-FED1BD20728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54075" y="3270250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77" name="AutoShape 53">
            <a:extLst>
              <a:ext uri="{FF2B5EF4-FFF2-40B4-BE49-F238E27FC236}">
                <a16:creationId xmlns:a16="http://schemas.microsoft.com/office/drawing/2014/main" id="{71B2E67A-5E71-3859-20D9-F8B23FA17DB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458913" y="3270250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478" name="AutoShape 54">
            <a:extLst>
              <a:ext uri="{FF2B5EF4-FFF2-40B4-BE49-F238E27FC236}">
                <a16:creationId xmlns:a16="http://schemas.microsoft.com/office/drawing/2014/main" id="{E5DCDFED-7986-C7DA-EC8F-D3EE2D61ABE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301875" y="3270250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43485" name="Group 61">
            <a:extLst>
              <a:ext uri="{FF2B5EF4-FFF2-40B4-BE49-F238E27FC236}">
                <a16:creationId xmlns:a16="http://schemas.microsoft.com/office/drawing/2014/main" id="{C4BE3ECD-BCF8-BF5F-AFC2-04D48DE0D196}"/>
              </a:ext>
            </a:extLst>
          </p:cNvPr>
          <p:cNvGrpSpPr>
            <a:grpSpLocks/>
          </p:cNvGrpSpPr>
          <p:nvPr/>
        </p:nvGrpSpPr>
        <p:grpSpPr bwMode="auto">
          <a:xfrm>
            <a:off x="1793875" y="3433763"/>
            <a:ext cx="265113" cy="55562"/>
            <a:chOff x="1135" y="2341"/>
            <a:chExt cx="167" cy="35"/>
          </a:xfrm>
        </p:grpSpPr>
        <p:sp>
          <p:nvSpPr>
            <p:cNvPr id="743481" name="Oval 57">
              <a:extLst>
                <a:ext uri="{FF2B5EF4-FFF2-40B4-BE49-F238E27FC236}">
                  <a16:creationId xmlns:a16="http://schemas.microsoft.com/office/drawing/2014/main" id="{29F2BA31-A545-D0BC-7AC7-1C42CE46C4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35" y="2341"/>
              <a:ext cx="35" cy="35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82" name="Oval 58">
              <a:extLst>
                <a:ext uri="{FF2B5EF4-FFF2-40B4-BE49-F238E27FC236}">
                  <a16:creationId xmlns:a16="http://schemas.microsoft.com/office/drawing/2014/main" id="{A3E08DE2-D0A3-4E75-D98E-707B6DCEFD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1" y="2341"/>
              <a:ext cx="35" cy="35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83" name="Oval 59">
              <a:extLst>
                <a:ext uri="{FF2B5EF4-FFF2-40B4-BE49-F238E27FC236}">
                  <a16:creationId xmlns:a16="http://schemas.microsoft.com/office/drawing/2014/main" id="{4A6262F5-F7A1-6CA1-C1BA-91C94AD334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67" y="2341"/>
              <a:ext cx="35" cy="35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3509" name="AutoShape 85">
            <a:extLst>
              <a:ext uri="{FF2B5EF4-FFF2-40B4-BE49-F238E27FC236}">
                <a16:creationId xmlns:a16="http://schemas.microsoft.com/office/drawing/2014/main" id="{27921EEF-751E-F881-FFBC-178B9076C4D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577975" y="2728913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43512" name="AutoShape 88">
            <a:extLst>
              <a:ext uri="{FF2B5EF4-FFF2-40B4-BE49-F238E27FC236}">
                <a16:creationId xmlns:a16="http://schemas.microsoft.com/office/drawing/2014/main" id="{7C355EA3-B88A-318A-7AF0-9097CCF46E41}"/>
              </a:ext>
            </a:extLst>
          </p:cNvPr>
          <p:cNvCxnSpPr>
            <a:cxnSpLocks noChangeAspect="1" noChangeShapeType="1"/>
            <a:endCxn id="743522" idx="3"/>
          </p:cNvCxnSpPr>
          <p:nvPr/>
        </p:nvCxnSpPr>
        <p:spPr bwMode="auto">
          <a:xfrm>
            <a:off x="7556500" y="3538538"/>
            <a:ext cx="130175" cy="109537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3514" name="AutoShape 90">
            <a:extLst>
              <a:ext uri="{FF2B5EF4-FFF2-40B4-BE49-F238E27FC236}">
                <a16:creationId xmlns:a16="http://schemas.microsoft.com/office/drawing/2014/main" id="{F4C6568D-6A2E-87EF-0CD4-EED9E040EEAE}"/>
              </a:ext>
            </a:extLst>
          </p:cNvPr>
          <p:cNvCxnSpPr>
            <a:cxnSpLocks noChangeAspect="1" noChangeShapeType="1"/>
            <a:stCxn id="743516" idx="1"/>
            <a:endCxn id="743519" idx="3"/>
          </p:cNvCxnSpPr>
          <p:nvPr/>
        </p:nvCxnSpPr>
        <p:spPr bwMode="auto">
          <a:xfrm rot="10800000" flipV="1">
            <a:off x="7254875" y="3929063"/>
            <a:ext cx="131763" cy="109537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3515" name="Text Box 91">
            <a:extLst>
              <a:ext uri="{FF2B5EF4-FFF2-40B4-BE49-F238E27FC236}">
                <a16:creationId xmlns:a16="http://schemas.microsoft.com/office/drawing/2014/main" id="{E29B13FF-C9BE-9A44-D2CA-EA34ED3C8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3" y="3754438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43516" name="AutoShape 92">
            <a:extLst>
              <a:ext uri="{FF2B5EF4-FFF2-40B4-BE49-F238E27FC236}">
                <a16:creationId xmlns:a16="http://schemas.microsoft.com/office/drawing/2014/main" id="{0328D919-0F69-16F5-05FC-3527203FE0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86638" y="3729038"/>
            <a:ext cx="603250" cy="400050"/>
          </a:xfrm>
          <a:prstGeom prst="flowChartDecision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864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expr=N</a:t>
            </a:r>
          </a:p>
          <a:p>
            <a:pPr algn="ctr"/>
            <a:r>
              <a:rPr lang="en-US" altLang="en-US" sz="1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743517" name="AutoShape 93">
            <a:extLst>
              <a:ext uri="{FF2B5EF4-FFF2-40B4-BE49-F238E27FC236}">
                <a16:creationId xmlns:a16="http://schemas.microsoft.com/office/drawing/2014/main" id="{34B74540-30F3-9C8B-3660-89824A424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4622800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43518" name="AutoShape 94">
            <a:extLst>
              <a:ext uri="{FF2B5EF4-FFF2-40B4-BE49-F238E27FC236}">
                <a16:creationId xmlns:a16="http://schemas.microsoft.com/office/drawing/2014/main" id="{E2E7F5B5-4228-5BC6-879D-188477048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3" y="4119563"/>
            <a:ext cx="466725" cy="255587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statmN</a:t>
            </a:r>
          </a:p>
        </p:txBody>
      </p:sp>
      <p:sp>
        <p:nvSpPr>
          <p:cNvPr id="743519" name="AutoShape 95">
            <a:extLst>
              <a:ext uri="{FF2B5EF4-FFF2-40B4-BE49-F238E27FC236}">
                <a16:creationId xmlns:a16="http://schemas.microsoft.com/office/drawing/2014/main" id="{E89E6332-3618-0E79-572A-88AD13F9216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208838" y="4037013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20" name="AutoShape 96">
            <a:extLst>
              <a:ext uri="{FF2B5EF4-FFF2-40B4-BE49-F238E27FC236}">
                <a16:creationId xmlns:a16="http://schemas.microsoft.com/office/drawing/2014/main" id="{5058B559-D4FD-488F-8F56-233EBC1FC43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859588" y="4540250"/>
            <a:ext cx="92075" cy="746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21" name="Text Box 97">
            <a:extLst>
              <a:ext uri="{FF2B5EF4-FFF2-40B4-BE49-F238E27FC236}">
                <a16:creationId xmlns:a16="http://schemas.microsoft.com/office/drawing/2014/main" id="{C7B92803-52C9-5D10-51AD-A97832034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9163" y="3225800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743522" name="AutoShape 98">
            <a:extLst>
              <a:ext uri="{FF2B5EF4-FFF2-40B4-BE49-F238E27FC236}">
                <a16:creationId xmlns:a16="http://schemas.microsoft.com/office/drawing/2014/main" id="{9897EFFA-7246-6B8F-24D9-67EF3567620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640638" y="3646488"/>
            <a:ext cx="92075" cy="74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3526" name="Line 102">
            <a:extLst>
              <a:ext uri="{FF2B5EF4-FFF2-40B4-BE49-F238E27FC236}">
                <a16:creationId xmlns:a16="http://schemas.microsoft.com/office/drawing/2014/main" id="{BECA4C22-28A0-D9C1-48CA-25722F5E98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5625" y="4452938"/>
            <a:ext cx="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D5DF073F-0B07-E22A-BA16-D4C4DA7D0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CB080-1B73-C54C-A75C-0CA482F3BDB1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721924" name="Rectangle 4">
            <a:extLst>
              <a:ext uri="{FF2B5EF4-FFF2-40B4-BE49-F238E27FC236}">
                <a16:creationId xmlns:a16="http://schemas.microsoft.com/office/drawing/2014/main" id="{FB814C53-E73A-26C8-6B8E-1E89C57774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Issues (5)</a:t>
            </a:r>
          </a:p>
        </p:txBody>
      </p:sp>
      <p:cxnSp>
        <p:nvCxnSpPr>
          <p:cNvPr id="721925" name="AutoShape 5">
            <a:extLst>
              <a:ext uri="{FF2B5EF4-FFF2-40B4-BE49-F238E27FC236}">
                <a16:creationId xmlns:a16="http://schemas.microsoft.com/office/drawing/2014/main" id="{D9E9B275-288A-24B2-22D9-94550AAABDB4}"/>
              </a:ext>
            </a:extLst>
          </p:cNvPr>
          <p:cNvCxnSpPr>
            <a:cxnSpLocks noChangeAspect="1" noChangeShapeType="1"/>
            <a:endCxn id="721932" idx="0"/>
          </p:cNvCxnSpPr>
          <p:nvPr/>
        </p:nvCxnSpPr>
        <p:spPr bwMode="auto">
          <a:xfrm>
            <a:off x="1982788" y="2343150"/>
            <a:ext cx="0" cy="1254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1926" name="AutoShape 6">
            <a:extLst>
              <a:ext uri="{FF2B5EF4-FFF2-40B4-BE49-F238E27FC236}">
                <a16:creationId xmlns:a16="http://schemas.microsoft.com/office/drawing/2014/main" id="{2A4FC249-09FB-3CE8-9D5C-41A52A4D39EB}"/>
              </a:ext>
            </a:extLst>
          </p:cNvPr>
          <p:cNvCxnSpPr>
            <a:cxnSpLocks noChangeAspect="1" noChangeShapeType="1"/>
            <a:stCxn id="721932" idx="3"/>
            <a:endCxn id="721935" idx="0"/>
          </p:cNvCxnSpPr>
          <p:nvPr/>
        </p:nvCxnSpPr>
        <p:spPr bwMode="auto">
          <a:xfrm>
            <a:off x="2284413" y="2668588"/>
            <a:ext cx="130175" cy="1905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1927" name="AutoShape 7">
            <a:extLst>
              <a:ext uri="{FF2B5EF4-FFF2-40B4-BE49-F238E27FC236}">
                <a16:creationId xmlns:a16="http://schemas.microsoft.com/office/drawing/2014/main" id="{ACF2031E-DF8D-8688-177E-685B68603D4C}"/>
              </a:ext>
            </a:extLst>
          </p:cNvPr>
          <p:cNvCxnSpPr>
            <a:cxnSpLocks noChangeAspect="1" noChangeShapeType="1"/>
            <a:stCxn id="721932" idx="1"/>
            <a:endCxn id="721934" idx="0"/>
          </p:cNvCxnSpPr>
          <p:nvPr/>
        </p:nvCxnSpPr>
        <p:spPr bwMode="auto">
          <a:xfrm rot="10800000" flipV="1">
            <a:off x="1550988" y="2668588"/>
            <a:ext cx="130175" cy="1905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1928" name="AutoShape 8">
            <a:extLst>
              <a:ext uri="{FF2B5EF4-FFF2-40B4-BE49-F238E27FC236}">
                <a16:creationId xmlns:a16="http://schemas.microsoft.com/office/drawing/2014/main" id="{6961C4B2-C9FF-444F-87AB-AB55D84203C7}"/>
              </a:ext>
            </a:extLst>
          </p:cNvPr>
          <p:cNvCxnSpPr>
            <a:cxnSpLocks noChangeAspect="1" noChangeShapeType="1"/>
            <a:stCxn id="721935" idx="2"/>
            <a:endCxn id="721945" idx="0"/>
          </p:cNvCxnSpPr>
          <p:nvPr/>
        </p:nvCxnSpPr>
        <p:spPr bwMode="auto">
          <a:xfrm rot="5400000">
            <a:off x="2074069" y="3020219"/>
            <a:ext cx="249238" cy="431800"/>
          </a:xfrm>
          <a:prstGeom prst="bentConnector3">
            <a:avLst>
              <a:gd name="adj1" fmla="val 4968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1929" name="AutoShape 9">
            <a:extLst>
              <a:ext uri="{FF2B5EF4-FFF2-40B4-BE49-F238E27FC236}">
                <a16:creationId xmlns:a16="http://schemas.microsoft.com/office/drawing/2014/main" id="{A13EF8A0-FAE9-74C6-4691-E687C6CA1144}"/>
              </a:ext>
            </a:extLst>
          </p:cNvPr>
          <p:cNvCxnSpPr>
            <a:cxnSpLocks noChangeAspect="1" noChangeShapeType="1"/>
            <a:stCxn id="721934" idx="2"/>
            <a:endCxn id="721945" idx="0"/>
          </p:cNvCxnSpPr>
          <p:nvPr/>
        </p:nvCxnSpPr>
        <p:spPr bwMode="auto">
          <a:xfrm rot="16200000" flipH="1">
            <a:off x="1642269" y="3020219"/>
            <a:ext cx="249238" cy="431800"/>
          </a:xfrm>
          <a:prstGeom prst="bentConnector3">
            <a:avLst>
              <a:gd name="adj1" fmla="val 4968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1930" name="Text Box 10">
            <a:extLst>
              <a:ext uri="{FF2B5EF4-FFF2-40B4-BE49-F238E27FC236}">
                <a16:creationId xmlns:a16="http://schemas.microsoft.com/office/drawing/2014/main" id="{5EC058CC-FAC2-AE69-D022-5F5598FEB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038" y="2470150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21931" name="Text Box 11">
            <a:extLst>
              <a:ext uri="{FF2B5EF4-FFF2-40B4-BE49-F238E27FC236}">
                <a16:creationId xmlns:a16="http://schemas.microsoft.com/office/drawing/2014/main" id="{2E26DBA0-B8A7-C764-80D3-284EEC605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0763" y="2470150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721932" name="AutoShape 12">
            <a:extLst>
              <a:ext uri="{FF2B5EF4-FFF2-40B4-BE49-F238E27FC236}">
                <a16:creationId xmlns:a16="http://schemas.microsoft.com/office/drawing/2014/main" id="{6FCAE50E-2330-15F3-891B-810145DD26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1163" y="2468563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864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expr1</a:t>
            </a:r>
          </a:p>
          <a:p>
            <a:pPr algn="ctr"/>
            <a:r>
              <a:rPr lang="en-US" altLang="en-US" sz="1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721934" name="AutoShape 14">
            <a:extLst>
              <a:ext uri="{FF2B5EF4-FFF2-40B4-BE49-F238E27FC236}">
                <a16:creationId xmlns:a16="http://schemas.microsoft.com/office/drawing/2014/main" id="{38387B6C-7F5E-DF33-5064-37B521C32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25" y="2859088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21935" name="AutoShape 15">
            <a:extLst>
              <a:ext uri="{FF2B5EF4-FFF2-40B4-BE49-F238E27FC236}">
                <a16:creationId xmlns:a16="http://schemas.microsoft.com/office/drawing/2014/main" id="{552F9759-4B0C-D764-C82A-437D1A6AA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859088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cxnSp>
        <p:nvCxnSpPr>
          <p:cNvPr id="721939" name="AutoShape 19">
            <a:extLst>
              <a:ext uri="{FF2B5EF4-FFF2-40B4-BE49-F238E27FC236}">
                <a16:creationId xmlns:a16="http://schemas.microsoft.com/office/drawing/2014/main" id="{6BAB0B54-6E9E-4961-FB34-6E5375C07C68}"/>
              </a:ext>
            </a:extLst>
          </p:cNvPr>
          <p:cNvCxnSpPr>
            <a:cxnSpLocks noChangeAspect="1" noChangeShapeType="1"/>
            <a:stCxn id="721945" idx="3"/>
            <a:endCxn id="721948" idx="0"/>
          </p:cNvCxnSpPr>
          <p:nvPr/>
        </p:nvCxnSpPr>
        <p:spPr bwMode="auto">
          <a:xfrm>
            <a:off x="2284413" y="3560763"/>
            <a:ext cx="130175" cy="1905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1940" name="AutoShape 20">
            <a:extLst>
              <a:ext uri="{FF2B5EF4-FFF2-40B4-BE49-F238E27FC236}">
                <a16:creationId xmlns:a16="http://schemas.microsoft.com/office/drawing/2014/main" id="{9F8A4EC5-FE00-7367-5D1E-A35EB2DBB773}"/>
              </a:ext>
            </a:extLst>
          </p:cNvPr>
          <p:cNvCxnSpPr>
            <a:cxnSpLocks noChangeAspect="1" noChangeShapeType="1"/>
            <a:stCxn id="721945" idx="1"/>
            <a:endCxn id="721947" idx="0"/>
          </p:cNvCxnSpPr>
          <p:nvPr/>
        </p:nvCxnSpPr>
        <p:spPr bwMode="auto">
          <a:xfrm rot="10800000" flipV="1">
            <a:off x="1550988" y="3560763"/>
            <a:ext cx="130175" cy="1905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1941" name="AutoShape 21">
            <a:extLst>
              <a:ext uri="{FF2B5EF4-FFF2-40B4-BE49-F238E27FC236}">
                <a16:creationId xmlns:a16="http://schemas.microsoft.com/office/drawing/2014/main" id="{DF1ED9CE-26A3-92FF-29AF-7346E0A6F706}"/>
              </a:ext>
            </a:extLst>
          </p:cNvPr>
          <p:cNvCxnSpPr>
            <a:cxnSpLocks noChangeAspect="1" noChangeShapeType="1"/>
            <a:stCxn id="721948" idx="2"/>
            <a:endCxn id="721946" idx="0"/>
          </p:cNvCxnSpPr>
          <p:nvPr/>
        </p:nvCxnSpPr>
        <p:spPr bwMode="auto">
          <a:xfrm rot="5400000">
            <a:off x="2072481" y="3913982"/>
            <a:ext cx="252413" cy="431800"/>
          </a:xfrm>
          <a:prstGeom prst="bentConnector3">
            <a:avLst>
              <a:gd name="adj1" fmla="val 4968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1942" name="AutoShape 22">
            <a:extLst>
              <a:ext uri="{FF2B5EF4-FFF2-40B4-BE49-F238E27FC236}">
                <a16:creationId xmlns:a16="http://schemas.microsoft.com/office/drawing/2014/main" id="{75921DB2-C196-72B8-AA4A-97B6E804E116}"/>
              </a:ext>
            </a:extLst>
          </p:cNvPr>
          <p:cNvCxnSpPr>
            <a:cxnSpLocks noChangeAspect="1" noChangeShapeType="1"/>
            <a:stCxn id="721947" idx="2"/>
            <a:endCxn id="721946" idx="0"/>
          </p:cNvCxnSpPr>
          <p:nvPr/>
        </p:nvCxnSpPr>
        <p:spPr bwMode="auto">
          <a:xfrm rot="16200000" flipH="1">
            <a:off x="1640681" y="3913982"/>
            <a:ext cx="252413" cy="431800"/>
          </a:xfrm>
          <a:prstGeom prst="bentConnector3">
            <a:avLst>
              <a:gd name="adj1" fmla="val 4968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1943" name="Text Box 23">
            <a:extLst>
              <a:ext uri="{FF2B5EF4-FFF2-40B4-BE49-F238E27FC236}">
                <a16:creationId xmlns:a16="http://schemas.microsoft.com/office/drawing/2014/main" id="{B9E7DD0A-DBD3-C959-E7C5-DEDC05F32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038" y="3362325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21944" name="Text Box 24">
            <a:extLst>
              <a:ext uri="{FF2B5EF4-FFF2-40B4-BE49-F238E27FC236}">
                <a16:creationId xmlns:a16="http://schemas.microsoft.com/office/drawing/2014/main" id="{801B0A0D-B8EC-393B-EB05-1B0DF6FF7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0763" y="3362325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721945" name="AutoShape 25">
            <a:extLst>
              <a:ext uri="{FF2B5EF4-FFF2-40B4-BE49-F238E27FC236}">
                <a16:creationId xmlns:a16="http://schemas.microsoft.com/office/drawing/2014/main" id="{01387B2C-DC18-225E-44EF-781A4EA47F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1163" y="3360738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864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expr2</a:t>
            </a:r>
          </a:p>
          <a:p>
            <a:pPr algn="ctr"/>
            <a:r>
              <a:rPr lang="en-US" altLang="en-US" sz="1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721946" name="AutoShape 26">
            <a:extLst>
              <a:ext uri="{FF2B5EF4-FFF2-40B4-BE49-F238E27FC236}">
                <a16:creationId xmlns:a16="http://schemas.microsoft.com/office/drawing/2014/main" id="{5DCB957D-9E79-034E-D073-71FB42A01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425" y="4256088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21947" name="AutoShape 27">
            <a:extLst>
              <a:ext uri="{FF2B5EF4-FFF2-40B4-BE49-F238E27FC236}">
                <a16:creationId xmlns:a16="http://schemas.microsoft.com/office/drawing/2014/main" id="{6AE2DBA7-7235-49FD-0A7D-253B9BE81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25" y="3751263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21948" name="AutoShape 28">
            <a:extLst>
              <a:ext uri="{FF2B5EF4-FFF2-40B4-BE49-F238E27FC236}">
                <a16:creationId xmlns:a16="http://schemas.microsoft.com/office/drawing/2014/main" id="{693827CD-9E0C-B63C-3463-4DA94CC8F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3751263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cxnSp>
        <p:nvCxnSpPr>
          <p:cNvPr id="721951" name="AutoShape 31">
            <a:extLst>
              <a:ext uri="{FF2B5EF4-FFF2-40B4-BE49-F238E27FC236}">
                <a16:creationId xmlns:a16="http://schemas.microsoft.com/office/drawing/2014/main" id="{FD769979-D209-32B9-578A-21A7967BB13D}"/>
              </a:ext>
            </a:extLst>
          </p:cNvPr>
          <p:cNvCxnSpPr>
            <a:cxnSpLocks noChangeAspect="1" noChangeShapeType="1"/>
            <a:stCxn id="721957" idx="3"/>
            <a:endCxn id="721960" idx="0"/>
          </p:cNvCxnSpPr>
          <p:nvPr/>
        </p:nvCxnSpPr>
        <p:spPr bwMode="auto">
          <a:xfrm>
            <a:off x="7575550" y="3227388"/>
            <a:ext cx="130175" cy="1905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1952" name="AutoShape 32">
            <a:extLst>
              <a:ext uri="{FF2B5EF4-FFF2-40B4-BE49-F238E27FC236}">
                <a16:creationId xmlns:a16="http://schemas.microsoft.com/office/drawing/2014/main" id="{74B3FCA9-6E0D-9F26-2371-EB2462C194B4}"/>
              </a:ext>
            </a:extLst>
          </p:cNvPr>
          <p:cNvCxnSpPr>
            <a:cxnSpLocks noChangeAspect="1" noChangeShapeType="1"/>
            <a:stCxn id="721957" idx="1"/>
            <a:endCxn id="721959" idx="0"/>
          </p:cNvCxnSpPr>
          <p:nvPr/>
        </p:nvCxnSpPr>
        <p:spPr bwMode="auto">
          <a:xfrm rot="10800000" flipV="1">
            <a:off x="6842125" y="3227388"/>
            <a:ext cx="130175" cy="1905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1953" name="AutoShape 33">
            <a:extLst>
              <a:ext uri="{FF2B5EF4-FFF2-40B4-BE49-F238E27FC236}">
                <a16:creationId xmlns:a16="http://schemas.microsoft.com/office/drawing/2014/main" id="{EDF484DD-F4E9-62D2-C981-113B9B56A15E}"/>
              </a:ext>
            </a:extLst>
          </p:cNvPr>
          <p:cNvCxnSpPr>
            <a:cxnSpLocks noChangeAspect="1" noChangeShapeType="1"/>
            <a:stCxn id="721960" idx="2"/>
            <a:endCxn id="721958" idx="0"/>
          </p:cNvCxnSpPr>
          <p:nvPr/>
        </p:nvCxnSpPr>
        <p:spPr bwMode="auto">
          <a:xfrm rot="5400000">
            <a:off x="7161212" y="3783013"/>
            <a:ext cx="657225" cy="431800"/>
          </a:xfrm>
          <a:prstGeom prst="bentConnector3">
            <a:avLst>
              <a:gd name="adj1" fmla="val 4975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1954" name="AutoShape 34">
            <a:extLst>
              <a:ext uri="{FF2B5EF4-FFF2-40B4-BE49-F238E27FC236}">
                <a16:creationId xmlns:a16="http://schemas.microsoft.com/office/drawing/2014/main" id="{62B12A18-C798-421F-CFAC-5C3BC9380D15}"/>
              </a:ext>
            </a:extLst>
          </p:cNvPr>
          <p:cNvCxnSpPr>
            <a:cxnSpLocks noChangeAspect="1" noChangeShapeType="1"/>
            <a:stCxn id="721959" idx="2"/>
            <a:endCxn id="721958" idx="0"/>
          </p:cNvCxnSpPr>
          <p:nvPr/>
        </p:nvCxnSpPr>
        <p:spPr bwMode="auto">
          <a:xfrm rot="16200000" flipH="1">
            <a:off x="6729412" y="3783013"/>
            <a:ext cx="657225" cy="431800"/>
          </a:xfrm>
          <a:prstGeom prst="bentConnector3">
            <a:avLst>
              <a:gd name="adj1" fmla="val 4975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1955" name="Text Box 35">
            <a:extLst>
              <a:ext uri="{FF2B5EF4-FFF2-40B4-BE49-F238E27FC236}">
                <a16:creationId xmlns:a16="http://schemas.microsoft.com/office/drawing/2014/main" id="{B2FDBC0A-C6CD-6A2C-4CDA-A375466BE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1175" y="3028950"/>
            <a:ext cx="968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21956" name="Text Box 36">
            <a:extLst>
              <a:ext uri="{FF2B5EF4-FFF2-40B4-BE49-F238E27FC236}">
                <a16:creationId xmlns:a16="http://schemas.microsoft.com/office/drawing/2014/main" id="{F1908E0D-215F-F17A-E6EB-C0B4A9390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900" y="3028950"/>
            <a:ext cx="968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721957" name="AutoShape 37">
            <a:extLst>
              <a:ext uri="{FF2B5EF4-FFF2-40B4-BE49-F238E27FC236}">
                <a16:creationId xmlns:a16="http://schemas.microsoft.com/office/drawing/2014/main" id="{2BD31B85-ECC4-D9FA-C440-A1A1898999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72300" y="3027363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864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expr2</a:t>
            </a:r>
          </a:p>
          <a:p>
            <a:pPr algn="ctr"/>
            <a:r>
              <a:rPr lang="en-US" altLang="en-US" sz="1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721958" name="AutoShape 38">
            <a:extLst>
              <a:ext uri="{FF2B5EF4-FFF2-40B4-BE49-F238E27FC236}">
                <a16:creationId xmlns:a16="http://schemas.microsoft.com/office/drawing/2014/main" id="{5FFBDB2A-F600-937B-CE03-D59A0459A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563" y="4327525"/>
            <a:ext cx="466725" cy="252413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21959" name="AutoShape 39">
            <a:extLst>
              <a:ext uri="{FF2B5EF4-FFF2-40B4-BE49-F238E27FC236}">
                <a16:creationId xmlns:a16="http://schemas.microsoft.com/office/drawing/2014/main" id="{B173A3A1-E6E3-D3DA-9267-18B7B2EF6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8763" y="3417888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21960" name="AutoShape 40">
            <a:extLst>
              <a:ext uri="{FF2B5EF4-FFF2-40B4-BE49-F238E27FC236}">
                <a16:creationId xmlns:a16="http://schemas.microsoft.com/office/drawing/2014/main" id="{6EF2A67A-EF80-4B21-0302-511727330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363" y="3417888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cxnSp>
        <p:nvCxnSpPr>
          <p:cNvPr id="721962" name="AutoShape 42">
            <a:extLst>
              <a:ext uri="{FF2B5EF4-FFF2-40B4-BE49-F238E27FC236}">
                <a16:creationId xmlns:a16="http://schemas.microsoft.com/office/drawing/2014/main" id="{96715B1C-FD0D-FD57-BE99-67BAA89E3992}"/>
              </a:ext>
            </a:extLst>
          </p:cNvPr>
          <p:cNvCxnSpPr>
            <a:cxnSpLocks noChangeAspect="1" noChangeShapeType="1"/>
            <a:endCxn id="721969" idx="0"/>
          </p:cNvCxnSpPr>
          <p:nvPr/>
        </p:nvCxnSpPr>
        <p:spPr bwMode="auto">
          <a:xfrm>
            <a:off x="6402388" y="2309813"/>
            <a:ext cx="0" cy="125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1963" name="AutoShape 43">
            <a:extLst>
              <a:ext uri="{FF2B5EF4-FFF2-40B4-BE49-F238E27FC236}">
                <a16:creationId xmlns:a16="http://schemas.microsoft.com/office/drawing/2014/main" id="{E184C3CA-FFE3-5A77-00FE-143CDE82E3C8}"/>
              </a:ext>
            </a:extLst>
          </p:cNvPr>
          <p:cNvCxnSpPr>
            <a:cxnSpLocks noChangeAspect="1" noChangeShapeType="1"/>
            <a:stCxn id="721969" idx="3"/>
            <a:endCxn id="721957" idx="0"/>
          </p:cNvCxnSpPr>
          <p:nvPr/>
        </p:nvCxnSpPr>
        <p:spPr bwMode="auto">
          <a:xfrm>
            <a:off x="6704013" y="2635250"/>
            <a:ext cx="569912" cy="392113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1964" name="AutoShape 44">
            <a:extLst>
              <a:ext uri="{FF2B5EF4-FFF2-40B4-BE49-F238E27FC236}">
                <a16:creationId xmlns:a16="http://schemas.microsoft.com/office/drawing/2014/main" id="{2B35659B-9CD8-28BE-DA19-79780AF7CDB1}"/>
              </a:ext>
            </a:extLst>
          </p:cNvPr>
          <p:cNvCxnSpPr>
            <a:cxnSpLocks noChangeAspect="1" noChangeShapeType="1"/>
            <a:stCxn id="721969" idx="1"/>
            <a:endCxn id="721971" idx="0"/>
          </p:cNvCxnSpPr>
          <p:nvPr/>
        </p:nvCxnSpPr>
        <p:spPr bwMode="auto">
          <a:xfrm rot="10800000" flipV="1">
            <a:off x="5661025" y="2635250"/>
            <a:ext cx="439738" cy="78263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1966" name="AutoShape 46">
            <a:extLst>
              <a:ext uri="{FF2B5EF4-FFF2-40B4-BE49-F238E27FC236}">
                <a16:creationId xmlns:a16="http://schemas.microsoft.com/office/drawing/2014/main" id="{4C9A803D-6670-AC08-0EE7-22CA4D10367D}"/>
              </a:ext>
            </a:extLst>
          </p:cNvPr>
          <p:cNvCxnSpPr>
            <a:cxnSpLocks noChangeAspect="1" noChangeShapeType="1"/>
            <a:stCxn id="721971" idx="2"/>
            <a:endCxn id="721958" idx="0"/>
          </p:cNvCxnSpPr>
          <p:nvPr/>
        </p:nvCxnSpPr>
        <p:spPr bwMode="auto">
          <a:xfrm rot="16200000" flipH="1">
            <a:off x="6138862" y="3192463"/>
            <a:ext cx="657225" cy="1612900"/>
          </a:xfrm>
          <a:prstGeom prst="bentConnector3">
            <a:avLst>
              <a:gd name="adj1" fmla="val 6738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1967" name="Text Box 47">
            <a:extLst>
              <a:ext uri="{FF2B5EF4-FFF2-40B4-BE49-F238E27FC236}">
                <a16:creationId xmlns:a16="http://schemas.microsoft.com/office/drawing/2014/main" id="{AD603A2C-8510-F9E3-B290-40D70ECB6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638" y="2436813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721968" name="Text Box 48">
            <a:extLst>
              <a:ext uri="{FF2B5EF4-FFF2-40B4-BE49-F238E27FC236}">
                <a16:creationId xmlns:a16="http://schemas.microsoft.com/office/drawing/2014/main" id="{7E840CBE-DE93-8E1F-F4FB-B399D4B89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0363" y="2436813"/>
            <a:ext cx="968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10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721969" name="AutoShape 49">
            <a:extLst>
              <a:ext uri="{FF2B5EF4-FFF2-40B4-BE49-F238E27FC236}">
                <a16:creationId xmlns:a16="http://schemas.microsoft.com/office/drawing/2014/main" id="{A3035CDA-A49E-6D11-EF69-07996F2065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00763" y="2435225"/>
            <a:ext cx="603250" cy="40005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864" bIns="0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expr1</a:t>
            </a:r>
          </a:p>
          <a:p>
            <a:pPr algn="ctr"/>
            <a:r>
              <a:rPr lang="en-US" altLang="en-US" sz="1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721971" name="AutoShape 51">
            <a:extLst>
              <a:ext uri="{FF2B5EF4-FFF2-40B4-BE49-F238E27FC236}">
                <a16:creationId xmlns:a16="http://schemas.microsoft.com/office/drawing/2014/main" id="{F571C2CA-5D39-54FC-A7CF-086F89C6B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3" y="3417888"/>
            <a:ext cx="466725" cy="252412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21973" name="Text Box 53">
            <a:extLst>
              <a:ext uri="{FF2B5EF4-FFF2-40B4-BE49-F238E27FC236}">
                <a16:creationId xmlns:a16="http://schemas.microsoft.com/office/drawing/2014/main" id="{16E51DD5-9C22-AE46-D44D-B786055DA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078163"/>
            <a:ext cx="1946275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4400">
                <a:latin typeface="Arial" panose="020B0604020202020204" pitchFamily="34" charset="0"/>
              </a:rPr>
              <a:t>= CC = </a:t>
            </a:r>
          </a:p>
        </p:txBody>
      </p:sp>
      <p:sp>
        <p:nvSpPr>
          <p:cNvPr id="721974" name="Text Box 54">
            <a:extLst>
              <a:ext uri="{FF2B5EF4-FFF2-40B4-BE49-F238E27FC236}">
                <a16:creationId xmlns:a16="http://schemas.microsoft.com/office/drawing/2014/main" id="{6B254B50-2D2C-6E0B-0C64-1C6E9AD6E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5834063"/>
            <a:ext cx="78311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But, it is known that people find nested decisions more difficult …</a:t>
            </a:r>
          </a:p>
        </p:txBody>
      </p:sp>
      <p:sp>
        <p:nvSpPr>
          <p:cNvPr id="721975" name="Text Box 55">
            <a:extLst>
              <a:ext uri="{FF2B5EF4-FFF2-40B4-BE49-F238E27FC236}">
                <a16:creationId xmlns:a16="http://schemas.microsoft.com/office/drawing/2014/main" id="{BC6F376D-509F-3554-9534-1F33881B3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8" y="1733550"/>
            <a:ext cx="2994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Two sequential decisions:</a:t>
            </a:r>
          </a:p>
        </p:txBody>
      </p:sp>
      <p:sp>
        <p:nvSpPr>
          <p:cNvPr id="721976" name="Text Box 56">
            <a:extLst>
              <a:ext uri="{FF2B5EF4-FFF2-40B4-BE49-F238E27FC236}">
                <a16:creationId xmlns:a16="http://schemas.microsoft.com/office/drawing/2014/main" id="{687A5F6F-C53B-A18E-D632-50E045B1C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1733550"/>
            <a:ext cx="2608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/>
          <a:p>
            <a:r>
              <a:rPr lang="en-US" altLang="en-US" sz="2000">
                <a:latin typeface="Comic Sans MS" panose="030F0902030302020204" pitchFamily="66" charset="0"/>
              </a:rPr>
              <a:t>Two nested decisions: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2CBB077-3E77-5080-C513-818DBDEF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14F3-A14D-2C49-9C4B-1F761948DC0D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38351" name="Oval 47">
            <a:extLst>
              <a:ext uri="{FF2B5EF4-FFF2-40B4-BE49-F238E27FC236}">
                <a16:creationId xmlns:a16="http://schemas.microsoft.com/office/drawing/2014/main" id="{5E7DD96D-1D56-21EF-9A57-5108F8698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2844800"/>
            <a:ext cx="1820862" cy="2827338"/>
          </a:xfrm>
          <a:prstGeom prst="ellipse">
            <a:avLst/>
          </a:prstGeom>
          <a:solidFill>
            <a:srgbClr val="FFFFCC"/>
          </a:solidFill>
          <a:ln w="9525">
            <a:solidFill>
              <a:srgbClr val="FFFF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8306" name="Rectangle 2">
            <a:extLst>
              <a:ext uri="{FF2B5EF4-FFF2-40B4-BE49-F238E27FC236}">
                <a16:creationId xmlns:a16="http://schemas.microsoft.com/office/drawing/2014/main" id="{19A3C258-B438-5F9D-93EC-DD8A3047F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CC for Modular Programs (1)</a:t>
            </a:r>
          </a:p>
        </p:txBody>
      </p:sp>
      <p:cxnSp>
        <p:nvCxnSpPr>
          <p:cNvPr id="738307" name="AutoShape 81">
            <a:extLst>
              <a:ext uri="{FF2B5EF4-FFF2-40B4-BE49-F238E27FC236}">
                <a16:creationId xmlns:a16="http://schemas.microsoft.com/office/drawing/2014/main" id="{90F92BC9-6E33-401B-A9EC-DDE999162F1A}"/>
              </a:ext>
            </a:extLst>
          </p:cNvPr>
          <p:cNvCxnSpPr>
            <a:cxnSpLocks noChangeShapeType="1"/>
            <a:stCxn id="738331" idx="5"/>
            <a:endCxn id="738334" idx="0"/>
          </p:cNvCxnSpPr>
          <p:nvPr/>
        </p:nvCxnSpPr>
        <p:spPr bwMode="auto">
          <a:xfrm rot="5400000" flipH="1" flipV="1">
            <a:off x="2302669" y="2345531"/>
            <a:ext cx="390525" cy="1992313"/>
          </a:xfrm>
          <a:prstGeom prst="curvedConnector5">
            <a:avLst>
              <a:gd name="adj1" fmla="val -75611"/>
              <a:gd name="adj2" fmla="val 45977"/>
              <a:gd name="adj3" fmla="val 15853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08" name="AutoShape 83">
            <a:extLst>
              <a:ext uri="{FF2B5EF4-FFF2-40B4-BE49-F238E27FC236}">
                <a16:creationId xmlns:a16="http://schemas.microsoft.com/office/drawing/2014/main" id="{6E669EDD-BEED-85A6-F43F-E37002085E2A}"/>
              </a:ext>
            </a:extLst>
          </p:cNvPr>
          <p:cNvCxnSpPr>
            <a:cxnSpLocks noChangeShapeType="1"/>
            <a:stCxn id="738338" idx="4"/>
            <a:endCxn id="738331" idx="0"/>
          </p:cNvCxnSpPr>
          <p:nvPr/>
        </p:nvCxnSpPr>
        <p:spPr bwMode="auto">
          <a:xfrm>
            <a:off x="1339850" y="2643188"/>
            <a:ext cx="0" cy="503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09" name="AutoShape 84">
            <a:extLst>
              <a:ext uri="{FF2B5EF4-FFF2-40B4-BE49-F238E27FC236}">
                <a16:creationId xmlns:a16="http://schemas.microsoft.com/office/drawing/2014/main" id="{A25F6DFB-118E-20DB-D2F2-3C9F358DC170}"/>
              </a:ext>
            </a:extLst>
          </p:cNvPr>
          <p:cNvCxnSpPr>
            <a:cxnSpLocks noChangeShapeType="1"/>
            <a:stCxn id="738331" idx="3"/>
            <a:endCxn id="738332" idx="0"/>
          </p:cNvCxnSpPr>
          <p:nvPr/>
        </p:nvCxnSpPr>
        <p:spPr bwMode="auto">
          <a:xfrm flipH="1">
            <a:off x="736600" y="3536950"/>
            <a:ext cx="441325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10" name="AutoShape 84">
            <a:extLst>
              <a:ext uri="{FF2B5EF4-FFF2-40B4-BE49-F238E27FC236}">
                <a16:creationId xmlns:a16="http://schemas.microsoft.com/office/drawing/2014/main" id="{CA2DD1D2-2630-6C2C-1838-EB9B947E66C7}"/>
              </a:ext>
            </a:extLst>
          </p:cNvPr>
          <p:cNvCxnSpPr>
            <a:cxnSpLocks noChangeShapeType="1"/>
            <a:stCxn id="738332" idx="4"/>
            <a:endCxn id="738333" idx="1"/>
          </p:cNvCxnSpPr>
          <p:nvPr/>
        </p:nvCxnSpPr>
        <p:spPr bwMode="auto">
          <a:xfrm>
            <a:off x="736600" y="4429125"/>
            <a:ext cx="441325" cy="534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11" name="AutoShape 83">
            <a:extLst>
              <a:ext uri="{FF2B5EF4-FFF2-40B4-BE49-F238E27FC236}">
                <a16:creationId xmlns:a16="http://schemas.microsoft.com/office/drawing/2014/main" id="{DA72FDC3-740C-016D-36CA-2FAA62FF2DE5}"/>
              </a:ext>
            </a:extLst>
          </p:cNvPr>
          <p:cNvCxnSpPr>
            <a:cxnSpLocks noChangeShapeType="1"/>
            <a:stCxn id="738333" idx="4"/>
            <a:endCxn id="738339" idx="0"/>
          </p:cNvCxnSpPr>
          <p:nvPr/>
        </p:nvCxnSpPr>
        <p:spPr bwMode="auto">
          <a:xfrm>
            <a:off x="1339850" y="5354638"/>
            <a:ext cx="0" cy="485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12" name="AutoShape 84">
            <a:extLst>
              <a:ext uri="{FF2B5EF4-FFF2-40B4-BE49-F238E27FC236}">
                <a16:creationId xmlns:a16="http://schemas.microsoft.com/office/drawing/2014/main" id="{3AA30990-FF9E-0B0F-CF65-2D2FE5381D66}"/>
              </a:ext>
            </a:extLst>
          </p:cNvPr>
          <p:cNvCxnSpPr>
            <a:cxnSpLocks noChangeShapeType="1"/>
            <a:stCxn id="738334" idx="3"/>
            <a:endCxn id="738335" idx="0"/>
          </p:cNvCxnSpPr>
          <p:nvPr/>
        </p:nvCxnSpPr>
        <p:spPr bwMode="auto">
          <a:xfrm flipH="1">
            <a:off x="2946400" y="3536950"/>
            <a:ext cx="385763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13" name="AutoShape 84">
            <a:extLst>
              <a:ext uri="{FF2B5EF4-FFF2-40B4-BE49-F238E27FC236}">
                <a16:creationId xmlns:a16="http://schemas.microsoft.com/office/drawing/2014/main" id="{67A0073C-DF94-436E-D356-66B04BF77DA9}"/>
              </a:ext>
            </a:extLst>
          </p:cNvPr>
          <p:cNvCxnSpPr>
            <a:cxnSpLocks noChangeShapeType="1"/>
            <a:stCxn id="738335" idx="4"/>
            <a:endCxn id="738337" idx="1"/>
          </p:cNvCxnSpPr>
          <p:nvPr/>
        </p:nvCxnSpPr>
        <p:spPr bwMode="auto">
          <a:xfrm>
            <a:off x="2946400" y="4429125"/>
            <a:ext cx="3857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14" name="AutoShape 84">
            <a:extLst>
              <a:ext uri="{FF2B5EF4-FFF2-40B4-BE49-F238E27FC236}">
                <a16:creationId xmlns:a16="http://schemas.microsoft.com/office/drawing/2014/main" id="{C58B842C-9452-2524-8BA9-8D4EAE55B00E}"/>
              </a:ext>
            </a:extLst>
          </p:cNvPr>
          <p:cNvCxnSpPr>
            <a:cxnSpLocks noChangeShapeType="1"/>
            <a:stCxn id="738336" idx="4"/>
            <a:endCxn id="738337" idx="7"/>
          </p:cNvCxnSpPr>
          <p:nvPr/>
        </p:nvCxnSpPr>
        <p:spPr bwMode="auto">
          <a:xfrm flipH="1">
            <a:off x="3656013" y="4429125"/>
            <a:ext cx="385762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15" name="AutoShape 84">
            <a:extLst>
              <a:ext uri="{FF2B5EF4-FFF2-40B4-BE49-F238E27FC236}">
                <a16:creationId xmlns:a16="http://schemas.microsoft.com/office/drawing/2014/main" id="{0ED5B6B6-4F47-EE43-B896-AA9C370089AA}"/>
              </a:ext>
            </a:extLst>
          </p:cNvPr>
          <p:cNvCxnSpPr>
            <a:cxnSpLocks noChangeShapeType="1"/>
            <a:stCxn id="738334" idx="5"/>
            <a:endCxn id="738336" idx="0"/>
          </p:cNvCxnSpPr>
          <p:nvPr/>
        </p:nvCxnSpPr>
        <p:spPr bwMode="auto">
          <a:xfrm>
            <a:off x="3656013" y="3536950"/>
            <a:ext cx="385762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16" name="AutoShape 81">
            <a:extLst>
              <a:ext uri="{FF2B5EF4-FFF2-40B4-BE49-F238E27FC236}">
                <a16:creationId xmlns:a16="http://schemas.microsoft.com/office/drawing/2014/main" id="{4E37F5D1-CCD3-1AEB-759D-7B08AC8AD082}"/>
              </a:ext>
            </a:extLst>
          </p:cNvPr>
          <p:cNvCxnSpPr>
            <a:cxnSpLocks noChangeShapeType="1"/>
            <a:stCxn id="738337" idx="4"/>
            <a:endCxn id="738333" idx="7"/>
          </p:cNvCxnSpPr>
          <p:nvPr/>
        </p:nvCxnSpPr>
        <p:spPr bwMode="auto">
          <a:xfrm rot="16200000" flipV="1">
            <a:off x="2301876" y="4164012"/>
            <a:ext cx="392112" cy="1992313"/>
          </a:xfrm>
          <a:prstGeom prst="curvedConnector5">
            <a:avLst>
              <a:gd name="adj1" fmla="val -58301"/>
              <a:gd name="adj2" fmla="val 54023"/>
              <a:gd name="adj3" fmla="val 17530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8317" name="Text Box 5">
            <a:extLst>
              <a:ext uri="{FF2B5EF4-FFF2-40B4-BE49-F238E27FC236}">
                <a16:creationId xmlns:a16="http://schemas.microsoft.com/office/drawing/2014/main" id="{2DB2750A-7ABB-7A29-BD56-47D6AA31A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463" y="1903413"/>
            <a:ext cx="15589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V = e – n + 2</a:t>
            </a:r>
          </a:p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   = 12 – 11 + 2 = 3</a:t>
            </a:r>
          </a:p>
        </p:txBody>
      </p:sp>
      <p:cxnSp>
        <p:nvCxnSpPr>
          <p:cNvPr id="738319" name="AutoShape 81">
            <a:extLst>
              <a:ext uri="{FF2B5EF4-FFF2-40B4-BE49-F238E27FC236}">
                <a16:creationId xmlns:a16="http://schemas.microsoft.com/office/drawing/2014/main" id="{F28CAAA6-031B-E004-6D59-EE33B2CA7B75}"/>
              </a:ext>
            </a:extLst>
          </p:cNvPr>
          <p:cNvCxnSpPr>
            <a:cxnSpLocks noChangeShapeType="1"/>
            <a:stCxn id="738340" idx="5"/>
            <a:endCxn id="738343" idx="0"/>
          </p:cNvCxnSpPr>
          <p:nvPr/>
        </p:nvCxnSpPr>
        <p:spPr bwMode="auto">
          <a:xfrm rot="5400000" flipH="1" flipV="1">
            <a:off x="6787356" y="2345532"/>
            <a:ext cx="390525" cy="1992312"/>
          </a:xfrm>
          <a:prstGeom prst="curvedConnector5">
            <a:avLst>
              <a:gd name="adj1" fmla="val -75611"/>
              <a:gd name="adj2" fmla="val 45977"/>
              <a:gd name="adj3" fmla="val 15853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20" name="AutoShape 83">
            <a:extLst>
              <a:ext uri="{FF2B5EF4-FFF2-40B4-BE49-F238E27FC236}">
                <a16:creationId xmlns:a16="http://schemas.microsoft.com/office/drawing/2014/main" id="{7128D671-0516-D6F2-ED02-8D9A93618A31}"/>
              </a:ext>
            </a:extLst>
          </p:cNvPr>
          <p:cNvCxnSpPr>
            <a:cxnSpLocks noChangeShapeType="1"/>
            <a:stCxn id="738347" idx="4"/>
            <a:endCxn id="738340" idx="0"/>
          </p:cNvCxnSpPr>
          <p:nvPr/>
        </p:nvCxnSpPr>
        <p:spPr bwMode="auto">
          <a:xfrm>
            <a:off x="5824538" y="2643188"/>
            <a:ext cx="0" cy="503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21" name="AutoShape 84">
            <a:extLst>
              <a:ext uri="{FF2B5EF4-FFF2-40B4-BE49-F238E27FC236}">
                <a16:creationId xmlns:a16="http://schemas.microsoft.com/office/drawing/2014/main" id="{5882BC76-D99A-AE72-373D-4372F5712552}"/>
              </a:ext>
            </a:extLst>
          </p:cNvPr>
          <p:cNvCxnSpPr>
            <a:cxnSpLocks noChangeShapeType="1"/>
            <a:stCxn id="738340" idx="3"/>
            <a:endCxn id="738341" idx="0"/>
          </p:cNvCxnSpPr>
          <p:nvPr/>
        </p:nvCxnSpPr>
        <p:spPr bwMode="auto">
          <a:xfrm flipH="1">
            <a:off x="5221288" y="3536950"/>
            <a:ext cx="441325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22" name="AutoShape 84">
            <a:extLst>
              <a:ext uri="{FF2B5EF4-FFF2-40B4-BE49-F238E27FC236}">
                <a16:creationId xmlns:a16="http://schemas.microsoft.com/office/drawing/2014/main" id="{FA36B122-616E-5A34-5E52-7703225A229D}"/>
              </a:ext>
            </a:extLst>
          </p:cNvPr>
          <p:cNvCxnSpPr>
            <a:cxnSpLocks noChangeShapeType="1"/>
            <a:stCxn id="738341" idx="4"/>
            <a:endCxn id="738342" idx="1"/>
          </p:cNvCxnSpPr>
          <p:nvPr/>
        </p:nvCxnSpPr>
        <p:spPr bwMode="auto">
          <a:xfrm>
            <a:off x="5221288" y="4429125"/>
            <a:ext cx="441325" cy="534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23" name="AutoShape 83">
            <a:extLst>
              <a:ext uri="{FF2B5EF4-FFF2-40B4-BE49-F238E27FC236}">
                <a16:creationId xmlns:a16="http://schemas.microsoft.com/office/drawing/2014/main" id="{DE956918-86D4-C23B-0EFE-5A05A33097CE}"/>
              </a:ext>
            </a:extLst>
          </p:cNvPr>
          <p:cNvCxnSpPr>
            <a:cxnSpLocks noChangeShapeType="1"/>
            <a:stCxn id="738342" idx="4"/>
          </p:cNvCxnSpPr>
          <p:nvPr/>
        </p:nvCxnSpPr>
        <p:spPr bwMode="auto">
          <a:xfrm>
            <a:off x="5824538" y="5354638"/>
            <a:ext cx="0" cy="485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24" name="AutoShape 84">
            <a:extLst>
              <a:ext uri="{FF2B5EF4-FFF2-40B4-BE49-F238E27FC236}">
                <a16:creationId xmlns:a16="http://schemas.microsoft.com/office/drawing/2014/main" id="{FD490E95-0482-E38C-C76F-924149749A16}"/>
              </a:ext>
            </a:extLst>
          </p:cNvPr>
          <p:cNvCxnSpPr>
            <a:cxnSpLocks noChangeShapeType="1"/>
            <a:stCxn id="738343" idx="3"/>
            <a:endCxn id="738344" idx="0"/>
          </p:cNvCxnSpPr>
          <p:nvPr/>
        </p:nvCxnSpPr>
        <p:spPr bwMode="auto">
          <a:xfrm flipH="1">
            <a:off x="7431088" y="3536950"/>
            <a:ext cx="385762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25" name="AutoShape 84">
            <a:extLst>
              <a:ext uri="{FF2B5EF4-FFF2-40B4-BE49-F238E27FC236}">
                <a16:creationId xmlns:a16="http://schemas.microsoft.com/office/drawing/2014/main" id="{68524388-D908-B887-E828-9CB4F29E68F4}"/>
              </a:ext>
            </a:extLst>
          </p:cNvPr>
          <p:cNvCxnSpPr>
            <a:cxnSpLocks noChangeShapeType="1"/>
            <a:stCxn id="738344" idx="4"/>
            <a:endCxn id="738346" idx="1"/>
          </p:cNvCxnSpPr>
          <p:nvPr/>
        </p:nvCxnSpPr>
        <p:spPr bwMode="auto">
          <a:xfrm>
            <a:off x="7431088" y="4429125"/>
            <a:ext cx="385762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26" name="AutoShape 84">
            <a:extLst>
              <a:ext uri="{FF2B5EF4-FFF2-40B4-BE49-F238E27FC236}">
                <a16:creationId xmlns:a16="http://schemas.microsoft.com/office/drawing/2014/main" id="{88FA9264-484F-D3C0-1727-4047BD046181}"/>
              </a:ext>
            </a:extLst>
          </p:cNvPr>
          <p:cNvCxnSpPr>
            <a:cxnSpLocks noChangeShapeType="1"/>
            <a:stCxn id="738345" idx="4"/>
            <a:endCxn id="738346" idx="7"/>
          </p:cNvCxnSpPr>
          <p:nvPr/>
        </p:nvCxnSpPr>
        <p:spPr bwMode="auto">
          <a:xfrm flipH="1">
            <a:off x="8140700" y="4429125"/>
            <a:ext cx="3857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27" name="AutoShape 84">
            <a:extLst>
              <a:ext uri="{FF2B5EF4-FFF2-40B4-BE49-F238E27FC236}">
                <a16:creationId xmlns:a16="http://schemas.microsoft.com/office/drawing/2014/main" id="{408500B9-019A-C18D-2F09-1342ECDCD992}"/>
              </a:ext>
            </a:extLst>
          </p:cNvPr>
          <p:cNvCxnSpPr>
            <a:cxnSpLocks noChangeShapeType="1"/>
            <a:stCxn id="738343" idx="5"/>
            <a:endCxn id="738345" idx="0"/>
          </p:cNvCxnSpPr>
          <p:nvPr/>
        </p:nvCxnSpPr>
        <p:spPr bwMode="auto">
          <a:xfrm>
            <a:off x="8140700" y="3536950"/>
            <a:ext cx="385763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8328" name="AutoShape 81">
            <a:extLst>
              <a:ext uri="{FF2B5EF4-FFF2-40B4-BE49-F238E27FC236}">
                <a16:creationId xmlns:a16="http://schemas.microsoft.com/office/drawing/2014/main" id="{EE81D9E2-CC6B-7188-CBF9-60919AD6E005}"/>
              </a:ext>
            </a:extLst>
          </p:cNvPr>
          <p:cNvCxnSpPr>
            <a:cxnSpLocks noChangeShapeType="1"/>
            <a:stCxn id="738346" idx="4"/>
            <a:endCxn id="738342" idx="7"/>
          </p:cNvCxnSpPr>
          <p:nvPr/>
        </p:nvCxnSpPr>
        <p:spPr bwMode="auto">
          <a:xfrm rot="16200000" flipV="1">
            <a:off x="6786563" y="4164013"/>
            <a:ext cx="392112" cy="1992312"/>
          </a:xfrm>
          <a:prstGeom prst="curvedConnector5">
            <a:avLst>
              <a:gd name="adj1" fmla="val -58301"/>
              <a:gd name="adj2" fmla="val 54023"/>
              <a:gd name="adj3" fmla="val 17530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8329" name="Text Box 5">
            <a:extLst>
              <a:ext uri="{FF2B5EF4-FFF2-40B4-BE49-F238E27FC236}">
                <a16:creationId xmlns:a16="http://schemas.microsoft.com/office/drawing/2014/main" id="{38F981A7-C036-EB62-3560-024BB1652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4113" y="1519238"/>
            <a:ext cx="20637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Adding a sequential node does not change CC:</a:t>
            </a:r>
          </a:p>
        </p:txBody>
      </p:sp>
      <p:sp>
        <p:nvSpPr>
          <p:cNvPr id="738330" name="AutoShape 26">
            <a:extLst>
              <a:ext uri="{FF2B5EF4-FFF2-40B4-BE49-F238E27FC236}">
                <a16:creationId xmlns:a16="http://schemas.microsoft.com/office/drawing/2014/main" id="{7FD7CB10-FE25-910F-A3C3-69D007FA56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65650" y="4195763"/>
            <a:ext cx="192088" cy="198437"/>
          </a:xfrm>
          <a:prstGeom prst="rightArrow">
            <a:avLst>
              <a:gd name="adj1" fmla="val 50324"/>
              <a:gd name="adj2" fmla="val 51514"/>
            </a:avLst>
          </a:prstGeom>
          <a:solidFill>
            <a:srgbClr val="80808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8331" name="Oval 86">
            <a:extLst>
              <a:ext uri="{FF2B5EF4-FFF2-40B4-BE49-F238E27FC236}">
                <a16:creationId xmlns:a16="http://schemas.microsoft.com/office/drawing/2014/main" id="{AF76B834-C4B7-BC78-B0D7-0F769C34C5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250" y="31464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n1</a:t>
            </a:r>
          </a:p>
        </p:txBody>
      </p:sp>
      <p:sp>
        <p:nvSpPr>
          <p:cNvPr id="738332" name="Oval 87">
            <a:extLst>
              <a:ext uri="{FF2B5EF4-FFF2-40B4-BE49-F238E27FC236}">
                <a16:creationId xmlns:a16="http://schemas.microsoft.com/office/drawing/2014/main" id="{E1FCB790-82C9-92F1-7671-63A6146FA2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8000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n2</a:t>
            </a:r>
          </a:p>
        </p:txBody>
      </p:sp>
      <p:sp>
        <p:nvSpPr>
          <p:cNvPr id="738333" name="Oval 86">
            <a:extLst>
              <a:ext uri="{FF2B5EF4-FFF2-40B4-BE49-F238E27FC236}">
                <a16:creationId xmlns:a16="http://schemas.microsoft.com/office/drawing/2014/main" id="{2B4F5F6C-322F-87D8-2B1D-D5F3D16629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250" y="489743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n7</a:t>
            </a:r>
          </a:p>
        </p:txBody>
      </p:sp>
      <p:sp>
        <p:nvSpPr>
          <p:cNvPr id="738334" name="Oval 86">
            <a:extLst>
              <a:ext uri="{FF2B5EF4-FFF2-40B4-BE49-F238E27FC236}">
                <a16:creationId xmlns:a16="http://schemas.microsoft.com/office/drawing/2014/main" id="{E198F322-D4C9-3ABF-9F33-83BE8C2C88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65488" y="31464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n3</a:t>
            </a:r>
          </a:p>
        </p:txBody>
      </p:sp>
      <p:sp>
        <p:nvSpPr>
          <p:cNvPr id="738335" name="Oval 87">
            <a:extLst>
              <a:ext uri="{FF2B5EF4-FFF2-40B4-BE49-F238E27FC236}">
                <a16:creationId xmlns:a16="http://schemas.microsoft.com/office/drawing/2014/main" id="{63380BC4-2B5F-2DA5-9FE1-430D88EAED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17800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n4</a:t>
            </a:r>
          </a:p>
        </p:txBody>
      </p:sp>
      <p:sp>
        <p:nvSpPr>
          <p:cNvPr id="738336" name="Oval 86">
            <a:extLst>
              <a:ext uri="{FF2B5EF4-FFF2-40B4-BE49-F238E27FC236}">
                <a16:creationId xmlns:a16="http://schemas.microsoft.com/office/drawing/2014/main" id="{8E7681AF-F01E-5A12-B500-135538416A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3175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n5</a:t>
            </a:r>
          </a:p>
        </p:txBody>
      </p:sp>
      <p:sp>
        <p:nvSpPr>
          <p:cNvPr id="738337" name="Oval 86">
            <a:extLst>
              <a:ext uri="{FF2B5EF4-FFF2-40B4-BE49-F238E27FC236}">
                <a16:creationId xmlns:a16="http://schemas.microsoft.com/office/drawing/2014/main" id="{630FBBF9-55F5-37B3-0555-E85CBFFD57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65488" y="48990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n6</a:t>
            </a:r>
          </a:p>
        </p:txBody>
      </p:sp>
      <p:sp>
        <p:nvSpPr>
          <p:cNvPr id="738338" name="Oval 86">
            <a:extLst>
              <a:ext uri="{FF2B5EF4-FFF2-40B4-BE49-F238E27FC236}">
                <a16:creationId xmlns:a16="http://schemas.microsoft.com/office/drawing/2014/main" id="{669F21F2-8B06-1BBB-D753-065AAB304B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250" y="218598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n0</a:t>
            </a:r>
          </a:p>
        </p:txBody>
      </p:sp>
      <p:sp>
        <p:nvSpPr>
          <p:cNvPr id="738339" name="Oval 86">
            <a:extLst>
              <a:ext uri="{FF2B5EF4-FFF2-40B4-BE49-F238E27FC236}">
                <a16:creationId xmlns:a16="http://schemas.microsoft.com/office/drawing/2014/main" id="{2803462B-FA75-03D5-C9C6-613BCDCAAF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250" y="5840413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n8</a:t>
            </a:r>
          </a:p>
        </p:txBody>
      </p:sp>
      <p:sp>
        <p:nvSpPr>
          <p:cNvPr id="738340" name="Oval 86">
            <a:extLst>
              <a:ext uri="{FF2B5EF4-FFF2-40B4-BE49-F238E27FC236}">
                <a16:creationId xmlns:a16="http://schemas.microsoft.com/office/drawing/2014/main" id="{5E4DCC71-B153-653C-D151-E9A62DCF07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5938" y="31464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n1</a:t>
            </a:r>
          </a:p>
        </p:txBody>
      </p:sp>
      <p:sp>
        <p:nvSpPr>
          <p:cNvPr id="738341" name="Oval 87">
            <a:extLst>
              <a:ext uri="{FF2B5EF4-FFF2-40B4-BE49-F238E27FC236}">
                <a16:creationId xmlns:a16="http://schemas.microsoft.com/office/drawing/2014/main" id="{DD3702E1-CEF5-7C5D-E2B5-C286E4CC8A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2688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n2</a:t>
            </a:r>
          </a:p>
        </p:txBody>
      </p:sp>
      <p:sp>
        <p:nvSpPr>
          <p:cNvPr id="738342" name="Oval 86">
            <a:extLst>
              <a:ext uri="{FF2B5EF4-FFF2-40B4-BE49-F238E27FC236}">
                <a16:creationId xmlns:a16="http://schemas.microsoft.com/office/drawing/2014/main" id="{8C8F9C39-53F3-488B-4E8E-6FA4236DD9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5938" y="489743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n7</a:t>
            </a:r>
          </a:p>
        </p:txBody>
      </p:sp>
      <p:sp>
        <p:nvSpPr>
          <p:cNvPr id="738343" name="Oval 86">
            <a:extLst>
              <a:ext uri="{FF2B5EF4-FFF2-40B4-BE49-F238E27FC236}">
                <a16:creationId xmlns:a16="http://schemas.microsoft.com/office/drawing/2014/main" id="{6486DCE0-A049-FCEE-E31D-C3FE22A8D2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50175" y="31464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n3</a:t>
            </a:r>
          </a:p>
        </p:txBody>
      </p:sp>
      <p:sp>
        <p:nvSpPr>
          <p:cNvPr id="738344" name="Oval 87">
            <a:extLst>
              <a:ext uri="{FF2B5EF4-FFF2-40B4-BE49-F238E27FC236}">
                <a16:creationId xmlns:a16="http://schemas.microsoft.com/office/drawing/2014/main" id="{50D7E904-7C74-7A96-1CF8-9417A0192F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02488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n4</a:t>
            </a:r>
          </a:p>
        </p:txBody>
      </p:sp>
      <p:sp>
        <p:nvSpPr>
          <p:cNvPr id="738345" name="Oval 86">
            <a:extLst>
              <a:ext uri="{FF2B5EF4-FFF2-40B4-BE49-F238E27FC236}">
                <a16:creationId xmlns:a16="http://schemas.microsoft.com/office/drawing/2014/main" id="{7EF6233C-958C-6CC1-8A2D-BEACE831B7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97863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n5</a:t>
            </a:r>
          </a:p>
        </p:txBody>
      </p:sp>
      <p:sp>
        <p:nvSpPr>
          <p:cNvPr id="738346" name="Oval 86">
            <a:extLst>
              <a:ext uri="{FF2B5EF4-FFF2-40B4-BE49-F238E27FC236}">
                <a16:creationId xmlns:a16="http://schemas.microsoft.com/office/drawing/2014/main" id="{6D08EE34-55E3-166A-7ECD-5A05CB18C8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50175" y="48990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n6</a:t>
            </a:r>
          </a:p>
        </p:txBody>
      </p:sp>
      <p:sp>
        <p:nvSpPr>
          <p:cNvPr id="738347" name="Oval 86">
            <a:extLst>
              <a:ext uri="{FF2B5EF4-FFF2-40B4-BE49-F238E27FC236}">
                <a16:creationId xmlns:a16="http://schemas.microsoft.com/office/drawing/2014/main" id="{5250DC53-EE4C-D1DB-C413-0A686C320A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5938" y="218598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n0</a:t>
            </a:r>
          </a:p>
        </p:txBody>
      </p:sp>
      <p:sp>
        <p:nvSpPr>
          <p:cNvPr id="738348" name="Oval 86">
            <a:extLst>
              <a:ext uri="{FF2B5EF4-FFF2-40B4-BE49-F238E27FC236}">
                <a16:creationId xmlns:a16="http://schemas.microsoft.com/office/drawing/2014/main" id="{3B5957C0-4DD6-A875-C961-BD35CAF199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5938" y="5840413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n8</a:t>
            </a:r>
          </a:p>
        </p:txBody>
      </p:sp>
      <p:sp>
        <p:nvSpPr>
          <p:cNvPr id="738349" name="Oval 86">
            <a:extLst>
              <a:ext uri="{FF2B5EF4-FFF2-40B4-BE49-F238E27FC236}">
                <a16:creationId xmlns:a16="http://schemas.microsoft.com/office/drawing/2014/main" id="{3D9615D1-A650-13F5-36E0-025CC41370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64313" y="341788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n9'</a:t>
            </a:r>
          </a:p>
        </p:txBody>
      </p:sp>
      <p:sp>
        <p:nvSpPr>
          <p:cNvPr id="738350" name="Oval 86">
            <a:extLst>
              <a:ext uri="{FF2B5EF4-FFF2-40B4-BE49-F238E27FC236}">
                <a16:creationId xmlns:a16="http://schemas.microsoft.com/office/drawing/2014/main" id="{D6FB97A6-510C-2192-2416-0862A24E5F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64313" y="463708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n9"</a:t>
            </a:r>
          </a:p>
        </p:txBody>
      </p:sp>
      <p:sp>
        <p:nvSpPr>
          <p:cNvPr id="738352" name="Text Box 5">
            <a:extLst>
              <a:ext uri="{FF2B5EF4-FFF2-40B4-BE49-F238E27FC236}">
                <a16:creationId xmlns:a16="http://schemas.microsoft.com/office/drawing/2014/main" id="{0595FBFE-2CC8-C30F-0DE2-70A6ADAAA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5781675"/>
            <a:ext cx="2901950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Suppose that we decide to “modularize” the program and make the shaded region into a subroutine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03D237B-3532-3441-0BE6-0422FD87F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B99E-8B8A-8B40-9E56-417570C07FE9}" type="slidenum">
              <a:rPr lang="en-US" altLang="en-US"/>
              <a:pPr/>
              <a:t>22</a:t>
            </a:fld>
            <a:endParaRPr lang="en-US" altLang="en-US"/>
          </a:p>
        </p:txBody>
      </p:sp>
      <p:cxnSp>
        <p:nvCxnSpPr>
          <p:cNvPr id="740354" name="AutoShape 84">
            <a:extLst>
              <a:ext uri="{FF2B5EF4-FFF2-40B4-BE49-F238E27FC236}">
                <a16:creationId xmlns:a16="http://schemas.microsoft.com/office/drawing/2014/main" id="{9A356EE4-7A1A-B4F4-A253-91A6770FCF98}"/>
              </a:ext>
            </a:extLst>
          </p:cNvPr>
          <p:cNvCxnSpPr>
            <a:cxnSpLocks noChangeShapeType="1"/>
            <a:stCxn id="740388" idx="5"/>
            <a:endCxn id="740397" idx="0"/>
          </p:cNvCxnSpPr>
          <p:nvPr/>
        </p:nvCxnSpPr>
        <p:spPr bwMode="auto">
          <a:xfrm>
            <a:off x="5986463" y="3536950"/>
            <a:ext cx="441325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55" name="AutoShape 84">
            <a:extLst>
              <a:ext uri="{FF2B5EF4-FFF2-40B4-BE49-F238E27FC236}">
                <a16:creationId xmlns:a16="http://schemas.microsoft.com/office/drawing/2014/main" id="{D903778A-C247-1932-ED8F-CC86178F1B6C}"/>
              </a:ext>
            </a:extLst>
          </p:cNvPr>
          <p:cNvCxnSpPr>
            <a:cxnSpLocks noChangeShapeType="1"/>
            <a:stCxn id="740397" idx="4"/>
            <a:endCxn id="740390" idx="7"/>
          </p:cNvCxnSpPr>
          <p:nvPr/>
        </p:nvCxnSpPr>
        <p:spPr bwMode="auto">
          <a:xfrm flipH="1">
            <a:off x="5986463" y="4429125"/>
            <a:ext cx="441325" cy="534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0356" name="Rectangle 4">
            <a:extLst>
              <a:ext uri="{FF2B5EF4-FFF2-40B4-BE49-F238E27FC236}">
                <a16:creationId xmlns:a16="http://schemas.microsoft.com/office/drawing/2014/main" id="{085C6382-9DFE-3E70-BA37-1E438A562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CC for Modular Programs (2)</a:t>
            </a:r>
          </a:p>
        </p:txBody>
      </p:sp>
      <p:cxnSp>
        <p:nvCxnSpPr>
          <p:cNvPr id="740357" name="AutoShape 81">
            <a:extLst>
              <a:ext uri="{FF2B5EF4-FFF2-40B4-BE49-F238E27FC236}">
                <a16:creationId xmlns:a16="http://schemas.microsoft.com/office/drawing/2014/main" id="{34240EA9-D65A-A234-9F87-4EEB6B1D2F32}"/>
              </a:ext>
            </a:extLst>
          </p:cNvPr>
          <p:cNvCxnSpPr>
            <a:cxnSpLocks noChangeShapeType="1"/>
            <a:stCxn id="740379" idx="5"/>
            <a:endCxn id="740382" idx="0"/>
          </p:cNvCxnSpPr>
          <p:nvPr/>
        </p:nvCxnSpPr>
        <p:spPr bwMode="auto">
          <a:xfrm rot="5400000" flipH="1" flipV="1">
            <a:off x="2302669" y="2345531"/>
            <a:ext cx="390525" cy="1992313"/>
          </a:xfrm>
          <a:prstGeom prst="curvedConnector5">
            <a:avLst>
              <a:gd name="adj1" fmla="val -75611"/>
              <a:gd name="adj2" fmla="val 45977"/>
              <a:gd name="adj3" fmla="val 15853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58" name="AutoShape 83">
            <a:extLst>
              <a:ext uri="{FF2B5EF4-FFF2-40B4-BE49-F238E27FC236}">
                <a16:creationId xmlns:a16="http://schemas.microsoft.com/office/drawing/2014/main" id="{70CAF591-5DC2-1945-D7E0-C808061E03BE}"/>
              </a:ext>
            </a:extLst>
          </p:cNvPr>
          <p:cNvCxnSpPr>
            <a:cxnSpLocks noChangeShapeType="1"/>
            <a:stCxn id="740386" idx="4"/>
            <a:endCxn id="740379" idx="0"/>
          </p:cNvCxnSpPr>
          <p:nvPr/>
        </p:nvCxnSpPr>
        <p:spPr bwMode="auto">
          <a:xfrm>
            <a:off x="1339850" y="2643188"/>
            <a:ext cx="0" cy="503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59" name="AutoShape 84">
            <a:extLst>
              <a:ext uri="{FF2B5EF4-FFF2-40B4-BE49-F238E27FC236}">
                <a16:creationId xmlns:a16="http://schemas.microsoft.com/office/drawing/2014/main" id="{6802E38B-5790-B738-34AF-D31FEF1E4313}"/>
              </a:ext>
            </a:extLst>
          </p:cNvPr>
          <p:cNvCxnSpPr>
            <a:cxnSpLocks noChangeShapeType="1"/>
            <a:stCxn id="740379" idx="3"/>
            <a:endCxn id="740380" idx="0"/>
          </p:cNvCxnSpPr>
          <p:nvPr/>
        </p:nvCxnSpPr>
        <p:spPr bwMode="auto">
          <a:xfrm flipH="1">
            <a:off x="736600" y="3536950"/>
            <a:ext cx="441325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60" name="AutoShape 84">
            <a:extLst>
              <a:ext uri="{FF2B5EF4-FFF2-40B4-BE49-F238E27FC236}">
                <a16:creationId xmlns:a16="http://schemas.microsoft.com/office/drawing/2014/main" id="{C3348A4F-B872-9603-B113-788535B79AA4}"/>
              </a:ext>
            </a:extLst>
          </p:cNvPr>
          <p:cNvCxnSpPr>
            <a:cxnSpLocks noChangeShapeType="1"/>
            <a:stCxn id="740380" idx="4"/>
            <a:endCxn id="740381" idx="1"/>
          </p:cNvCxnSpPr>
          <p:nvPr/>
        </p:nvCxnSpPr>
        <p:spPr bwMode="auto">
          <a:xfrm>
            <a:off x="736600" y="4429125"/>
            <a:ext cx="441325" cy="534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61" name="AutoShape 83">
            <a:extLst>
              <a:ext uri="{FF2B5EF4-FFF2-40B4-BE49-F238E27FC236}">
                <a16:creationId xmlns:a16="http://schemas.microsoft.com/office/drawing/2014/main" id="{6F069A49-044A-3040-9789-3139F68BF44C}"/>
              </a:ext>
            </a:extLst>
          </p:cNvPr>
          <p:cNvCxnSpPr>
            <a:cxnSpLocks noChangeShapeType="1"/>
            <a:stCxn id="740381" idx="4"/>
            <a:endCxn id="740387" idx="0"/>
          </p:cNvCxnSpPr>
          <p:nvPr/>
        </p:nvCxnSpPr>
        <p:spPr bwMode="auto">
          <a:xfrm>
            <a:off x="1339850" y="5354638"/>
            <a:ext cx="0" cy="485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62" name="AutoShape 84">
            <a:extLst>
              <a:ext uri="{FF2B5EF4-FFF2-40B4-BE49-F238E27FC236}">
                <a16:creationId xmlns:a16="http://schemas.microsoft.com/office/drawing/2014/main" id="{8828DE9D-5FA4-3DA0-CE9C-433C56CEB47E}"/>
              </a:ext>
            </a:extLst>
          </p:cNvPr>
          <p:cNvCxnSpPr>
            <a:cxnSpLocks noChangeShapeType="1"/>
            <a:stCxn id="740382" idx="3"/>
            <a:endCxn id="740383" idx="0"/>
          </p:cNvCxnSpPr>
          <p:nvPr/>
        </p:nvCxnSpPr>
        <p:spPr bwMode="auto">
          <a:xfrm flipH="1">
            <a:off x="2946400" y="3536950"/>
            <a:ext cx="385763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63" name="AutoShape 84">
            <a:extLst>
              <a:ext uri="{FF2B5EF4-FFF2-40B4-BE49-F238E27FC236}">
                <a16:creationId xmlns:a16="http://schemas.microsoft.com/office/drawing/2014/main" id="{9D45796C-0088-986A-3DF2-524FE89FEE18}"/>
              </a:ext>
            </a:extLst>
          </p:cNvPr>
          <p:cNvCxnSpPr>
            <a:cxnSpLocks noChangeShapeType="1"/>
            <a:stCxn id="740383" idx="4"/>
            <a:endCxn id="740385" idx="1"/>
          </p:cNvCxnSpPr>
          <p:nvPr/>
        </p:nvCxnSpPr>
        <p:spPr bwMode="auto">
          <a:xfrm>
            <a:off x="2946400" y="4429125"/>
            <a:ext cx="3857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64" name="AutoShape 84">
            <a:extLst>
              <a:ext uri="{FF2B5EF4-FFF2-40B4-BE49-F238E27FC236}">
                <a16:creationId xmlns:a16="http://schemas.microsoft.com/office/drawing/2014/main" id="{CD20C63D-A59A-3441-9D63-CCEC1E1D6A59}"/>
              </a:ext>
            </a:extLst>
          </p:cNvPr>
          <p:cNvCxnSpPr>
            <a:cxnSpLocks noChangeShapeType="1"/>
            <a:stCxn id="740384" idx="4"/>
            <a:endCxn id="740385" idx="7"/>
          </p:cNvCxnSpPr>
          <p:nvPr/>
        </p:nvCxnSpPr>
        <p:spPr bwMode="auto">
          <a:xfrm flipH="1">
            <a:off x="3656013" y="4429125"/>
            <a:ext cx="385762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65" name="AutoShape 84">
            <a:extLst>
              <a:ext uri="{FF2B5EF4-FFF2-40B4-BE49-F238E27FC236}">
                <a16:creationId xmlns:a16="http://schemas.microsoft.com/office/drawing/2014/main" id="{8AE0CD92-1832-466C-6FEB-06D4F7CB2504}"/>
              </a:ext>
            </a:extLst>
          </p:cNvPr>
          <p:cNvCxnSpPr>
            <a:cxnSpLocks noChangeShapeType="1"/>
            <a:stCxn id="740382" idx="5"/>
            <a:endCxn id="740384" idx="0"/>
          </p:cNvCxnSpPr>
          <p:nvPr/>
        </p:nvCxnSpPr>
        <p:spPr bwMode="auto">
          <a:xfrm>
            <a:off x="3656013" y="3536950"/>
            <a:ext cx="385762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66" name="AutoShape 81">
            <a:extLst>
              <a:ext uri="{FF2B5EF4-FFF2-40B4-BE49-F238E27FC236}">
                <a16:creationId xmlns:a16="http://schemas.microsoft.com/office/drawing/2014/main" id="{F541DB18-39C8-D3F1-A23F-1836B907A728}"/>
              </a:ext>
            </a:extLst>
          </p:cNvPr>
          <p:cNvCxnSpPr>
            <a:cxnSpLocks noChangeShapeType="1"/>
            <a:stCxn id="740385" idx="4"/>
            <a:endCxn id="740381" idx="7"/>
          </p:cNvCxnSpPr>
          <p:nvPr/>
        </p:nvCxnSpPr>
        <p:spPr bwMode="auto">
          <a:xfrm rot="16200000" flipV="1">
            <a:off x="2301876" y="4164012"/>
            <a:ext cx="392112" cy="1992313"/>
          </a:xfrm>
          <a:prstGeom prst="curvedConnector5">
            <a:avLst>
              <a:gd name="adj1" fmla="val -58301"/>
              <a:gd name="adj2" fmla="val 54023"/>
              <a:gd name="adj3" fmla="val 17530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0367" name="Text Box 5">
            <a:extLst>
              <a:ext uri="{FF2B5EF4-FFF2-40B4-BE49-F238E27FC236}">
                <a16:creationId xmlns:a16="http://schemas.microsoft.com/office/drawing/2014/main" id="{6B1F50BD-BD1B-9F9C-BA4C-5163D215B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463" y="1903413"/>
            <a:ext cx="15589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V = e – n + 2</a:t>
            </a:r>
          </a:p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   = 12 – 11 + 2 = 3</a:t>
            </a:r>
          </a:p>
        </p:txBody>
      </p:sp>
      <p:cxnSp>
        <p:nvCxnSpPr>
          <p:cNvPr id="740369" name="AutoShape 83">
            <a:extLst>
              <a:ext uri="{FF2B5EF4-FFF2-40B4-BE49-F238E27FC236}">
                <a16:creationId xmlns:a16="http://schemas.microsoft.com/office/drawing/2014/main" id="{D55842BE-0498-8D8B-C186-65488791BE1C}"/>
              </a:ext>
            </a:extLst>
          </p:cNvPr>
          <p:cNvCxnSpPr>
            <a:cxnSpLocks noChangeShapeType="1"/>
            <a:stCxn id="740395" idx="4"/>
            <a:endCxn id="740388" idx="0"/>
          </p:cNvCxnSpPr>
          <p:nvPr/>
        </p:nvCxnSpPr>
        <p:spPr bwMode="auto">
          <a:xfrm>
            <a:off x="5824538" y="2643188"/>
            <a:ext cx="0" cy="503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70" name="AutoShape 84">
            <a:extLst>
              <a:ext uri="{FF2B5EF4-FFF2-40B4-BE49-F238E27FC236}">
                <a16:creationId xmlns:a16="http://schemas.microsoft.com/office/drawing/2014/main" id="{BD0B5E17-34F8-7C59-6F4A-261D2134B56D}"/>
              </a:ext>
            </a:extLst>
          </p:cNvPr>
          <p:cNvCxnSpPr>
            <a:cxnSpLocks noChangeShapeType="1"/>
            <a:stCxn id="740388" idx="3"/>
            <a:endCxn id="740389" idx="0"/>
          </p:cNvCxnSpPr>
          <p:nvPr/>
        </p:nvCxnSpPr>
        <p:spPr bwMode="auto">
          <a:xfrm flipH="1">
            <a:off x="5221288" y="3536950"/>
            <a:ext cx="441325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71" name="AutoShape 84">
            <a:extLst>
              <a:ext uri="{FF2B5EF4-FFF2-40B4-BE49-F238E27FC236}">
                <a16:creationId xmlns:a16="http://schemas.microsoft.com/office/drawing/2014/main" id="{11197450-DC9D-FEF8-4FD1-C754D84F7744}"/>
              </a:ext>
            </a:extLst>
          </p:cNvPr>
          <p:cNvCxnSpPr>
            <a:cxnSpLocks noChangeShapeType="1"/>
            <a:stCxn id="740389" idx="4"/>
            <a:endCxn id="740390" idx="1"/>
          </p:cNvCxnSpPr>
          <p:nvPr/>
        </p:nvCxnSpPr>
        <p:spPr bwMode="auto">
          <a:xfrm>
            <a:off x="5221288" y="4429125"/>
            <a:ext cx="441325" cy="534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72" name="AutoShape 83">
            <a:extLst>
              <a:ext uri="{FF2B5EF4-FFF2-40B4-BE49-F238E27FC236}">
                <a16:creationId xmlns:a16="http://schemas.microsoft.com/office/drawing/2014/main" id="{83B7344A-F07C-370E-E01F-8B8B019968A2}"/>
              </a:ext>
            </a:extLst>
          </p:cNvPr>
          <p:cNvCxnSpPr>
            <a:cxnSpLocks noChangeShapeType="1"/>
            <a:stCxn id="740390" idx="4"/>
          </p:cNvCxnSpPr>
          <p:nvPr/>
        </p:nvCxnSpPr>
        <p:spPr bwMode="auto">
          <a:xfrm>
            <a:off x="5824538" y="5354638"/>
            <a:ext cx="0" cy="485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73" name="AutoShape 84">
            <a:extLst>
              <a:ext uri="{FF2B5EF4-FFF2-40B4-BE49-F238E27FC236}">
                <a16:creationId xmlns:a16="http://schemas.microsoft.com/office/drawing/2014/main" id="{E7DD0E82-1DC7-29BA-4FA3-200096686114}"/>
              </a:ext>
            </a:extLst>
          </p:cNvPr>
          <p:cNvCxnSpPr>
            <a:cxnSpLocks noChangeShapeType="1"/>
            <a:stCxn id="740391" idx="3"/>
            <a:endCxn id="740392" idx="0"/>
          </p:cNvCxnSpPr>
          <p:nvPr/>
        </p:nvCxnSpPr>
        <p:spPr bwMode="auto">
          <a:xfrm flipH="1">
            <a:off x="7431088" y="3536950"/>
            <a:ext cx="385762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74" name="AutoShape 84">
            <a:extLst>
              <a:ext uri="{FF2B5EF4-FFF2-40B4-BE49-F238E27FC236}">
                <a16:creationId xmlns:a16="http://schemas.microsoft.com/office/drawing/2014/main" id="{E2068F59-DE47-8DED-D75D-44E7A961872E}"/>
              </a:ext>
            </a:extLst>
          </p:cNvPr>
          <p:cNvCxnSpPr>
            <a:cxnSpLocks noChangeShapeType="1"/>
            <a:stCxn id="740392" idx="4"/>
            <a:endCxn id="740394" idx="1"/>
          </p:cNvCxnSpPr>
          <p:nvPr/>
        </p:nvCxnSpPr>
        <p:spPr bwMode="auto">
          <a:xfrm>
            <a:off x="7431088" y="4429125"/>
            <a:ext cx="385762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75" name="AutoShape 84">
            <a:extLst>
              <a:ext uri="{FF2B5EF4-FFF2-40B4-BE49-F238E27FC236}">
                <a16:creationId xmlns:a16="http://schemas.microsoft.com/office/drawing/2014/main" id="{3C942684-2314-E68F-0FE3-5177B5EDE40C}"/>
              </a:ext>
            </a:extLst>
          </p:cNvPr>
          <p:cNvCxnSpPr>
            <a:cxnSpLocks noChangeShapeType="1"/>
            <a:stCxn id="740393" idx="4"/>
            <a:endCxn id="740394" idx="7"/>
          </p:cNvCxnSpPr>
          <p:nvPr/>
        </p:nvCxnSpPr>
        <p:spPr bwMode="auto">
          <a:xfrm flipH="1">
            <a:off x="8140700" y="4429125"/>
            <a:ext cx="3857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0376" name="AutoShape 84">
            <a:extLst>
              <a:ext uri="{FF2B5EF4-FFF2-40B4-BE49-F238E27FC236}">
                <a16:creationId xmlns:a16="http://schemas.microsoft.com/office/drawing/2014/main" id="{18E261D7-608F-5F4A-F4DB-26751FC84629}"/>
              </a:ext>
            </a:extLst>
          </p:cNvPr>
          <p:cNvCxnSpPr>
            <a:cxnSpLocks noChangeShapeType="1"/>
            <a:stCxn id="740391" idx="5"/>
            <a:endCxn id="740393" idx="0"/>
          </p:cNvCxnSpPr>
          <p:nvPr/>
        </p:nvCxnSpPr>
        <p:spPr bwMode="auto">
          <a:xfrm>
            <a:off x="8140700" y="3536950"/>
            <a:ext cx="385763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0377" name="Text Box 5">
            <a:extLst>
              <a:ext uri="{FF2B5EF4-FFF2-40B4-BE49-F238E27FC236}">
                <a16:creationId xmlns:a16="http://schemas.microsoft.com/office/drawing/2014/main" id="{014D8653-77DC-2B0D-F155-D0901517E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9025" y="1303338"/>
            <a:ext cx="3668713" cy="425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Intuitive expectation:</a:t>
            </a:r>
            <a:b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Modularization should not increase complexity</a:t>
            </a:r>
          </a:p>
        </p:txBody>
      </p:sp>
      <p:sp>
        <p:nvSpPr>
          <p:cNvPr id="740378" name="AutoShape 26">
            <a:extLst>
              <a:ext uri="{FF2B5EF4-FFF2-40B4-BE49-F238E27FC236}">
                <a16:creationId xmlns:a16="http://schemas.microsoft.com/office/drawing/2014/main" id="{4F13882E-1BDA-585D-5196-0C403B3318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65650" y="4195763"/>
            <a:ext cx="192088" cy="198437"/>
          </a:xfrm>
          <a:prstGeom prst="rightArrow">
            <a:avLst>
              <a:gd name="adj1" fmla="val 50324"/>
              <a:gd name="adj2" fmla="val 51514"/>
            </a:avLst>
          </a:prstGeom>
          <a:solidFill>
            <a:srgbClr val="80808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0379" name="Oval 86">
            <a:extLst>
              <a:ext uri="{FF2B5EF4-FFF2-40B4-BE49-F238E27FC236}">
                <a16:creationId xmlns:a16="http://schemas.microsoft.com/office/drawing/2014/main" id="{DF30F005-FC86-55FF-153A-5555547A78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250" y="31464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n1</a:t>
            </a:r>
          </a:p>
        </p:txBody>
      </p:sp>
      <p:sp>
        <p:nvSpPr>
          <p:cNvPr id="740380" name="Oval 87">
            <a:extLst>
              <a:ext uri="{FF2B5EF4-FFF2-40B4-BE49-F238E27FC236}">
                <a16:creationId xmlns:a16="http://schemas.microsoft.com/office/drawing/2014/main" id="{B0C26C3A-1B82-E2B6-EB2C-C8D05FD4F6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8000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n2</a:t>
            </a:r>
          </a:p>
        </p:txBody>
      </p:sp>
      <p:sp>
        <p:nvSpPr>
          <p:cNvPr id="740381" name="Oval 86">
            <a:extLst>
              <a:ext uri="{FF2B5EF4-FFF2-40B4-BE49-F238E27FC236}">
                <a16:creationId xmlns:a16="http://schemas.microsoft.com/office/drawing/2014/main" id="{A3830BF3-BAB8-F925-033A-C72AB5485E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250" y="489743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n7</a:t>
            </a:r>
          </a:p>
        </p:txBody>
      </p:sp>
      <p:sp>
        <p:nvSpPr>
          <p:cNvPr id="740382" name="Oval 86">
            <a:extLst>
              <a:ext uri="{FF2B5EF4-FFF2-40B4-BE49-F238E27FC236}">
                <a16:creationId xmlns:a16="http://schemas.microsoft.com/office/drawing/2014/main" id="{AE781A13-7F06-799F-A088-D4F381B585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65488" y="31464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n3</a:t>
            </a:r>
          </a:p>
        </p:txBody>
      </p:sp>
      <p:sp>
        <p:nvSpPr>
          <p:cNvPr id="740383" name="Oval 87">
            <a:extLst>
              <a:ext uri="{FF2B5EF4-FFF2-40B4-BE49-F238E27FC236}">
                <a16:creationId xmlns:a16="http://schemas.microsoft.com/office/drawing/2014/main" id="{CF7F0CA9-09FB-886F-F284-BB8730B685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17800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n4</a:t>
            </a:r>
          </a:p>
        </p:txBody>
      </p:sp>
      <p:sp>
        <p:nvSpPr>
          <p:cNvPr id="740384" name="Oval 86">
            <a:extLst>
              <a:ext uri="{FF2B5EF4-FFF2-40B4-BE49-F238E27FC236}">
                <a16:creationId xmlns:a16="http://schemas.microsoft.com/office/drawing/2014/main" id="{1288D09F-A637-EC10-63FB-FB7B172554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3175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n5</a:t>
            </a:r>
          </a:p>
        </p:txBody>
      </p:sp>
      <p:sp>
        <p:nvSpPr>
          <p:cNvPr id="740385" name="Oval 86">
            <a:extLst>
              <a:ext uri="{FF2B5EF4-FFF2-40B4-BE49-F238E27FC236}">
                <a16:creationId xmlns:a16="http://schemas.microsoft.com/office/drawing/2014/main" id="{C2FF9B82-C0FE-506A-1E21-B3FC13854A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65488" y="48990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n6</a:t>
            </a:r>
          </a:p>
        </p:txBody>
      </p:sp>
      <p:sp>
        <p:nvSpPr>
          <p:cNvPr id="740386" name="Oval 86">
            <a:extLst>
              <a:ext uri="{FF2B5EF4-FFF2-40B4-BE49-F238E27FC236}">
                <a16:creationId xmlns:a16="http://schemas.microsoft.com/office/drawing/2014/main" id="{93F62489-7540-F2DC-DF98-506BC5F154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250" y="218598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n0</a:t>
            </a:r>
          </a:p>
        </p:txBody>
      </p:sp>
      <p:sp>
        <p:nvSpPr>
          <p:cNvPr id="740387" name="Oval 86">
            <a:extLst>
              <a:ext uri="{FF2B5EF4-FFF2-40B4-BE49-F238E27FC236}">
                <a16:creationId xmlns:a16="http://schemas.microsoft.com/office/drawing/2014/main" id="{CE7F6916-FE69-9CD9-22E2-A4112EEC3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250" y="5840413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n8</a:t>
            </a:r>
          </a:p>
        </p:txBody>
      </p:sp>
      <p:sp>
        <p:nvSpPr>
          <p:cNvPr id="740388" name="Oval 86">
            <a:extLst>
              <a:ext uri="{FF2B5EF4-FFF2-40B4-BE49-F238E27FC236}">
                <a16:creationId xmlns:a16="http://schemas.microsoft.com/office/drawing/2014/main" id="{268F7D34-FD27-1EEF-1A2B-D43102611E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5938" y="31464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n1</a:t>
            </a:r>
          </a:p>
        </p:txBody>
      </p:sp>
      <p:sp>
        <p:nvSpPr>
          <p:cNvPr id="740389" name="Oval 87">
            <a:extLst>
              <a:ext uri="{FF2B5EF4-FFF2-40B4-BE49-F238E27FC236}">
                <a16:creationId xmlns:a16="http://schemas.microsoft.com/office/drawing/2014/main" id="{F4B2630E-EB83-C161-BC4E-BF3B061304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2688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n2</a:t>
            </a:r>
          </a:p>
        </p:txBody>
      </p:sp>
      <p:sp>
        <p:nvSpPr>
          <p:cNvPr id="740390" name="Oval 86">
            <a:extLst>
              <a:ext uri="{FF2B5EF4-FFF2-40B4-BE49-F238E27FC236}">
                <a16:creationId xmlns:a16="http://schemas.microsoft.com/office/drawing/2014/main" id="{7A1A47EB-EC9D-5B6B-9DBC-04F6B149DB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5938" y="489743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n7</a:t>
            </a:r>
          </a:p>
        </p:txBody>
      </p:sp>
      <p:sp>
        <p:nvSpPr>
          <p:cNvPr id="740391" name="Oval 86">
            <a:extLst>
              <a:ext uri="{FF2B5EF4-FFF2-40B4-BE49-F238E27FC236}">
                <a16:creationId xmlns:a16="http://schemas.microsoft.com/office/drawing/2014/main" id="{ED536B98-70E8-BD11-B19E-4185FC307A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50175" y="31464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n3</a:t>
            </a:r>
          </a:p>
        </p:txBody>
      </p:sp>
      <p:sp>
        <p:nvSpPr>
          <p:cNvPr id="740392" name="Oval 87">
            <a:extLst>
              <a:ext uri="{FF2B5EF4-FFF2-40B4-BE49-F238E27FC236}">
                <a16:creationId xmlns:a16="http://schemas.microsoft.com/office/drawing/2014/main" id="{F4368CB6-8C47-4CDA-21A6-BE77FFA905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02488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n4</a:t>
            </a:r>
          </a:p>
        </p:txBody>
      </p:sp>
      <p:sp>
        <p:nvSpPr>
          <p:cNvPr id="740393" name="Oval 86">
            <a:extLst>
              <a:ext uri="{FF2B5EF4-FFF2-40B4-BE49-F238E27FC236}">
                <a16:creationId xmlns:a16="http://schemas.microsoft.com/office/drawing/2014/main" id="{6FD15889-A1B8-13AC-2286-9B4673DD7E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97863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n5</a:t>
            </a:r>
          </a:p>
        </p:txBody>
      </p:sp>
      <p:sp>
        <p:nvSpPr>
          <p:cNvPr id="740394" name="Oval 86">
            <a:extLst>
              <a:ext uri="{FF2B5EF4-FFF2-40B4-BE49-F238E27FC236}">
                <a16:creationId xmlns:a16="http://schemas.microsoft.com/office/drawing/2014/main" id="{5131FDCC-4478-D291-B305-81591DB060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50175" y="48990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n6</a:t>
            </a:r>
          </a:p>
        </p:txBody>
      </p:sp>
      <p:sp>
        <p:nvSpPr>
          <p:cNvPr id="740395" name="Oval 86">
            <a:extLst>
              <a:ext uri="{FF2B5EF4-FFF2-40B4-BE49-F238E27FC236}">
                <a16:creationId xmlns:a16="http://schemas.microsoft.com/office/drawing/2014/main" id="{B5A40A96-4DE3-5079-14B9-C6435A45DE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5938" y="218598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n0</a:t>
            </a:r>
          </a:p>
        </p:txBody>
      </p:sp>
      <p:sp>
        <p:nvSpPr>
          <p:cNvPr id="740396" name="Oval 86">
            <a:extLst>
              <a:ext uri="{FF2B5EF4-FFF2-40B4-BE49-F238E27FC236}">
                <a16:creationId xmlns:a16="http://schemas.microsoft.com/office/drawing/2014/main" id="{709BF68B-FFCE-CD9D-DF18-981D2A6225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5938" y="5840413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n8</a:t>
            </a:r>
          </a:p>
        </p:txBody>
      </p:sp>
      <p:sp>
        <p:nvSpPr>
          <p:cNvPr id="740397" name="Oval 87">
            <a:extLst>
              <a:ext uri="{FF2B5EF4-FFF2-40B4-BE49-F238E27FC236}">
                <a16:creationId xmlns:a16="http://schemas.microsoft.com/office/drawing/2014/main" id="{C92D68AE-3242-ECCC-D6EB-A86B6FEC13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99188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n9</a:t>
            </a:r>
          </a:p>
        </p:txBody>
      </p:sp>
      <p:sp>
        <p:nvSpPr>
          <p:cNvPr id="740398" name="Text Box 5">
            <a:extLst>
              <a:ext uri="{FF2B5EF4-FFF2-40B4-BE49-F238E27FC236}">
                <a16:creationId xmlns:a16="http://schemas.microsoft.com/office/drawing/2014/main" id="{08DBE89A-9238-9082-34DA-20A850B0A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3635375"/>
            <a:ext cx="669925" cy="21272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CALL A</a:t>
            </a:r>
          </a:p>
        </p:txBody>
      </p:sp>
      <p:sp>
        <p:nvSpPr>
          <p:cNvPr id="740399" name="Text Box 5">
            <a:extLst>
              <a:ext uri="{FF2B5EF4-FFF2-40B4-BE49-F238E27FC236}">
                <a16:creationId xmlns:a16="http://schemas.microsoft.com/office/drawing/2014/main" id="{CF93C210-FB72-489A-BD59-910978288CE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488238" y="2925763"/>
            <a:ext cx="206375" cy="21272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A:</a:t>
            </a:r>
          </a:p>
        </p:txBody>
      </p:sp>
      <p:sp>
        <p:nvSpPr>
          <p:cNvPr id="740400" name="Text Box 5">
            <a:extLst>
              <a:ext uri="{FF2B5EF4-FFF2-40B4-BE49-F238E27FC236}">
                <a16:creationId xmlns:a16="http://schemas.microsoft.com/office/drawing/2014/main" id="{7E16990D-0E38-8FF7-C548-2CA50D9A6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825" y="1973263"/>
            <a:ext cx="18446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V = e – n + 2p</a:t>
            </a:r>
          </a:p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   = 10 – 10 + 2 x 2 =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0E70A4-E75E-77DE-2D62-EC8BC4C7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4B80F-3C4E-234C-A110-7308CAAFEC78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737282" name="Rectangle 2">
            <a:extLst>
              <a:ext uri="{FF2B5EF4-FFF2-40B4-BE49-F238E27FC236}">
                <a16:creationId xmlns:a16="http://schemas.microsoft.com/office/drawing/2014/main" id="{6D7AEF08-8870-3463-43F2-287F222B83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Modified CC Measures</a:t>
            </a:r>
          </a:p>
        </p:txBody>
      </p:sp>
      <p:sp>
        <p:nvSpPr>
          <p:cNvPr id="737283" name="Rectangle 3">
            <a:extLst>
              <a:ext uri="{FF2B5EF4-FFF2-40B4-BE49-F238E27FC236}">
                <a16:creationId xmlns:a16="http://schemas.microsoft.com/office/drawing/2014/main" id="{8CE728E7-D966-604E-B5C4-7A23293E1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Given </a:t>
            </a:r>
            <a:r>
              <a:rPr lang="en-US" altLang="en-US" b="1" i="1"/>
              <a:t>p</a:t>
            </a:r>
            <a:r>
              <a:rPr lang="en-US" altLang="en-US"/>
              <a:t> connected components of a graph:</a:t>
            </a:r>
          </a:p>
          <a:p>
            <a:pPr lvl="1">
              <a:spcBef>
                <a:spcPct val="60000"/>
              </a:spcBef>
            </a:pPr>
            <a:r>
              <a:rPr lang="en-US" altLang="en-US"/>
              <a:t>V(G) = e – n + 2p		(1)</a:t>
            </a:r>
          </a:p>
          <a:p>
            <a:pPr lvl="1">
              <a:spcBef>
                <a:spcPct val="60000"/>
              </a:spcBef>
            </a:pPr>
            <a:r>
              <a:rPr lang="en-US" altLang="en-US"/>
              <a:t>V</a:t>
            </a:r>
            <a:r>
              <a:rPr lang="en-US" altLang="en-US" baseline="-25000"/>
              <a:t>LI</a:t>
            </a:r>
            <a:r>
              <a:rPr lang="en-US" altLang="en-US"/>
              <a:t>(G) = e – n + p + 1		(2)</a:t>
            </a:r>
          </a:p>
          <a:p>
            <a:pPr lvl="1">
              <a:spcBef>
                <a:spcPct val="60000"/>
              </a:spcBef>
            </a:pPr>
            <a:r>
              <a:rPr lang="en-US" altLang="en-US"/>
              <a:t>Eq. (2) is known as </a:t>
            </a:r>
            <a:r>
              <a:rPr lang="en-US" altLang="en-US" i="1"/>
              <a:t>linearly-independent</a:t>
            </a:r>
            <a:r>
              <a:rPr lang="en-US" altLang="en-US"/>
              <a:t> cyclomatic complexity</a:t>
            </a:r>
          </a:p>
          <a:p>
            <a:pPr lvl="1">
              <a:spcBef>
                <a:spcPct val="60000"/>
              </a:spcBef>
            </a:pPr>
            <a:r>
              <a:rPr lang="en-US" altLang="en-US"/>
              <a:t>V</a:t>
            </a:r>
            <a:r>
              <a:rPr lang="en-US" altLang="en-US" baseline="-25000"/>
              <a:t>LI</a:t>
            </a:r>
            <a:r>
              <a:rPr lang="en-US" altLang="en-US"/>
              <a:t> does not change when program is modularized into </a:t>
            </a:r>
            <a:r>
              <a:rPr lang="en-US" altLang="en-US" i="1"/>
              <a:t>p</a:t>
            </a:r>
            <a:r>
              <a:rPr lang="en-US" altLang="en-US"/>
              <a:t> modules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E85E2B1-EFDE-893B-D259-C3DCC530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BB76-E823-084E-B30E-DDDF74A2274E}" type="slidenum">
              <a:rPr lang="en-US" altLang="en-US"/>
              <a:pPr/>
              <a:t>24</a:t>
            </a:fld>
            <a:endParaRPr lang="en-US" altLang="en-US"/>
          </a:p>
        </p:txBody>
      </p:sp>
      <p:cxnSp>
        <p:nvCxnSpPr>
          <p:cNvPr id="755714" name="AutoShape 84">
            <a:extLst>
              <a:ext uri="{FF2B5EF4-FFF2-40B4-BE49-F238E27FC236}">
                <a16:creationId xmlns:a16="http://schemas.microsoft.com/office/drawing/2014/main" id="{18E382ED-3276-727E-418A-68BF9967D93F}"/>
              </a:ext>
            </a:extLst>
          </p:cNvPr>
          <p:cNvCxnSpPr>
            <a:cxnSpLocks noChangeShapeType="1"/>
            <a:stCxn id="755748" idx="5"/>
            <a:endCxn id="755757" idx="0"/>
          </p:cNvCxnSpPr>
          <p:nvPr/>
        </p:nvCxnSpPr>
        <p:spPr bwMode="auto">
          <a:xfrm>
            <a:off x="5986463" y="3536950"/>
            <a:ext cx="441325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15" name="AutoShape 84">
            <a:extLst>
              <a:ext uri="{FF2B5EF4-FFF2-40B4-BE49-F238E27FC236}">
                <a16:creationId xmlns:a16="http://schemas.microsoft.com/office/drawing/2014/main" id="{65208D4C-24C2-C6F3-BCB7-49AE263E818E}"/>
              </a:ext>
            </a:extLst>
          </p:cNvPr>
          <p:cNvCxnSpPr>
            <a:cxnSpLocks noChangeShapeType="1"/>
            <a:stCxn id="755757" idx="4"/>
            <a:endCxn id="755750" idx="7"/>
          </p:cNvCxnSpPr>
          <p:nvPr/>
        </p:nvCxnSpPr>
        <p:spPr bwMode="auto">
          <a:xfrm flipH="1">
            <a:off x="5986463" y="4429125"/>
            <a:ext cx="441325" cy="534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5716" name="Rectangle 4">
            <a:extLst>
              <a:ext uri="{FF2B5EF4-FFF2-40B4-BE49-F238E27FC236}">
                <a16:creationId xmlns:a16="http://schemas.microsoft.com/office/drawing/2014/main" id="{136A5198-A3DF-EC6F-48C3-BFDE43D4CE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CC for Modular Programs (3)</a:t>
            </a:r>
          </a:p>
        </p:txBody>
      </p:sp>
      <p:cxnSp>
        <p:nvCxnSpPr>
          <p:cNvPr id="755717" name="AutoShape 81">
            <a:extLst>
              <a:ext uri="{FF2B5EF4-FFF2-40B4-BE49-F238E27FC236}">
                <a16:creationId xmlns:a16="http://schemas.microsoft.com/office/drawing/2014/main" id="{DEEE6FA5-7FD5-DD02-5670-DD0BF41096C9}"/>
              </a:ext>
            </a:extLst>
          </p:cNvPr>
          <p:cNvCxnSpPr>
            <a:cxnSpLocks noChangeShapeType="1"/>
            <a:stCxn id="755739" idx="5"/>
            <a:endCxn id="755742" idx="0"/>
          </p:cNvCxnSpPr>
          <p:nvPr/>
        </p:nvCxnSpPr>
        <p:spPr bwMode="auto">
          <a:xfrm rot="5400000" flipH="1" flipV="1">
            <a:off x="2302669" y="2345531"/>
            <a:ext cx="390525" cy="1992313"/>
          </a:xfrm>
          <a:prstGeom prst="curvedConnector5">
            <a:avLst>
              <a:gd name="adj1" fmla="val -75611"/>
              <a:gd name="adj2" fmla="val 45977"/>
              <a:gd name="adj3" fmla="val 15853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18" name="AutoShape 83">
            <a:extLst>
              <a:ext uri="{FF2B5EF4-FFF2-40B4-BE49-F238E27FC236}">
                <a16:creationId xmlns:a16="http://schemas.microsoft.com/office/drawing/2014/main" id="{3CEA26C7-24AC-FC29-AD32-6CB26F6F80C5}"/>
              </a:ext>
            </a:extLst>
          </p:cNvPr>
          <p:cNvCxnSpPr>
            <a:cxnSpLocks noChangeShapeType="1"/>
            <a:stCxn id="755746" idx="4"/>
            <a:endCxn id="755739" idx="0"/>
          </p:cNvCxnSpPr>
          <p:nvPr/>
        </p:nvCxnSpPr>
        <p:spPr bwMode="auto">
          <a:xfrm>
            <a:off x="1339850" y="2643188"/>
            <a:ext cx="0" cy="503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19" name="AutoShape 84">
            <a:extLst>
              <a:ext uri="{FF2B5EF4-FFF2-40B4-BE49-F238E27FC236}">
                <a16:creationId xmlns:a16="http://schemas.microsoft.com/office/drawing/2014/main" id="{A115C5FC-AC8F-7738-C632-940EA45B0258}"/>
              </a:ext>
            </a:extLst>
          </p:cNvPr>
          <p:cNvCxnSpPr>
            <a:cxnSpLocks noChangeShapeType="1"/>
            <a:stCxn id="755739" idx="3"/>
            <a:endCxn id="755740" idx="0"/>
          </p:cNvCxnSpPr>
          <p:nvPr/>
        </p:nvCxnSpPr>
        <p:spPr bwMode="auto">
          <a:xfrm flipH="1">
            <a:off x="736600" y="3536950"/>
            <a:ext cx="441325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20" name="AutoShape 84">
            <a:extLst>
              <a:ext uri="{FF2B5EF4-FFF2-40B4-BE49-F238E27FC236}">
                <a16:creationId xmlns:a16="http://schemas.microsoft.com/office/drawing/2014/main" id="{304CBDA7-73BC-4DD8-68D1-6EC8948AD7D8}"/>
              </a:ext>
            </a:extLst>
          </p:cNvPr>
          <p:cNvCxnSpPr>
            <a:cxnSpLocks noChangeShapeType="1"/>
            <a:stCxn id="755740" idx="4"/>
            <a:endCxn id="755741" idx="1"/>
          </p:cNvCxnSpPr>
          <p:nvPr/>
        </p:nvCxnSpPr>
        <p:spPr bwMode="auto">
          <a:xfrm>
            <a:off x="736600" y="4429125"/>
            <a:ext cx="441325" cy="534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21" name="AutoShape 83">
            <a:extLst>
              <a:ext uri="{FF2B5EF4-FFF2-40B4-BE49-F238E27FC236}">
                <a16:creationId xmlns:a16="http://schemas.microsoft.com/office/drawing/2014/main" id="{FC5C77C1-5D4D-76A6-C2E8-49EDC6A1DF0D}"/>
              </a:ext>
            </a:extLst>
          </p:cNvPr>
          <p:cNvCxnSpPr>
            <a:cxnSpLocks noChangeShapeType="1"/>
            <a:stCxn id="755741" idx="4"/>
            <a:endCxn id="755747" idx="0"/>
          </p:cNvCxnSpPr>
          <p:nvPr/>
        </p:nvCxnSpPr>
        <p:spPr bwMode="auto">
          <a:xfrm>
            <a:off x="1339850" y="5354638"/>
            <a:ext cx="0" cy="485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22" name="AutoShape 84">
            <a:extLst>
              <a:ext uri="{FF2B5EF4-FFF2-40B4-BE49-F238E27FC236}">
                <a16:creationId xmlns:a16="http://schemas.microsoft.com/office/drawing/2014/main" id="{D38B7147-D2C5-1412-94DB-47358B50B8F1}"/>
              </a:ext>
            </a:extLst>
          </p:cNvPr>
          <p:cNvCxnSpPr>
            <a:cxnSpLocks noChangeShapeType="1"/>
            <a:stCxn id="755742" idx="3"/>
            <a:endCxn id="755743" idx="0"/>
          </p:cNvCxnSpPr>
          <p:nvPr/>
        </p:nvCxnSpPr>
        <p:spPr bwMode="auto">
          <a:xfrm flipH="1">
            <a:off x="2946400" y="3536950"/>
            <a:ext cx="385763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23" name="AutoShape 84">
            <a:extLst>
              <a:ext uri="{FF2B5EF4-FFF2-40B4-BE49-F238E27FC236}">
                <a16:creationId xmlns:a16="http://schemas.microsoft.com/office/drawing/2014/main" id="{8F3D5A0C-110E-E81C-F18C-1EB33AB93085}"/>
              </a:ext>
            </a:extLst>
          </p:cNvPr>
          <p:cNvCxnSpPr>
            <a:cxnSpLocks noChangeShapeType="1"/>
            <a:stCxn id="755743" idx="4"/>
            <a:endCxn id="755745" idx="1"/>
          </p:cNvCxnSpPr>
          <p:nvPr/>
        </p:nvCxnSpPr>
        <p:spPr bwMode="auto">
          <a:xfrm>
            <a:off x="2946400" y="4429125"/>
            <a:ext cx="3857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24" name="AutoShape 84">
            <a:extLst>
              <a:ext uri="{FF2B5EF4-FFF2-40B4-BE49-F238E27FC236}">
                <a16:creationId xmlns:a16="http://schemas.microsoft.com/office/drawing/2014/main" id="{6191C486-1047-DA36-DD6F-0C10F738665B}"/>
              </a:ext>
            </a:extLst>
          </p:cNvPr>
          <p:cNvCxnSpPr>
            <a:cxnSpLocks noChangeShapeType="1"/>
            <a:stCxn id="755744" idx="4"/>
            <a:endCxn id="755745" idx="7"/>
          </p:cNvCxnSpPr>
          <p:nvPr/>
        </p:nvCxnSpPr>
        <p:spPr bwMode="auto">
          <a:xfrm flipH="1">
            <a:off x="3656013" y="4429125"/>
            <a:ext cx="385762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25" name="AutoShape 84">
            <a:extLst>
              <a:ext uri="{FF2B5EF4-FFF2-40B4-BE49-F238E27FC236}">
                <a16:creationId xmlns:a16="http://schemas.microsoft.com/office/drawing/2014/main" id="{A1D7E8C5-BB9C-40E4-260F-73C7071DFB2B}"/>
              </a:ext>
            </a:extLst>
          </p:cNvPr>
          <p:cNvCxnSpPr>
            <a:cxnSpLocks noChangeShapeType="1"/>
            <a:stCxn id="755742" idx="5"/>
            <a:endCxn id="755744" idx="0"/>
          </p:cNvCxnSpPr>
          <p:nvPr/>
        </p:nvCxnSpPr>
        <p:spPr bwMode="auto">
          <a:xfrm>
            <a:off x="3656013" y="3536950"/>
            <a:ext cx="385762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26" name="AutoShape 81">
            <a:extLst>
              <a:ext uri="{FF2B5EF4-FFF2-40B4-BE49-F238E27FC236}">
                <a16:creationId xmlns:a16="http://schemas.microsoft.com/office/drawing/2014/main" id="{C09D6359-0C28-9306-7B9B-D279D7F6EC40}"/>
              </a:ext>
            </a:extLst>
          </p:cNvPr>
          <p:cNvCxnSpPr>
            <a:cxnSpLocks noChangeShapeType="1"/>
            <a:stCxn id="755745" idx="4"/>
            <a:endCxn id="755741" idx="7"/>
          </p:cNvCxnSpPr>
          <p:nvPr/>
        </p:nvCxnSpPr>
        <p:spPr bwMode="auto">
          <a:xfrm rot="16200000" flipV="1">
            <a:off x="2301876" y="4164012"/>
            <a:ext cx="392112" cy="1992313"/>
          </a:xfrm>
          <a:prstGeom prst="curvedConnector5">
            <a:avLst>
              <a:gd name="adj1" fmla="val -58301"/>
              <a:gd name="adj2" fmla="val 54023"/>
              <a:gd name="adj3" fmla="val 17530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5727" name="Text Box 5">
            <a:extLst>
              <a:ext uri="{FF2B5EF4-FFF2-40B4-BE49-F238E27FC236}">
                <a16:creationId xmlns:a16="http://schemas.microsoft.com/office/drawing/2014/main" id="{0124FD40-70EF-B1C8-C402-9EFD376EC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463" y="1903413"/>
            <a:ext cx="15589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V = e – n + 2</a:t>
            </a:r>
          </a:p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   = 12 – 11 + 2 = 3</a:t>
            </a:r>
          </a:p>
        </p:txBody>
      </p:sp>
      <p:sp>
        <p:nvSpPr>
          <p:cNvPr id="755728" name="Text Box 5">
            <a:extLst>
              <a:ext uri="{FF2B5EF4-FFF2-40B4-BE49-F238E27FC236}">
                <a16:creationId xmlns:a16="http://schemas.microsoft.com/office/drawing/2014/main" id="{ECBB973E-E6B0-1223-BF41-8D4EDDFEA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550" y="5867400"/>
            <a:ext cx="19573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en-US" sz="1600" baseline="-20000"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= e – n + p + 1</a:t>
            </a:r>
          </a:p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     = 12 – 11 + 1 + 1 = 3</a:t>
            </a:r>
          </a:p>
        </p:txBody>
      </p:sp>
      <p:cxnSp>
        <p:nvCxnSpPr>
          <p:cNvPr id="755729" name="AutoShape 83">
            <a:extLst>
              <a:ext uri="{FF2B5EF4-FFF2-40B4-BE49-F238E27FC236}">
                <a16:creationId xmlns:a16="http://schemas.microsoft.com/office/drawing/2014/main" id="{B9BDAE5F-D8C8-EBA2-5CBA-8787BB769B25}"/>
              </a:ext>
            </a:extLst>
          </p:cNvPr>
          <p:cNvCxnSpPr>
            <a:cxnSpLocks noChangeShapeType="1"/>
            <a:stCxn id="755755" idx="4"/>
            <a:endCxn id="755748" idx="0"/>
          </p:cNvCxnSpPr>
          <p:nvPr/>
        </p:nvCxnSpPr>
        <p:spPr bwMode="auto">
          <a:xfrm>
            <a:off x="5824538" y="2643188"/>
            <a:ext cx="0" cy="503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30" name="AutoShape 84">
            <a:extLst>
              <a:ext uri="{FF2B5EF4-FFF2-40B4-BE49-F238E27FC236}">
                <a16:creationId xmlns:a16="http://schemas.microsoft.com/office/drawing/2014/main" id="{C7A24EAD-905D-3D68-5DB2-EB7B2447AB6A}"/>
              </a:ext>
            </a:extLst>
          </p:cNvPr>
          <p:cNvCxnSpPr>
            <a:cxnSpLocks noChangeShapeType="1"/>
            <a:stCxn id="755748" idx="3"/>
            <a:endCxn id="755749" idx="0"/>
          </p:cNvCxnSpPr>
          <p:nvPr/>
        </p:nvCxnSpPr>
        <p:spPr bwMode="auto">
          <a:xfrm flipH="1">
            <a:off x="5221288" y="3536950"/>
            <a:ext cx="441325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31" name="AutoShape 84">
            <a:extLst>
              <a:ext uri="{FF2B5EF4-FFF2-40B4-BE49-F238E27FC236}">
                <a16:creationId xmlns:a16="http://schemas.microsoft.com/office/drawing/2014/main" id="{1BFF7F02-A9D6-C4D2-5119-70E7E1E99111}"/>
              </a:ext>
            </a:extLst>
          </p:cNvPr>
          <p:cNvCxnSpPr>
            <a:cxnSpLocks noChangeShapeType="1"/>
            <a:stCxn id="755749" idx="4"/>
            <a:endCxn id="755750" idx="1"/>
          </p:cNvCxnSpPr>
          <p:nvPr/>
        </p:nvCxnSpPr>
        <p:spPr bwMode="auto">
          <a:xfrm>
            <a:off x="5221288" y="4429125"/>
            <a:ext cx="441325" cy="534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32" name="AutoShape 83">
            <a:extLst>
              <a:ext uri="{FF2B5EF4-FFF2-40B4-BE49-F238E27FC236}">
                <a16:creationId xmlns:a16="http://schemas.microsoft.com/office/drawing/2014/main" id="{0E3ADA99-7553-3318-605D-BC3FAAD322C5}"/>
              </a:ext>
            </a:extLst>
          </p:cNvPr>
          <p:cNvCxnSpPr>
            <a:cxnSpLocks noChangeShapeType="1"/>
            <a:stCxn id="755750" idx="4"/>
          </p:cNvCxnSpPr>
          <p:nvPr/>
        </p:nvCxnSpPr>
        <p:spPr bwMode="auto">
          <a:xfrm>
            <a:off x="5824538" y="5354638"/>
            <a:ext cx="0" cy="485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33" name="AutoShape 84">
            <a:extLst>
              <a:ext uri="{FF2B5EF4-FFF2-40B4-BE49-F238E27FC236}">
                <a16:creationId xmlns:a16="http://schemas.microsoft.com/office/drawing/2014/main" id="{C2D4140B-995A-C752-2486-F3EBA2D334B4}"/>
              </a:ext>
            </a:extLst>
          </p:cNvPr>
          <p:cNvCxnSpPr>
            <a:cxnSpLocks noChangeShapeType="1"/>
            <a:stCxn id="755751" idx="3"/>
            <a:endCxn id="755752" idx="0"/>
          </p:cNvCxnSpPr>
          <p:nvPr/>
        </p:nvCxnSpPr>
        <p:spPr bwMode="auto">
          <a:xfrm flipH="1">
            <a:off x="7431088" y="3536950"/>
            <a:ext cx="385762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34" name="AutoShape 84">
            <a:extLst>
              <a:ext uri="{FF2B5EF4-FFF2-40B4-BE49-F238E27FC236}">
                <a16:creationId xmlns:a16="http://schemas.microsoft.com/office/drawing/2014/main" id="{BB1C86F4-44C3-9429-728A-81BDBFA6991D}"/>
              </a:ext>
            </a:extLst>
          </p:cNvPr>
          <p:cNvCxnSpPr>
            <a:cxnSpLocks noChangeShapeType="1"/>
            <a:stCxn id="755752" idx="4"/>
            <a:endCxn id="755754" idx="1"/>
          </p:cNvCxnSpPr>
          <p:nvPr/>
        </p:nvCxnSpPr>
        <p:spPr bwMode="auto">
          <a:xfrm>
            <a:off x="7431088" y="4429125"/>
            <a:ext cx="385762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35" name="AutoShape 84">
            <a:extLst>
              <a:ext uri="{FF2B5EF4-FFF2-40B4-BE49-F238E27FC236}">
                <a16:creationId xmlns:a16="http://schemas.microsoft.com/office/drawing/2014/main" id="{3C1A6CB5-5BE4-DF50-47A0-3F1765F1439A}"/>
              </a:ext>
            </a:extLst>
          </p:cNvPr>
          <p:cNvCxnSpPr>
            <a:cxnSpLocks noChangeShapeType="1"/>
            <a:stCxn id="755753" idx="4"/>
            <a:endCxn id="755754" idx="7"/>
          </p:cNvCxnSpPr>
          <p:nvPr/>
        </p:nvCxnSpPr>
        <p:spPr bwMode="auto">
          <a:xfrm flipH="1">
            <a:off x="8140700" y="4429125"/>
            <a:ext cx="3857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5736" name="AutoShape 84">
            <a:extLst>
              <a:ext uri="{FF2B5EF4-FFF2-40B4-BE49-F238E27FC236}">
                <a16:creationId xmlns:a16="http://schemas.microsoft.com/office/drawing/2014/main" id="{6AD330F0-DB03-9C1B-FD0E-357E1EB87318}"/>
              </a:ext>
            </a:extLst>
          </p:cNvPr>
          <p:cNvCxnSpPr>
            <a:cxnSpLocks noChangeShapeType="1"/>
            <a:stCxn id="755751" idx="5"/>
            <a:endCxn id="755753" idx="0"/>
          </p:cNvCxnSpPr>
          <p:nvPr/>
        </p:nvCxnSpPr>
        <p:spPr bwMode="auto">
          <a:xfrm>
            <a:off x="8140700" y="3536950"/>
            <a:ext cx="385763" cy="434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5737" name="Text Box 5">
            <a:extLst>
              <a:ext uri="{FF2B5EF4-FFF2-40B4-BE49-F238E27FC236}">
                <a16:creationId xmlns:a16="http://schemas.microsoft.com/office/drawing/2014/main" id="{A08C9FDB-576D-560F-3165-E12C3E721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9025" y="1303338"/>
            <a:ext cx="3668713" cy="425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Intuitive expectation:</a:t>
            </a:r>
            <a:b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Modularization should not increase complexity</a:t>
            </a:r>
          </a:p>
        </p:txBody>
      </p:sp>
      <p:sp>
        <p:nvSpPr>
          <p:cNvPr id="755738" name="AutoShape 26">
            <a:extLst>
              <a:ext uri="{FF2B5EF4-FFF2-40B4-BE49-F238E27FC236}">
                <a16:creationId xmlns:a16="http://schemas.microsoft.com/office/drawing/2014/main" id="{F7EC90CA-A2C5-4E23-CC1E-85688ECEB1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65650" y="4195763"/>
            <a:ext cx="192088" cy="198437"/>
          </a:xfrm>
          <a:prstGeom prst="rightArrow">
            <a:avLst>
              <a:gd name="adj1" fmla="val 50324"/>
              <a:gd name="adj2" fmla="val 51514"/>
            </a:avLst>
          </a:prstGeom>
          <a:solidFill>
            <a:srgbClr val="80808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5739" name="Oval 86">
            <a:extLst>
              <a:ext uri="{FF2B5EF4-FFF2-40B4-BE49-F238E27FC236}">
                <a16:creationId xmlns:a16="http://schemas.microsoft.com/office/drawing/2014/main" id="{1BAC3AC9-2DFD-D48E-BEB7-2961C7D0B4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250" y="31464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n1</a:t>
            </a:r>
          </a:p>
        </p:txBody>
      </p:sp>
      <p:sp>
        <p:nvSpPr>
          <p:cNvPr id="755740" name="Oval 87">
            <a:extLst>
              <a:ext uri="{FF2B5EF4-FFF2-40B4-BE49-F238E27FC236}">
                <a16:creationId xmlns:a16="http://schemas.microsoft.com/office/drawing/2014/main" id="{C4B3585D-9CE7-BB1C-CE43-5AEADC6DDC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8000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n2</a:t>
            </a:r>
          </a:p>
        </p:txBody>
      </p:sp>
      <p:sp>
        <p:nvSpPr>
          <p:cNvPr id="755741" name="Oval 86">
            <a:extLst>
              <a:ext uri="{FF2B5EF4-FFF2-40B4-BE49-F238E27FC236}">
                <a16:creationId xmlns:a16="http://schemas.microsoft.com/office/drawing/2014/main" id="{D166EC27-9F1A-8A4F-1265-7ACF9A4D07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250" y="489743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n7</a:t>
            </a:r>
          </a:p>
        </p:txBody>
      </p:sp>
      <p:sp>
        <p:nvSpPr>
          <p:cNvPr id="755742" name="Oval 86">
            <a:extLst>
              <a:ext uri="{FF2B5EF4-FFF2-40B4-BE49-F238E27FC236}">
                <a16:creationId xmlns:a16="http://schemas.microsoft.com/office/drawing/2014/main" id="{6725497B-EB83-2EBF-9979-8242D95E2F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65488" y="31464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n3</a:t>
            </a:r>
          </a:p>
        </p:txBody>
      </p:sp>
      <p:sp>
        <p:nvSpPr>
          <p:cNvPr id="755743" name="Oval 87">
            <a:extLst>
              <a:ext uri="{FF2B5EF4-FFF2-40B4-BE49-F238E27FC236}">
                <a16:creationId xmlns:a16="http://schemas.microsoft.com/office/drawing/2014/main" id="{97A1E6DD-E74C-A785-2176-01C972008D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17800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n4</a:t>
            </a:r>
          </a:p>
        </p:txBody>
      </p:sp>
      <p:sp>
        <p:nvSpPr>
          <p:cNvPr id="755744" name="Oval 86">
            <a:extLst>
              <a:ext uri="{FF2B5EF4-FFF2-40B4-BE49-F238E27FC236}">
                <a16:creationId xmlns:a16="http://schemas.microsoft.com/office/drawing/2014/main" id="{549D76E9-CCE3-5C78-C18F-EECB570F4D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3175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n5</a:t>
            </a:r>
          </a:p>
        </p:txBody>
      </p:sp>
      <p:sp>
        <p:nvSpPr>
          <p:cNvPr id="755745" name="Oval 86">
            <a:extLst>
              <a:ext uri="{FF2B5EF4-FFF2-40B4-BE49-F238E27FC236}">
                <a16:creationId xmlns:a16="http://schemas.microsoft.com/office/drawing/2014/main" id="{B195FBDC-5432-7B27-71FE-30D297FA0C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65488" y="48990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n6</a:t>
            </a:r>
          </a:p>
        </p:txBody>
      </p:sp>
      <p:sp>
        <p:nvSpPr>
          <p:cNvPr id="755746" name="Oval 86">
            <a:extLst>
              <a:ext uri="{FF2B5EF4-FFF2-40B4-BE49-F238E27FC236}">
                <a16:creationId xmlns:a16="http://schemas.microsoft.com/office/drawing/2014/main" id="{75E6F205-4CD9-82EF-D7D1-3D4DFFE5A3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250" y="218598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n0</a:t>
            </a:r>
          </a:p>
        </p:txBody>
      </p:sp>
      <p:sp>
        <p:nvSpPr>
          <p:cNvPr id="755747" name="Oval 86">
            <a:extLst>
              <a:ext uri="{FF2B5EF4-FFF2-40B4-BE49-F238E27FC236}">
                <a16:creationId xmlns:a16="http://schemas.microsoft.com/office/drawing/2014/main" id="{22535180-F44F-A319-1E8E-34E4E8F81A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250" y="5840413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n8</a:t>
            </a:r>
          </a:p>
        </p:txBody>
      </p:sp>
      <p:sp>
        <p:nvSpPr>
          <p:cNvPr id="755748" name="Oval 86">
            <a:extLst>
              <a:ext uri="{FF2B5EF4-FFF2-40B4-BE49-F238E27FC236}">
                <a16:creationId xmlns:a16="http://schemas.microsoft.com/office/drawing/2014/main" id="{D13F1A0E-1974-D21B-B965-E770CE254B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5938" y="31464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n1</a:t>
            </a:r>
          </a:p>
        </p:txBody>
      </p:sp>
      <p:sp>
        <p:nvSpPr>
          <p:cNvPr id="755749" name="Oval 87">
            <a:extLst>
              <a:ext uri="{FF2B5EF4-FFF2-40B4-BE49-F238E27FC236}">
                <a16:creationId xmlns:a16="http://schemas.microsoft.com/office/drawing/2014/main" id="{9CFB40B2-4570-8A60-BECB-AD4EAF56F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2688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n2</a:t>
            </a:r>
          </a:p>
        </p:txBody>
      </p:sp>
      <p:sp>
        <p:nvSpPr>
          <p:cNvPr id="755750" name="Oval 86">
            <a:extLst>
              <a:ext uri="{FF2B5EF4-FFF2-40B4-BE49-F238E27FC236}">
                <a16:creationId xmlns:a16="http://schemas.microsoft.com/office/drawing/2014/main" id="{5A1F7B5A-1C09-3FFD-FB9B-106E98F721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5938" y="489743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n7</a:t>
            </a:r>
          </a:p>
        </p:txBody>
      </p:sp>
      <p:sp>
        <p:nvSpPr>
          <p:cNvPr id="755751" name="Oval 86">
            <a:extLst>
              <a:ext uri="{FF2B5EF4-FFF2-40B4-BE49-F238E27FC236}">
                <a16:creationId xmlns:a16="http://schemas.microsoft.com/office/drawing/2014/main" id="{62FE8058-C7EB-93B0-8389-3319DABFB2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50175" y="31464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n3</a:t>
            </a:r>
          </a:p>
        </p:txBody>
      </p:sp>
      <p:sp>
        <p:nvSpPr>
          <p:cNvPr id="755752" name="Oval 87">
            <a:extLst>
              <a:ext uri="{FF2B5EF4-FFF2-40B4-BE49-F238E27FC236}">
                <a16:creationId xmlns:a16="http://schemas.microsoft.com/office/drawing/2014/main" id="{98F3F395-7165-0956-8D30-ACC697B5D1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02488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n4</a:t>
            </a:r>
          </a:p>
        </p:txBody>
      </p:sp>
      <p:sp>
        <p:nvSpPr>
          <p:cNvPr id="755753" name="Oval 86">
            <a:extLst>
              <a:ext uri="{FF2B5EF4-FFF2-40B4-BE49-F238E27FC236}">
                <a16:creationId xmlns:a16="http://schemas.microsoft.com/office/drawing/2014/main" id="{C0A60691-3D91-72D1-56AE-A28A689BE4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97863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n5</a:t>
            </a:r>
          </a:p>
        </p:txBody>
      </p:sp>
      <p:sp>
        <p:nvSpPr>
          <p:cNvPr id="755754" name="Oval 86">
            <a:extLst>
              <a:ext uri="{FF2B5EF4-FFF2-40B4-BE49-F238E27FC236}">
                <a16:creationId xmlns:a16="http://schemas.microsoft.com/office/drawing/2014/main" id="{7EB30AF4-B892-DFE2-C747-C2A6AEBDAE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50175" y="48990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n6</a:t>
            </a:r>
          </a:p>
        </p:txBody>
      </p:sp>
      <p:sp>
        <p:nvSpPr>
          <p:cNvPr id="755755" name="Oval 86">
            <a:extLst>
              <a:ext uri="{FF2B5EF4-FFF2-40B4-BE49-F238E27FC236}">
                <a16:creationId xmlns:a16="http://schemas.microsoft.com/office/drawing/2014/main" id="{9D32E221-46BC-B5D2-8B8B-7261B7A857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5938" y="2185988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n0</a:t>
            </a:r>
          </a:p>
        </p:txBody>
      </p:sp>
      <p:sp>
        <p:nvSpPr>
          <p:cNvPr id="755756" name="Oval 86">
            <a:extLst>
              <a:ext uri="{FF2B5EF4-FFF2-40B4-BE49-F238E27FC236}">
                <a16:creationId xmlns:a16="http://schemas.microsoft.com/office/drawing/2014/main" id="{69153662-1C48-9918-E096-FB5B29C9F0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5938" y="5840413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n8</a:t>
            </a:r>
          </a:p>
        </p:txBody>
      </p:sp>
      <p:sp>
        <p:nvSpPr>
          <p:cNvPr id="755757" name="Oval 87">
            <a:extLst>
              <a:ext uri="{FF2B5EF4-FFF2-40B4-BE49-F238E27FC236}">
                <a16:creationId xmlns:a16="http://schemas.microsoft.com/office/drawing/2014/main" id="{E78F8741-4A6F-5A21-5B71-D0EB0280F2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99188" y="3971925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>
                <a:latin typeface="Arial" panose="020B0604020202020204" pitchFamily="34" charset="0"/>
              </a:rPr>
              <a:t>n9</a:t>
            </a:r>
          </a:p>
        </p:txBody>
      </p:sp>
      <p:sp>
        <p:nvSpPr>
          <p:cNvPr id="755758" name="Text Box 5">
            <a:extLst>
              <a:ext uri="{FF2B5EF4-FFF2-40B4-BE49-F238E27FC236}">
                <a16:creationId xmlns:a16="http://schemas.microsoft.com/office/drawing/2014/main" id="{E9AD09A9-F1F9-A33F-3DB7-B1950E449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3635375"/>
            <a:ext cx="669925" cy="21272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CALL A</a:t>
            </a:r>
          </a:p>
        </p:txBody>
      </p:sp>
      <p:sp>
        <p:nvSpPr>
          <p:cNvPr id="755759" name="Text Box 5">
            <a:extLst>
              <a:ext uri="{FF2B5EF4-FFF2-40B4-BE49-F238E27FC236}">
                <a16:creationId xmlns:a16="http://schemas.microsoft.com/office/drawing/2014/main" id="{3F302594-8759-1B3A-569F-DEE2BC113F8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488238" y="2925763"/>
            <a:ext cx="206375" cy="21272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A:</a:t>
            </a:r>
          </a:p>
        </p:txBody>
      </p:sp>
      <p:sp>
        <p:nvSpPr>
          <p:cNvPr id="755760" name="Text Box 5">
            <a:extLst>
              <a:ext uri="{FF2B5EF4-FFF2-40B4-BE49-F238E27FC236}">
                <a16:creationId xmlns:a16="http://schemas.microsoft.com/office/drawing/2014/main" id="{94F66A6C-3C73-3763-5118-7A3804F1A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825" y="1973263"/>
            <a:ext cx="18446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V = e – n + 2p</a:t>
            </a:r>
          </a:p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   = 10 – 10 + 2 x 2 = 4</a:t>
            </a:r>
          </a:p>
        </p:txBody>
      </p:sp>
      <p:sp>
        <p:nvSpPr>
          <p:cNvPr id="755761" name="Text Box 5">
            <a:extLst>
              <a:ext uri="{FF2B5EF4-FFF2-40B4-BE49-F238E27FC236}">
                <a16:creationId xmlns:a16="http://schemas.microsoft.com/office/drawing/2014/main" id="{D2E81105-A402-1665-C856-F60E9EA2D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638" y="5840413"/>
            <a:ext cx="1957387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en-US" sz="1600" baseline="-20000"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= e – n + p + 1</a:t>
            </a:r>
          </a:p>
          <a:p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     = 10 – 10 + 2 + 1 =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E899D86-7F3E-8663-C244-9D4B5D32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C5C7E-C920-9447-B4C4-642FD2ABFB20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718850" name="Rectangle 2">
            <a:extLst>
              <a:ext uri="{FF2B5EF4-FFF2-40B4-BE49-F238E27FC236}">
                <a16:creationId xmlns:a16="http://schemas.microsoft.com/office/drawing/2014/main" id="{01887200-7A31-7E75-79AE-5DBFBBC3B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Practical SW Quality Issues (1)</a:t>
            </a:r>
          </a:p>
        </p:txBody>
      </p:sp>
      <p:sp>
        <p:nvSpPr>
          <p:cNvPr id="718851" name="Rectangle 3">
            <a:extLst>
              <a:ext uri="{FF2B5EF4-FFF2-40B4-BE49-F238E27FC236}">
                <a16:creationId xmlns:a16="http://schemas.microsoft.com/office/drawing/2014/main" id="{CF920AC4-407A-BAAD-C568-1652317BA0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/>
              <a:t>No program module should exceed a cyclomatic complexity of 10</a:t>
            </a:r>
          </a:p>
          <a:p>
            <a:pPr lvl="2">
              <a:lnSpc>
                <a:spcPct val="80000"/>
              </a:lnSpc>
            </a:pPr>
            <a:r>
              <a:rPr lang="en-US" altLang="en-US" sz="1800"/>
              <a:t>Originally suggested by McCabe</a:t>
            </a:r>
          </a:p>
          <a:p>
            <a:pPr lvl="2">
              <a:lnSpc>
                <a:spcPct val="80000"/>
              </a:lnSpc>
            </a:pPr>
            <a:r>
              <a:rPr lang="en-US" altLang="en-US" sz="1800"/>
              <a:t>P. Jorgensen, </a:t>
            </a:r>
            <a:r>
              <a:rPr lang="en-US" altLang="en-US" sz="1800" i="1"/>
              <a:t>Software Testing: A Craftman’s Approach, 2nd Edition</a:t>
            </a:r>
            <a:r>
              <a:rPr lang="en-US" altLang="en-US" sz="1800"/>
              <a:t>, CRC Press Inc., pp.137-156, 2002 .</a:t>
            </a:r>
          </a:p>
          <a:p>
            <a:pPr>
              <a:lnSpc>
                <a:spcPct val="80000"/>
              </a:lnSpc>
              <a:spcBef>
                <a:spcPct val="60000"/>
              </a:spcBef>
            </a:pPr>
            <a:r>
              <a:rPr lang="en-US" altLang="en-US" sz="2800"/>
              <a:t>Software refactorings are aimed at reducing the complexity of a program’s conditional logic</a:t>
            </a:r>
          </a:p>
          <a:p>
            <a:pPr>
              <a:lnSpc>
                <a:spcPct val="80000"/>
              </a:lnSpc>
              <a:spcBef>
                <a:spcPct val="60000"/>
              </a:spcBef>
              <a:buFontTx/>
              <a:buNone/>
            </a:pPr>
            <a:endParaRPr lang="en-US" altLang="en-US" sz="2000"/>
          </a:p>
          <a:p>
            <a:pPr>
              <a:lnSpc>
                <a:spcPct val="80000"/>
              </a:lnSpc>
              <a:spcBef>
                <a:spcPct val="60000"/>
              </a:spcBef>
              <a:buFontTx/>
              <a:buNone/>
            </a:pPr>
            <a:r>
              <a:rPr lang="en-US" altLang="en-US" sz="2000">
                <a:latin typeface=""/>
              </a:rPr>
              <a:t>♦ </a:t>
            </a:r>
            <a:r>
              <a:rPr lang="en-US" altLang="en-US" sz="2000" i="1"/>
              <a:t>Refactoring: Improving the Design of Existing Code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000"/>
              <a:t>by Martin Fowler, et al.;      Addison-Wesley Professional, 1999.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"/>
              </a:rPr>
              <a:t>♦ </a:t>
            </a:r>
            <a:r>
              <a:rPr lang="en-US" altLang="en-US" sz="2000" i="1"/>
              <a:t>Effective Java</a:t>
            </a:r>
            <a:r>
              <a:rPr lang="en-US" altLang="en-US" sz="2000"/>
              <a:t> (2nd Edition)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000"/>
              <a:t>by Joshua Bloch;	       Addison-Wesley, 2008.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2B2B5B8-52C9-4996-A8FC-ACB4ECF18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62F5A-C832-3646-9905-2EED32ADD092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758786" name="Rectangle 2">
            <a:extLst>
              <a:ext uri="{FF2B5EF4-FFF2-40B4-BE49-F238E27FC236}">
                <a16:creationId xmlns:a16="http://schemas.microsoft.com/office/drawing/2014/main" id="{E7EE3C25-D0F4-25C1-5F55-22D0667243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Practical SW Quality Issues (2)</a:t>
            </a:r>
          </a:p>
        </p:txBody>
      </p:sp>
      <p:sp>
        <p:nvSpPr>
          <p:cNvPr id="758787" name="Rectangle 3">
            <a:extLst>
              <a:ext uri="{FF2B5EF4-FFF2-40B4-BE49-F238E27FC236}">
                <a16:creationId xmlns:a16="http://schemas.microsoft.com/office/drawing/2014/main" id="{FC593C06-52F4-EE06-B379-C5E32D703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600"/>
              <a:t>Cyclomatic complexity is a screening method, to check for potentially problematic code.</a:t>
            </a:r>
          </a:p>
          <a:p>
            <a:pPr>
              <a:lnSpc>
                <a:spcPct val="90000"/>
              </a:lnSpc>
            </a:pPr>
            <a:r>
              <a:rPr lang="en-US" altLang="en-US" sz="3600"/>
              <a:t>As any screening method, it may turn false positives and false negatives</a:t>
            </a:r>
          </a:p>
          <a:p>
            <a:pPr>
              <a:lnSpc>
                <a:spcPct val="90000"/>
              </a:lnSpc>
            </a:pPr>
            <a:r>
              <a:rPr lang="en-US" altLang="en-US" sz="3600"/>
              <a:t>Will learn about more screening methods (cohesion, coupling, …)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242660</TotalTime>
  <Words>3873</Words>
  <Application>Microsoft Macintosh PowerPoint</Application>
  <PresentationFormat>On-screen Show (4:3)</PresentationFormat>
  <Paragraphs>634</Paragraphs>
  <Slides>26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Times New Roman</vt:lpstr>
      <vt:lpstr>Comic Sans MS</vt:lpstr>
      <vt:lpstr>Arial</vt:lpstr>
      <vt:lpstr>Courier New</vt:lpstr>
      <vt:lpstr>Symbol</vt:lpstr>
      <vt:lpstr>Wingdings</vt:lpstr>
      <vt:lpstr/>
      <vt:lpstr>Default Design</vt:lpstr>
      <vt:lpstr>PowerPoint Presentation</vt:lpstr>
      <vt:lpstr>Topics</vt:lpstr>
      <vt:lpstr>Measuring Software Complexity</vt:lpstr>
      <vt:lpstr>Desirable Properties of Complexity Metrics</vt:lpstr>
      <vt:lpstr>Cyclomatic Complexity</vt:lpstr>
      <vt:lpstr>Converting Code to Graph</vt:lpstr>
      <vt:lpstr>Paths in Graphs (1)</vt:lpstr>
      <vt:lpstr>Example Paths </vt:lpstr>
      <vt:lpstr>Paths in Graphs (2)</vt:lpstr>
      <vt:lpstr>Example Circuits &amp; Cycles</vt:lpstr>
      <vt:lpstr>Linearly Independent Paths</vt:lpstr>
      <vt:lpstr>Baseline method for finding the basis set of cycles</vt:lpstr>
      <vt:lpstr>Linearly Independent Paths (1)</vt:lpstr>
      <vt:lpstr>Linearly Independent Paths (2)</vt:lpstr>
      <vt:lpstr>Unit Testing: Path Coverage</vt:lpstr>
      <vt:lpstr>Issues (1)</vt:lpstr>
      <vt:lpstr>Issues (2)</vt:lpstr>
      <vt:lpstr>Issues (3)</vt:lpstr>
      <vt:lpstr>Issues (4)</vt:lpstr>
      <vt:lpstr>Issues (5)</vt:lpstr>
      <vt:lpstr>CC for Modular Programs (1)</vt:lpstr>
      <vt:lpstr>CC for Modular Programs (2)</vt:lpstr>
      <vt:lpstr>Modified CC Measures</vt:lpstr>
      <vt:lpstr>CC for Modular Programs (3)</vt:lpstr>
      <vt:lpstr>Practical SW Quality Issues (1)</vt:lpstr>
      <vt:lpstr>Practical SW Quality Issues (2)</vt:lpstr>
    </vt:vector>
  </TitlesOfParts>
  <Company>Rutgers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Lecture Slides</dc:title>
  <dc:subject>lecture 15: Software Complexity Metrics</dc:subject>
  <dc:creator>Ivan Marsic</dc:creator>
  <cp:keywords>software engineering, software development, software complexity measurement</cp:keywords>
  <cp:lastModifiedBy>Smruti Ranjan Sarangi</cp:lastModifiedBy>
  <cp:revision>3990</cp:revision>
  <dcterms:created xsi:type="dcterms:W3CDTF">2003-05-20T05:14:33Z</dcterms:created>
  <dcterms:modified xsi:type="dcterms:W3CDTF">2025-09-03T18:40:29Z</dcterms:modified>
  <cp:category>lecture slides, course materials</cp:category>
</cp:coreProperties>
</file>