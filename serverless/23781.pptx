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550" r:id="rId3"/>
    <p:sldId id="551" r:id="rId4"/>
    <p:sldId id="542" r:id="rId5"/>
    <p:sldId id="553" r:id="rId6"/>
    <p:sldId id="554" r:id="rId7"/>
    <p:sldId id="555" r:id="rId8"/>
    <p:sldId id="549" r:id="rId9"/>
    <p:sldId id="556" r:id="rId10"/>
    <p:sldId id="552" r:id="rId11"/>
    <p:sldId id="557" r:id="rId12"/>
    <p:sldId id="256" r:id="rId13"/>
    <p:sldId id="558" r:id="rId14"/>
    <p:sldId id="559" r:id="rId15"/>
    <p:sldId id="262" r:id="rId16"/>
    <p:sldId id="560" r:id="rId17"/>
    <p:sldId id="257" r:id="rId18"/>
    <p:sldId id="561" r:id="rId19"/>
    <p:sldId id="263" r:id="rId20"/>
    <p:sldId id="562" r:id="rId21"/>
    <p:sldId id="258" r:id="rId22"/>
    <p:sldId id="259" r:id="rId23"/>
    <p:sldId id="563" r:id="rId24"/>
    <p:sldId id="564" r:id="rId25"/>
    <p:sldId id="565" r:id="rId26"/>
    <p:sldId id="566" r:id="rId27"/>
    <p:sldId id="567" r:id="rId28"/>
    <p:sldId id="568" r:id="rId29"/>
    <p:sldId id="569" r:id="rId30"/>
    <p:sldId id="570" r:id="rId31"/>
    <p:sldId id="571" r:id="rId32"/>
    <p:sldId id="572" r:id="rId33"/>
    <p:sldId id="437" r:id="rId34"/>
    <p:sldId id="449" r:id="rId35"/>
    <p:sldId id="450" r:id="rId36"/>
    <p:sldId id="451" r:id="rId37"/>
    <p:sldId id="45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39D31-EB4E-4E89-8B12-F4611349630E}" v="40" dt="2018-10-17T15:52:25.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0023" autoAdjust="0"/>
    <p:restoredTop sz="94660"/>
  </p:normalViewPr>
  <p:slideViewPr>
    <p:cSldViewPr snapToGrid="0">
      <p:cViewPr varScale="1">
        <p:scale>
          <a:sx n="67" d="100"/>
          <a:sy n="67" d="100"/>
        </p:scale>
        <p:origin x="416" y="60"/>
      </p:cViewPr>
      <p:guideLst/>
    </p:cSldViewPr>
  </p:slideViewPr>
  <p:notesTextViewPr>
    <p:cViewPr>
      <p:scale>
        <a:sx n="1" d="1"/>
        <a:sy n="1" d="1"/>
      </p:scale>
      <p:origin x="0" y="0"/>
    </p:cViewPr>
  </p:notesTextViewPr>
  <p:sorterViewPr>
    <p:cViewPr>
      <p:scale>
        <a:sx n="1" d="1"/>
        <a:sy n="1" d="1"/>
      </p:scale>
      <p:origin x="0" y="-138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4DE0-DE6F-41CA-A558-194B2D3944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C332A1-FF3F-42AA-B29E-829C9F517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2E55F6-DA1A-44D7-BC31-82B2720290FB}"/>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5" name="Footer Placeholder 4">
            <a:extLst>
              <a:ext uri="{FF2B5EF4-FFF2-40B4-BE49-F238E27FC236}">
                <a16:creationId xmlns:a16="http://schemas.microsoft.com/office/drawing/2014/main" id="{ED537432-FB76-427B-93A3-BB867D2B11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143948-751F-4702-8AA7-E05693995E4C}"/>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897123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80484-158F-4A91-BC12-369B5433FD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963684-141C-448B-99F1-FEA0B0CB7FC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33F6E9-69EB-4FE0-882B-615B29FE5307}"/>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5" name="Footer Placeholder 4">
            <a:extLst>
              <a:ext uri="{FF2B5EF4-FFF2-40B4-BE49-F238E27FC236}">
                <a16:creationId xmlns:a16="http://schemas.microsoft.com/office/drawing/2014/main" id="{135B3B3A-010E-4318-A7A1-F0D7861E8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87C0F-E0ED-453D-A96B-4BF06CA8139D}"/>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23955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60C6-0CCC-44C7-B7E6-BB1CA2AD6A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92B341-CB80-48C1-AA74-DF4F0C5AC9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76BD2F-60C3-4A8F-B378-FE6A4143FE5F}"/>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5" name="Footer Placeholder 4">
            <a:extLst>
              <a:ext uri="{FF2B5EF4-FFF2-40B4-BE49-F238E27FC236}">
                <a16:creationId xmlns:a16="http://schemas.microsoft.com/office/drawing/2014/main" id="{29A4AC2C-7773-40BA-BC76-DE8CA57EC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ECE8A-9FBE-487C-B809-69A314876323}"/>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394682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6AA3-0C78-4B2C-BDAC-BCD6137DA0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102C1E-F4E3-4293-86EE-58684854C51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FCA505-61CA-4D75-92E7-F585CD49E2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738A84-80B5-45AB-9AB2-7FA6932EEBC8}"/>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6" name="Footer Placeholder 5">
            <a:extLst>
              <a:ext uri="{FF2B5EF4-FFF2-40B4-BE49-F238E27FC236}">
                <a16:creationId xmlns:a16="http://schemas.microsoft.com/office/drawing/2014/main" id="{6EB0EE4A-11D5-4890-996A-2D435CA2F5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AD496D-4681-4B24-A25A-FC16B61CA06D}"/>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536446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DCB7-F3AA-44BA-A0E3-0080E34AC3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9FAB49-FE82-410A-AF0A-79D5E7D1A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222F9E4-C9DC-40EF-99D5-BAF71F15534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FF3F15-0057-492D-92CD-11E8FF0BE5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A29BE5A-84A4-4229-886B-2FDF8DD0A8F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34997-3389-4247-BEE2-DB229480D87B}"/>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8" name="Footer Placeholder 7">
            <a:extLst>
              <a:ext uri="{FF2B5EF4-FFF2-40B4-BE49-F238E27FC236}">
                <a16:creationId xmlns:a16="http://schemas.microsoft.com/office/drawing/2014/main" id="{DCFC796E-9F36-489C-967B-FBCD284CA4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04605D-6B34-4A01-97C1-EA3310BB4AA5}"/>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73019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4E89-58C8-40C8-8087-1A3E617144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00C332-21BB-423B-8AF0-15DEC520D621}"/>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4" name="Footer Placeholder 3">
            <a:extLst>
              <a:ext uri="{FF2B5EF4-FFF2-40B4-BE49-F238E27FC236}">
                <a16:creationId xmlns:a16="http://schemas.microsoft.com/office/drawing/2014/main" id="{3B7FACBE-C99B-4AC8-BFB1-8922763209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120030-DDC1-4606-9E21-BA7ED27644D8}"/>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3350097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CAAB1E-D863-4BF5-BA32-C72E7762EC88}"/>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3" name="Footer Placeholder 2">
            <a:extLst>
              <a:ext uri="{FF2B5EF4-FFF2-40B4-BE49-F238E27FC236}">
                <a16:creationId xmlns:a16="http://schemas.microsoft.com/office/drawing/2014/main" id="{79C5F45E-DDC9-4890-A3F4-AD227FCEB4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3F0EFB-8E03-4AC3-85FC-9A1DD7A8A519}"/>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5140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50A7E-A6E3-4C88-96F0-84C978BF04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7DF1BB-FB89-45FF-A8BA-B638AAFF6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5CF916-AD9A-47B3-9730-CF782E31D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334832-429D-4860-8F67-6C751C73530E}"/>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6" name="Footer Placeholder 5">
            <a:extLst>
              <a:ext uri="{FF2B5EF4-FFF2-40B4-BE49-F238E27FC236}">
                <a16:creationId xmlns:a16="http://schemas.microsoft.com/office/drawing/2014/main" id="{22C225DD-5F01-4946-80C2-FD77717B81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9F22AC-39CF-4B2D-B29D-E80B0948050B}"/>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1583587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A0C0-A7C5-4958-A786-8D6A30111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23BBDB-BAE5-4F6B-A7CE-3CF9B0098B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35E53D-B521-4579-BBB1-D73C96CF71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B4D2C8-FB33-4D54-850B-E92733536EAB}"/>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6" name="Footer Placeholder 5">
            <a:extLst>
              <a:ext uri="{FF2B5EF4-FFF2-40B4-BE49-F238E27FC236}">
                <a16:creationId xmlns:a16="http://schemas.microsoft.com/office/drawing/2014/main" id="{851B83D8-B798-4462-AB4B-7CBED7696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9EC739-6402-4C30-91D7-C68FC6C211A1}"/>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1709133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043BA-078F-43CB-9783-028595F754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E377AF-F2B0-4C85-8EF2-31CADCD0ADE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0BB7C-6C8E-4748-80E0-6BC2AF2D66B7}"/>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5" name="Footer Placeholder 4">
            <a:extLst>
              <a:ext uri="{FF2B5EF4-FFF2-40B4-BE49-F238E27FC236}">
                <a16:creationId xmlns:a16="http://schemas.microsoft.com/office/drawing/2014/main" id="{F0D3B891-3835-4742-A327-AEFD688168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765726-242C-47C3-89DB-88CAA709A80A}"/>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1453354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24A81C-3CF7-4FDC-881E-375F835A1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456B7F-9A5B-4753-A87A-DD8FE790967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8C896E-BD5D-44BE-AA08-7E4A2BAD7CC5}"/>
              </a:ext>
            </a:extLst>
          </p:cNvPr>
          <p:cNvSpPr>
            <a:spLocks noGrp="1"/>
          </p:cNvSpPr>
          <p:nvPr>
            <p:ph type="dt" sz="half" idx="10"/>
          </p:nvPr>
        </p:nvSpPr>
        <p:spPr/>
        <p:txBody>
          <a:bodyPr/>
          <a:lstStyle/>
          <a:p>
            <a:fld id="{671F4D88-ADBD-45EF-A8BB-217EDFBD7045}" type="datetimeFigureOut">
              <a:rPr lang="en-US" smtClean="0"/>
              <a:t>10/21/25</a:t>
            </a:fld>
            <a:endParaRPr lang="en-US"/>
          </a:p>
        </p:txBody>
      </p:sp>
      <p:sp>
        <p:nvSpPr>
          <p:cNvPr id="5" name="Footer Placeholder 4">
            <a:extLst>
              <a:ext uri="{FF2B5EF4-FFF2-40B4-BE49-F238E27FC236}">
                <a16:creationId xmlns:a16="http://schemas.microsoft.com/office/drawing/2014/main" id="{163A1334-66C9-4BDE-8E83-4E9B51E1CB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4CF017-9F05-4323-97CE-887A87C019CD}"/>
              </a:ext>
            </a:extLst>
          </p:cNvPr>
          <p:cNvSpPr>
            <a:spLocks noGrp="1"/>
          </p:cNvSpPr>
          <p:nvPr>
            <p:ph type="sldNum" sz="quarter" idx="12"/>
          </p:nvPr>
        </p:nvSpPr>
        <p:spPr/>
        <p:txBody>
          <a:bodyPr/>
          <a:lstStyle/>
          <a:p>
            <a:fld id="{4232B43F-B8A2-4ADB-A2DE-977ADB10C889}" type="slidenum">
              <a:rPr lang="en-US" smtClean="0"/>
              <a:t>‹#›</a:t>
            </a:fld>
            <a:endParaRPr lang="en-US"/>
          </a:p>
        </p:txBody>
      </p:sp>
    </p:spTree>
    <p:extLst>
      <p:ext uri="{BB962C8B-B14F-4D97-AF65-F5344CB8AC3E}">
        <p14:creationId xmlns:p14="http://schemas.microsoft.com/office/powerpoint/2010/main" val="1680812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73893EDB-541A-450D-BD6A-0842025348F4}" type="datetimeFigureOut">
              <a:rPr lang="en-US" smtClean="0"/>
              <a:t>10/21/25</a:t>
            </a:fld>
            <a:endParaRPr lang="en-US" dirty="0"/>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CE67DD53-F6F1-406F-B1C6-89BED1CF95EC}" type="slidenum">
              <a:rPr lang="en-US" smtClean="0"/>
              <a:t>‹#›</a:t>
            </a:fld>
            <a:endParaRPr lang="en-US" dirty="0"/>
          </a:p>
        </p:txBody>
      </p:sp>
    </p:spTree>
    <p:extLst>
      <p:ext uri="{BB962C8B-B14F-4D97-AF65-F5344CB8AC3E}">
        <p14:creationId xmlns:p14="http://schemas.microsoft.com/office/powerpoint/2010/main" val="6350164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3893EDB-541A-450D-BD6A-0842025348F4}" type="datetimeFigureOut">
              <a:rPr lang="en-US" smtClean="0"/>
              <a:t>10/21/25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E67DD53-F6F1-406F-B1C6-89BED1CF95EC}" type="slidenum">
              <a:rPr lang="en-US" smtClean="0"/>
              <a:t>‹#›</a:t>
            </a:fld>
            <a:endParaRPr lang="en-US" dirty="0"/>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985862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73893EDB-541A-450D-BD6A-0842025348F4}" type="datetimeFigureOut">
              <a:rPr lang="en-US" smtClean="0"/>
              <a:t>10/21/25</a:t>
            </a:fld>
            <a:endParaRPr lang="en-US" dirty="0"/>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CE67DD53-F6F1-406F-B1C6-89BED1CF95EC}"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59528057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73893EDB-541A-450D-BD6A-0842025348F4}" type="datetimeFigureOut">
              <a:rPr lang="en-US" smtClean="0"/>
              <a:t>10/21/25</a:t>
            </a:fld>
            <a:endParaRPr lang="en-US" dirty="0"/>
          </a:p>
        </p:txBody>
      </p:sp>
      <p:sp>
        <p:nvSpPr>
          <p:cNvPr id="10" name="Slide Number Placeholder 9"/>
          <p:cNvSpPr>
            <a:spLocks noGrp="1"/>
          </p:cNvSpPr>
          <p:nvPr>
            <p:ph type="sldNum" sz="quarter" idx="16"/>
          </p:nvPr>
        </p:nvSpPr>
        <p:spPr/>
        <p:txBody>
          <a:bodyPr rtlCol="0"/>
          <a:lstStyle/>
          <a:p>
            <a:fld id="{CE67DD53-F6F1-406F-B1C6-89BED1CF95EC}"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extLst>
      <p:ext uri="{BB962C8B-B14F-4D97-AF65-F5344CB8AC3E}">
        <p14:creationId xmlns:p14="http://schemas.microsoft.com/office/powerpoint/2010/main" val="2204117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73893EDB-541A-450D-BD6A-0842025348F4}" type="datetimeFigureOut">
              <a:rPr lang="en-US" smtClean="0"/>
              <a:t>10/21/25</a:t>
            </a:fld>
            <a:endParaRPr lang="en-US" dirty="0"/>
          </a:p>
        </p:txBody>
      </p:sp>
      <p:sp>
        <p:nvSpPr>
          <p:cNvPr id="12" name="Slide Number Placeholder 11"/>
          <p:cNvSpPr>
            <a:spLocks noGrp="1"/>
          </p:cNvSpPr>
          <p:nvPr>
            <p:ph type="sldNum" sz="quarter" idx="16"/>
          </p:nvPr>
        </p:nvSpPr>
        <p:spPr/>
        <p:txBody>
          <a:bodyPr rtlCol="0"/>
          <a:lstStyle/>
          <a:p>
            <a:fld id="{CE67DD53-F6F1-406F-B1C6-89BED1CF95EC}"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1276232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3893EDB-541A-450D-BD6A-0842025348F4}" type="datetimeFigureOut">
              <a:rPr lang="en-US" smtClean="0"/>
              <a:t>10/21/25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E67DD53-F6F1-406F-B1C6-89BED1CF95EC}" type="slidenum">
              <a:rPr lang="en-US" smtClean="0"/>
              <a:t>‹#›</a:t>
            </a:fld>
            <a:endParaRPr lang="en-US" dirty="0"/>
          </a:p>
        </p:txBody>
      </p:sp>
    </p:spTree>
    <p:extLst>
      <p:ext uri="{BB962C8B-B14F-4D97-AF65-F5344CB8AC3E}">
        <p14:creationId xmlns:p14="http://schemas.microsoft.com/office/powerpoint/2010/main" val="3283798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93EDB-541A-450D-BD6A-0842025348F4}" type="datetimeFigureOut">
              <a:rPr lang="en-US" smtClean="0"/>
              <a:t>10/21/25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CE67DD53-F6F1-406F-B1C6-89BED1CF95EC}" type="slidenum">
              <a:rPr lang="en-US" smtClean="0"/>
              <a:t>‹#›</a:t>
            </a:fld>
            <a:endParaRPr lang="en-US" dirty="0"/>
          </a:p>
        </p:txBody>
      </p:sp>
    </p:spTree>
    <p:extLst>
      <p:ext uri="{BB962C8B-B14F-4D97-AF65-F5344CB8AC3E}">
        <p14:creationId xmlns:p14="http://schemas.microsoft.com/office/powerpoint/2010/main" val="3123216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73893EDB-541A-450D-BD6A-0842025348F4}" type="datetimeFigureOut">
              <a:rPr lang="en-US" smtClean="0"/>
              <a:t>10/21/25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E67DD53-F6F1-406F-B1C6-89BED1CF95EC}" type="slidenum">
              <a:rPr lang="en-US" smtClean="0"/>
              <a:t>‹#›</a:t>
            </a:fld>
            <a:endParaRPr lang="en-US" dirty="0"/>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590108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2" name="Date Placeholder 11"/>
          <p:cNvSpPr>
            <a:spLocks noGrp="1"/>
          </p:cNvSpPr>
          <p:nvPr>
            <p:ph type="dt" sz="half" idx="10"/>
          </p:nvPr>
        </p:nvSpPr>
        <p:spPr>
          <a:xfrm>
            <a:off x="8331200" y="6248401"/>
            <a:ext cx="3556000" cy="365125"/>
          </a:xfrm>
        </p:spPr>
        <p:txBody>
          <a:bodyPr rtlCol="0"/>
          <a:lstStyle/>
          <a:p>
            <a:fld id="{73893EDB-541A-450D-BD6A-0842025348F4}" type="datetimeFigureOut">
              <a:rPr lang="en-US" smtClean="0"/>
              <a:t>10/21/25</a:t>
            </a:fld>
            <a:endParaRPr lang="en-US" dirty="0"/>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fld id="{CE67DD53-F6F1-406F-B1C6-89BED1CF95EC}" type="slidenum">
              <a:rPr lang="en-US" smtClean="0"/>
              <a:t>‹#›</a:t>
            </a:fld>
            <a:endParaRPr lang="en-US"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dirty="0"/>
              <a:t>Click icon to add picture</a:t>
            </a:r>
          </a:p>
        </p:txBody>
      </p:sp>
    </p:spTree>
    <p:extLst>
      <p:ext uri="{BB962C8B-B14F-4D97-AF65-F5344CB8AC3E}">
        <p14:creationId xmlns:p14="http://schemas.microsoft.com/office/powerpoint/2010/main" val="180370611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3893EDB-541A-450D-BD6A-0842025348F4}" type="datetimeFigureOut">
              <a:rPr lang="en-US" smtClean="0"/>
              <a:t>10/21/25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E67DD53-F6F1-406F-B1C6-89BED1CF95EC}" type="slidenum">
              <a:rPr lang="en-US" smtClean="0"/>
              <a:t>‹#›</a:t>
            </a:fld>
            <a:endParaRPr lang="en-US" dirty="0"/>
          </a:p>
        </p:txBody>
      </p:sp>
    </p:spTree>
    <p:extLst>
      <p:ext uri="{BB962C8B-B14F-4D97-AF65-F5344CB8AC3E}">
        <p14:creationId xmlns:p14="http://schemas.microsoft.com/office/powerpoint/2010/main" val="229108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3"/>
            <a:ext cx="2946400" cy="365125"/>
          </a:xfrm>
        </p:spPr>
        <p:txBody>
          <a:bodyPr/>
          <a:lstStyle/>
          <a:p>
            <a:fld id="{73893EDB-541A-450D-BD6A-0842025348F4}" type="datetimeFigureOut">
              <a:rPr lang="en-US" smtClean="0"/>
              <a:t>10/21/25</a:t>
            </a:fld>
            <a:endParaRPr lang="en-US" dirty="0"/>
          </a:p>
        </p:txBody>
      </p:sp>
      <p:sp>
        <p:nvSpPr>
          <p:cNvPr id="5" name="Footer Placeholder 4"/>
          <p:cNvSpPr>
            <a:spLocks noGrp="1"/>
          </p:cNvSpPr>
          <p:nvPr>
            <p:ph type="ftr" sz="quarter" idx="11"/>
          </p:nvPr>
        </p:nvSpPr>
        <p:spPr>
          <a:xfrm>
            <a:off x="609602" y="6248208"/>
            <a:ext cx="7431311" cy="365125"/>
          </a:xfrm>
        </p:spPr>
        <p:txBody>
          <a:bodyPr/>
          <a:lstStyle/>
          <a:p>
            <a:endParaRPr lang="en-US" dirty="0"/>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dirty="0"/>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dirty="0"/>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dirty="0"/>
          </a:p>
        </p:txBody>
      </p:sp>
      <p:sp>
        <p:nvSpPr>
          <p:cNvPr id="6" name="Slide Number Placeholder 5"/>
          <p:cNvSpPr>
            <a:spLocks noGrp="1"/>
          </p:cNvSpPr>
          <p:nvPr>
            <p:ph type="sldNum" sz="quarter" idx="12"/>
          </p:nvPr>
        </p:nvSpPr>
        <p:spPr>
          <a:xfrm rot="5400000">
            <a:off x="8075084" y="103716"/>
            <a:ext cx="533400" cy="325968"/>
          </a:xfrm>
        </p:spPr>
        <p:txBody>
          <a:bodyPr/>
          <a:lstStyle/>
          <a:p>
            <a:fld id="{CE67DD53-F6F1-406F-B1C6-89BED1CF95EC}" type="slidenum">
              <a:rPr lang="en-US" smtClean="0"/>
              <a:t>‹#›</a:t>
            </a:fld>
            <a:endParaRPr lang="en-US" dirty="0"/>
          </a:p>
        </p:txBody>
      </p:sp>
    </p:spTree>
    <p:extLst>
      <p:ext uri="{BB962C8B-B14F-4D97-AF65-F5344CB8AC3E}">
        <p14:creationId xmlns:p14="http://schemas.microsoft.com/office/powerpoint/2010/main" val="388170446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CC3EFD-BCDF-495C-A344-FC734733A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C3929C-4339-4C7B-BCAD-FFA62075A4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402445-77A6-4355-A568-89CBBA5DF7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1F4D88-ADBD-45EF-A8BB-217EDFBD7045}" type="datetimeFigureOut">
              <a:rPr lang="en-US" smtClean="0"/>
              <a:t>10/21/25</a:t>
            </a:fld>
            <a:endParaRPr lang="en-US"/>
          </a:p>
        </p:txBody>
      </p:sp>
      <p:sp>
        <p:nvSpPr>
          <p:cNvPr id="5" name="Footer Placeholder 4">
            <a:extLst>
              <a:ext uri="{FF2B5EF4-FFF2-40B4-BE49-F238E27FC236}">
                <a16:creationId xmlns:a16="http://schemas.microsoft.com/office/drawing/2014/main" id="{FA28F0EE-258A-4E7A-868C-88A8F1D503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E598B0-CD5F-4483-843A-801E0F325C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32B43F-B8A2-4ADB-A2DE-977ADB10C889}" type="slidenum">
              <a:rPr lang="en-US" smtClean="0"/>
              <a:t>‹#›</a:t>
            </a:fld>
            <a:endParaRPr lang="en-US"/>
          </a:p>
        </p:txBody>
      </p:sp>
    </p:spTree>
    <p:extLst>
      <p:ext uri="{BB962C8B-B14F-4D97-AF65-F5344CB8AC3E}">
        <p14:creationId xmlns:p14="http://schemas.microsoft.com/office/powerpoint/2010/main" val="3685205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73893EDB-541A-450D-BD6A-0842025348F4}" type="datetimeFigureOut">
              <a:rPr lang="en-US" smtClean="0"/>
              <a:t>10/21/25</a:t>
            </a:fld>
            <a:endParaRPr lang="en-US" dirty="0"/>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E67DD53-F6F1-406F-B1C6-89BED1CF95EC}" type="slidenum">
              <a:rPr lang="en-US" smtClean="0"/>
              <a:t>‹#›</a:t>
            </a:fld>
            <a:endParaRPr lang="en-US" dirty="0"/>
          </a:p>
        </p:txBody>
      </p:sp>
    </p:spTree>
    <p:extLst>
      <p:ext uri="{BB962C8B-B14F-4D97-AF65-F5344CB8AC3E}">
        <p14:creationId xmlns:p14="http://schemas.microsoft.com/office/powerpoint/2010/main" val="33170322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twitter.com/mbreeding" TargetMode="External"/><Relationship Id="rId2" Type="http://schemas.openxmlformats.org/officeDocument/2006/relationships/hyperlink" Target="https://librarytechnology.org/" TargetMode="Externa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hyperlink" Target="http://www.javaworld.com/javaworld/jw-10-2001/jw-1019-jxta.html" TargetMode="External"/><Relationship Id="rId5" Type="http://schemas.openxmlformats.org/officeDocument/2006/relationships/hyperlink" Target="http://www.flickr.com/photos/carrick/61952845/"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hyperlink" Target="https://americanlibrariesmagazine.org/2016/04/22/ebsco-kuali-open-source-project/" TargetMode="External"/><Relationship Id="rId2" Type="http://schemas.openxmlformats.org/officeDocument/2006/relationships/hyperlink" Target="https://www.folio.org/" TargetMode="Externa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533400"/>
            <a:ext cx="7924800" cy="1370883"/>
          </a:xfrm>
        </p:spPr>
        <p:txBody>
          <a:bodyPr>
            <a:normAutofit/>
          </a:bodyPr>
          <a:lstStyle/>
          <a:p>
            <a:r>
              <a:rPr lang="en-US" b="1" cap="none" dirty="0"/>
              <a:t>Microservices</a:t>
            </a:r>
          </a:p>
        </p:txBody>
      </p:sp>
      <p:sp>
        <p:nvSpPr>
          <p:cNvPr id="4" name="Rectangle 3"/>
          <p:cNvSpPr/>
          <p:nvPr/>
        </p:nvSpPr>
        <p:spPr>
          <a:xfrm>
            <a:off x="1600200" y="3962400"/>
            <a:ext cx="4800600" cy="1754326"/>
          </a:xfrm>
          <a:prstGeom prst="rect">
            <a:avLst/>
          </a:prstGeom>
        </p:spPr>
        <p:txBody>
          <a:bodyPr wrap="square">
            <a:spAutoFit/>
          </a:bodyPr>
          <a:lstStyle/>
          <a:p>
            <a:r>
              <a:rPr lang="en-US" dirty="0">
                <a:solidFill>
                  <a:prstClr val="white"/>
                </a:solidFill>
                <a:latin typeface="Tw Cen MT"/>
              </a:rPr>
              <a:t>Marshall Breeding</a:t>
            </a:r>
          </a:p>
          <a:p>
            <a:r>
              <a:rPr lang="en-US" dirty="0">
                <a:solidFill>
                  <a:prstClr val="white"/>
                </a:solidFill>
                <a:latin typeface="Tw Cen MT"/>
              </a:rPr>
              <a:t>Independent Consultant, Author, and</a:t>
            </a:r>
          </a:p>
          <a:p>
            <a:r>
              <a:rPr lang="en-US" dirty="0">
                <a:solidFill>
                  <a:prstClr val="white"/>
                </a:solidFill>
                <a:latin typeface="Tw Cen MT"/>
              </a:rPr>
              <a:t>Founder and Publisher, Library Technology Guides</a:t>
            </a:r>
          </a:p>
          <a:p>
            <a:r>
              <a:rPr lang="en-US" dirty="0">
                <a:solidFill>
                  <a:prstClr val="white"/>
                </a:solidFill>
                <a:latin typeface="Tw Cen MT"/>
                <a:hlinkClick r:id="rId2"/>
              </a:rPr>
              <a:t>https://librarytechnology.org/</a:t>
            </a:r>
            <a:endParaRPr lang="en-US" dirty="0">
              <a:solidFill>
                <a:prstClr val="white"/>
              </a:solidFill>
              <a:latin typeface="Tw Cen MT"/>
            </a:endParaRPr>
          </a:p>
          <a:p>
            <a:r>
              <a:rPr lang="en-US" dirty="0">
                <a:solidFill>
                  <a:prstClr val="white"/>
                </a:solidFill>
                <a:latin typeface="Tw Cen MT"/>
                <a:hlinkClick r:id="rId3"/>
              </a:rPr>
              <a:t>https://twitter.com/mbreeding</a:t>
            </a:r>
            <a:endParaRPr lang="en-US" dirty="0">
              <a:solidFill>
                <a:prstClr val="white"/>
              </a:solidFill>
              <a:latin typeface="Tw Cen MT"/>
            </a:endParaRPr>
          </a:p>
          <a:p>
            <a:endParaRPr lang="en-US" dirty="0">
              <a:solidFill>
                <a:prstClr val="white"/>
              </a:solidFill>
              <a:latin typeface="Tw Cen MT"/>
            </a:endParaRPr>
          </a:p>
        </p:txBody>
      </p:sp>
      <p:sp>
        <p:nvSpPr>
          <p:cNvPr id="5" name="TextBox 4"/>
          <p:cNvSpPr txBox="1"/>
          <p:nvPr/>
        </p:nvSpPr>
        <p:spPr>
          <a:xfrm>
            <a:off x="468795" y="6188333"/>
            <a:ext cx="1887055" cy="369332"/>
          </a:xfrm>
          <a:prstGeom prst="rect">
            <a:avLst/>
          </a:prstGeom>
          <a:noFill/>
        </p:spPr>
        <p:txBody>
          <a:bodyPr wrap="none" rtlCol="0">
            <a:spAutoFit/>
          </a:bodyPr>
          <a:lstStyle/>
          <a:p>
            <a:r>
              <a:rPr lang="en-US" dirty="0">
                <a:solidFill>
                  <a:prstClr val="white"/>
                </a:solidFill>
                <a:latin typeface="Tw Cen MT"/>
              </a:rPr>
              <a:t>October 17, 2018</a:t>
            </a:r>
          </a:p>
        </p:txBody>
      </p:sp>
      <p:sp>
        <p:nvSpPr>
          <p:cNvPr id="6" name="Subtitle 5"/>
          <p:cNvSpPr txBox="1">
            <a:spLocks noGrp="1"/>
          </p:cNvSpPr>
          <p:nvPr>
            <p:ph type="subTitle" idx="1"/>
          </p:nvPr>
        </p:nvSpPr>
        <p:spPr>
          <a:xfrm>
            <a:off x="2209800" y="1858683"/>
            <a:ext cx="8039100" cy="584775"/>
          </a:xfrm>
          <a:prstGeom prst="rect">
            <a:avLst/>
          </a:prstGeom>
          <a:noFill/>
        </p:spPr>
        <p:txBody>
          <a:bodyPr wrap="square" rtlCol="0">
            <a:spAutoFit/>
          </a:bodyPr>
          <a:lstStyle/>
          <a:p>
            <a:pPr rtl="0" eaLnBrk="1" latinLnBrk="0" hangingPunct="1"/>
            <a:r>
              <a:rPr lang="en-US" sz="3200" dirty="0"/>
              <a:t>Architecture and Apps for  Libraries</a:t>
            </a:r>
          </a:p>
        </p:txBody>
      </p:sp>
      <p:sp>
        <p:nvSpPr>
          <p:cNvPr id="7" name="TextBox 6"/>
          <p:cNvSpPr txBox="1"/>
          <p:nvPr/>
        </p:nvSpPr>
        <p:spPr>
          <a:xfrm>
            <a:off x="3987800" y="6034445"/>
            <a:ext cx="3637984" cy="523220"/>
          </a:xfrm>
          <a:prstGeom prst="rect">
            <a:avLst/>
          </a:prstGeom>
          <a:noFill/>
        </p:spPr>
        <p:txBody>
          <a:bodyPr wrap="none" rtlCol="0">
            <a:spAutoFit/>
          </a:bodyPr>
          <a:lstStyle/>
          <a:p>
            <a:r>
              <a:rPr lang="en-US" sz="2800" dirty="0">
                <a:solidFill>
                  <a:prstClr val="white"/>
                </a:solidFill>
                <a:latin typeface="Tw Cen MT"/>
              </a:rPr>
              <a:t>Internet Librarian 2018 </a:t>
            </a:r>
            <a:endParaRPr lang="en-US" dirty="0">
              <a:solidFill>
                <a:prstClr val="white"/>
              </a:solidFill>
              <a:latin typeface="Tw Cen MT"/>
            </a:endParaRPr>
          </a:p>
        </p:txBody>
      </p:sp>
      <p:pic>
        <p:nvPicPr>
          <p:cNvPr id="8" name="Picture 7">
            <a:extLst>
              <a:ext uri="{FF2B5EF4-FFF2-40B4-BE49-F238E27FC236}">
                <a16:creationId xmlns:a16="http://schemas.microsoft.com/office/drawing/2014/main" id="{EA2CAC3F-99C5-466C-B76B-BA3846AFF827}"/>
              </a:ext>
            </a:extLst>
          </p:cNvPr>
          <p:cNvPicPr>
            <a:picLocks noChangeAspect="1"/>
          </p:cNvPicPr>
          <p:nvPr/>
        </p:nvPicPr>
        <p:blipFill>
          <a:blip r:embed="rId4"/>
          <a:stretch>
            <a:fillRect/>
          </a:stretch>
        </p:blipFill>
        <p:spPr>
          <a:xfrm>
            <a:off x="7933979" y="4445043"/>
            <a:ext cx="4096442" cy="1438579"/>
          </a:xfrm>
          <a:prstGeom prst="rect">
            <a:avLst/>
          </a:prstGeom>
        </p:spPr>
      </p:pic>
    </p:spTree>
    <p:extLst>
      <p:ext uri="{BB962C8B-B14F-4D97-AF65-F5344CB8AC3E}">
        <p14:creationId xmlns:p14="http://schemas.microsoft.com/office/powerpoint/2010/main" val="1696742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2262C-9CD2-4217-9C56-C0B221C53B1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5CC3BEF-8935-46B2-8499-F15A09C79EB8}"/>
              </a:ext>
            </a:extLst>
          </p:cNvPr>
          <p:cNvSpPr>
            <a:spLocks noGrp="1"/>
          </p:cNvSpPr>
          <p:nvPr>
            <p:ph sz="quarter" idx="1"/>
          </p:nvPr>
        </p:nvSpPr>
        <p:spPr/>
        <p:txBody>
          <a:bodyPr/>
          <a:lstStyle/>
          <a:p>
            <a:r>
              <a:rPr lang="en-US" dirty="0"/>
              <a:t>Get an introduction to the microservices architecture and how it differs from the monolithic style of software development. Microservices have emerged as the preferred approach for complex business applications deployed at massive scale. This architecture has increasingly been incorporated into new applications for libraries. Breeding provides perspective on how this style of software development and deployment will increasingly enter the library sphere.</a:t>
            </a:r>
          </a:p>
        </p:txBody>
      </p:sp>
    </p:spTree>
    <p:extLst>
      <p:ext uri="{BB962C8B-B14F-4D97-AF65-F5344CB8AC3E}">
        <p14:creationId xmlns:p14="http://schemas.microsoft.com/office/powerpoint/2010/main" val="988768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 technology shift</a:t>
            </a:r>
          </a:p>
        </p:txBody>
      </p:sp>
      <p:sp>
        <p:nvSpPr>
          <p:cNvPr id="3" name="Content Placeholder 2"/>
          <p:cNvSpPr>
            <a:spLocks noGrp="1"/>
          </p:cNvSpPr>
          <p:nvPr>
            <p:ph sz="quarter" idx="1"/>
          </p:nvPr>
        </p:nvSpPr>
        <p:spPr/>
        <p:txBody>
          <a:bodyPr/>
          <a:lstStyle/>
          <a:p>
            <a:r>
              <a:rPr lang="en-US" dirty="0"/>
              <a:t>Mainframe computing</a:t>
            </a:r>
          </a:p>
          <a:p>
            <a:r>
              <a:rPr lang="en-US" dirty="0"/>
              <a:t>Client/Server</a:t>
            </a:r>
          </a:p>
          <a:p>
            <a:r>
              <a:rPr lang="en-US" dirty="0"/>
              <a:t>Cloud</a:t>
            </a:r>
            <a:r>
              <a:rPr lang="en-US" baseline="0" dirty="0"/>
              <a:t> Computing</a:t>
            </a: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1" y="3681412"/>
            <a:ext cx="2153367" cy="157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descr="http://www.javaworld.com/javaworld/jw-10-2001/images/jw-1019-jxta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8500" y="3986426"/>
            <a:ext cx="2545201" cy="149118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ttp://www.princeton.edu/~ddix/images/cloud%20computin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2701" y="2142806"/>
            <a:ext cx="2655683" cy="204819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4267200" y="4543476"/>
            <a:ext cx="838200" cy="10472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V="1">
            <a:off x="7101961" y="3986426"/>
            <a:ext cx="609600" cy="43962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1790700" y="5512763"/>
            <a:ext cx="4953000" cy="369332"/>
          </a:xfrm>
          <a:prstGeom prst="rect">
            <a:avLst/>
          </a:prstGeom>
          <a:noFill/>
        </p:spPr>
        <p:txBody>
          <a:bodyPr wrap="square" rtlCol="0">
            <a:spAutoFit/>
          </a:bodyPr>
          <a:lstStyle/>
          <a:p>
            <a:r>
              <a:rPr lang="en-US" dirty="0">
                <a:hlinkClick r:id="rId5"/>
              </a:rPr>
              <a:t>http://www.flickr.com/photos/carrick/61952845/</a:t>
            </a:r>
            <a:endParaRPr lang="en-US" dirty="0"/>
          </a:p>
        </p:txBody>
      </p:sp>
      <p:sp>
        <p:nvSpPr>
          <p:cNvPr id="8" name="TextBox 7"/>
          <p:cNvSpPr txBox="1"/>
          <p:nvPr/>
        </p:nvSpPr>
        <p:spPr>
          <a:xfrm>
            <a:off x="1752601" y="5882095"/>
            <a:ext cx="6811865" cy="369332"/>
          </a:xfrm>
          <a:prstGeom prst="rect">
            <a:avLst/>
          </a:prstGeom>
          <a:noFill/>
        </p:spPr>
        <p:txBody>
          <a:bodyPr wrap="none" rtlCol="0">
            <a:spAutoFit/>
          </a:bodyPr>
          <a:lstStyle/>
          <a:p>
            <a:r>
              <a:rPr lang="en-US" dirty="0"/>
              <a:t>http://soacloudcomputing.blogspot.com/2008/10/cloud-computing.html</a:t>
            </a:r>
          </a:p>
        </p:txBody>
      </p:sp>
      <p:sp>
        <p:nvSpPr>
          <p:cNvPr id="10" name="TextBox 9"/>
          <p:cNvSpPr txBox="1"/>
          <p:nvPr/>
        </p:nvSpPr>
        <p:spPr>
          <a:xfrm>
            <a:off x="1770103" y="6322814"/>
            <a:ext cx="6684202" cy="369332"/>
          </a:xfrm>
          <a:prstGeom prst="rect">
            <a:avLst/>
          </a:prstGeom>
          <a:noFill/>
        </p:spPr>
        <p:txBody>
          <a:bodyPr wrap="none" rtlCol="0">
            <a:spAutoFit/>
          </a:bodyPr>
          <a:lstStyle/>
          <a:p>
            <a:r>
              <a:rPr lang="en-US" dirty="0">
                <a:hlinkClick r:id="rId6"/>
              </a:rPr>
              <a:t>http://www.javaworld.com/javaworld/jw-10-2001/jw-1019-jxta.html</a:t>
            </a:r>
            <a:endParaRPr lang="en-US" dirty="0"/>
          </a:p>
        </p:txBody>
      </p:sp>
    </p:spTree>
    <p:extLst>
      <p:ext uri="{BB962C8B-B14F-4D97-AF65-F5344CB8AC3E}">
        <p14:creationId xmlns:p14="http://schemas.microsoft.com/office/powerpoint/2010/main" val="2359295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3162-BD1D-4D9F-B34E-0EEA377F54F3}"/>
              </a:ext>
            </a:extLst>
          </p:cNvPr>
          <p:cNvSpPr>
            <a:spLocks noGrp="1"/>
          </p:cNvSpPr>
          <p:nvPr>
            <p:ph type="title"/>
          </p:nvPr>
        </p:nvSpPr>
        <p:spPr/>
        <p:txBody>
          <a:bodyPr/>
          <a:lstStyle/>
          <a:p>
            <a:r>
              <a:rPr lang="en-US" dirty="0"/>
              <a:t>Microservices</a:t>
            </a:r>
          </a:p>
        </p:txBody>
      </p:sp>
      <p:sp>
        <p:nvSpPr>
          <p:cNvPr id="3" name="Content Placeholder 2">
            <a:extLst>
              <a:ext uri="{FF2B5EF4-FFF2-40B4-BE49-F238E27FC236}">
                <a16:creationId xmlns:a16="http://schemas.microsoft.com/office/drawing/2014/main" id="{D2E47B5C-9D98-450B-9A77-FD77F61F4EBB}"/>
              </a:ext>
            </a:extLst>
          </p:cNvPr>
          <p:cNvSpPr>
            <a:spLocks noGrp="1"/>
          </p:cNvSpPr>
          <p:nvPr>
            <p:ph sz="quarter" idx="1"/>
          </p:nvPr>
        </p:nvSpPr>
        <p:spPr/>
        <p:txBody>
          <a:bodyPr/>
          <a:lstStyle/>
          <a:p>
            <a:r>
              <a:rPr lang="en-US" dirty="0"/>
              <a:t>Current prevailing approach for large scale globally distributed applications</a:t>
            </a:r>
          </a:p>
          <a:p>
            <a:r>
              <a:rPr lang="en-US" dirty="0"/>
              <a:t>Common choice for new development projects for business software</a:t>
            </a:r>
          </a:p>
          <a:p>
            <a:r>
              <a:rPr lang="en-US" dirty="0"/>
              <a:t>Many organizations are also evolving existing  monolithic applications to Microservices</a:t>
            </a:r>
          </a:p>
        </p:txBody>
      </p:sp>
    </p:spTree>
    <p:extLst>
      <p:ext uri="{BB962C8B-B14F-4D97-AF65-F5344CB8AC3E}">
        <p14:creationId xmlns:p14="http://schemas.microsoft.com/office/powerpoint/2010/main" val="2590648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30A31-BE7E-41C2-95AB-A88A9593BEB0}"/>
              </a:ext>
            </a:extLst>
          </p:cNvPr>
          <p:cNvSpPr>
            <a:spLocks noGrp="1"/>
          </p:cNvSpPr>
          <p:nvPr>
            <p:ph type="title"/>
          </p:nvPr>
        </p:nvSpPr>
        <p:spPr/>
        <p:txBody>
          <a:bodyPr/>
          <a:lstStyle/>
          <a:p>
            <a:r>
              <a:rPr lang="en-US" dirty="0"/>
              <a:t>What are microservices?</a:t>
            </a:r>
          </a:p>
        </p:txBody>
      </p:sp>
      <p:sp>
        <p:nvSpPr>
          <p:cNvPr id="3" name="Content Placeholder 2">
            <a:extLst>
              <a:ext uri="{FF2B5EF4-FFF2-40B4-BE49-F238E27FC236}">
                <a16:creationId xmlns:a16="http://schemas.microsoft.com/office/drawing/2014/main" id="{5B341214-C8E2-410A-BBA2-E42A9523638F}"/>
              </a:ext>
            </a:extLst>
          </p:cNvPr>
          <p:cNvSpPr>
            <a:spLocks noGrp="1"/>
          </p:cNvSpPr>
          <p:nvPr>
            <p:ph sz="quarter" idx="1"/>
          </p:nvPr>
        </p:nvSpPr>
        <p:spPr/>
        <p:txBody>
          <a:bodyPr/>
          <a:lstStyle/>
          <a:p>
            <a:r>
              <a:rPr lang="en-US" dirty="0"/>
              <a:t>A model of technical architecture</a:t>
            </a:r>
          </a:p>
          <a:p>
            <a:pPr lvl="1"/>
            <a:r>
              <a:rPr lang="en-US" dirty="0"/>
              <a:t>Small independent functional applications</a:t>
            </a:r>
          </a:p>
          <a:p>
            <a:pPr lvl="1"/>
            <a:r>
              <a:rPr lang="en-US" dirty="0"/>
              <a:t>Each microservices built on appropriate technical  components</a:t>
            </a:r>
          </a:p>
          <a:p>
            <a:r>
              <a:rPr lang="en-US" dirty="0"/>
              <a:t>A software development pattern</a:t>
            </a:r>
          </a:p>
          <a:p>
            <a:pPr lvl="1"/>
            <a:r>
              <a:rPr lang="en-US" dirty="0"/>
              <a:t>Decentralization  of technical components</a:t>
            </a:r>
          </a:p>
          <a:p>
            <a:pPr lvl="1"/>
            <a:r>
              <a:rPr lang="en-US" dirty="0"/>
              <a:t>Distributed programming / DevOps teams</a:t>
            </a:r>
          </a:p>
          <a:p>
            <a:pPr lvl="1"/>
            <a:r>
              <a:rPr lang="en-US" dirty="0"/>
              <a:t>Responsibility to deploy, operate, and  maintain services</a:t>
            </a:r>
          </a:p>
          <a:p>
            <a:pPr lvl="1"/>
            <a:endParaRPr lang="en-US" dirty="0"/>
          </a:p>
        </p:txBody>
      </p:sp>
    </p:spTree>
    <p:extLst>
      <p:ext uri="{BB962C8B-B14F-4D97-AF65-F5344CB8AC3E}">
        <p14:creationId xmlns:p14="http://schemas.microsoft.com/office/powerpoint/2010/main" val="4108252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356D2-1D37-4D68-B92A-9DA2BAD9706A}"/>
              </a:ext>
            </a:extLst>
          </p:cNvPr>
          <p:cNvSpPr>
            <a:spLocks noGrp="1"/>
          </p:cNvSpPr>
          <p:nvPr>
            <p:ph type="title"/>
          </p:nvPr>
        </p:nvSpPr>
        <p:spPr/>
        <p:txBody>
          <a:bodyPr/>
          <a:lstStyle/>
          <a:p>
            <a:r>
              <a:rPr lang="en-US" dirty="0"/>
              <a:t>From apps to systems</a:t>
            </a:r>
          </a:p>
        </p:txBody>
      </p:sp>
      <p:sp>
        <p:nvSpPr>
          <p:cNvPr id="3" name="Content Placeholder 2">
            <a:extLst>
              <a:ext uri="{FF2B5EF4-FFF2-40B4-BE49-F238E27FC236}">
                <a16:creationId xmlns:a16="http://schemas.microsoft.com/office/drawing/2014/main" id="{E4D32BEC-A804-48B8-A811-35A1B6231D14}"/>
              </a:ext>
            </a:extLst>
          </p:cNvPr>
          <p:cNvSpPr>
            <a:spLocks noGrp="1"/>
          </p:cNvSpPr>
          <p:nvPr>
            <p:ph sz="quarter" idx="1"/>
          </p:nvPr>
        </p:nvSpPr>
        <p:spPr/>
        <p:txBody>
          <a:bodyPr/>
          <a:lstStyle/>
          <a:p>
            <a:r>
              <a:rPr lang="en-US" dirty="0"/>
              <a:t>Many microservices are assembled to create a complex business application</a:t>
            </a:r>
          </a:p>
          <a:p>
            <a:r>
              <a:rPr lang="en-US" dirty="0"/>
              <a:t>Separate independent components</a:t>
            </a:r>
          </a:p>
          <a:p>
            <a:r>
              <a:rPr lang="en-US" dirty="0"/>
              <a:t>Brought together via middleware or API gateway</a:t>
            </a:r>
          </a:p>
        </p:txBody>
      </p:sp>
    </p:spTree>
    <p:extLst>
      <p:ext uri="{BB962C8B-B14F-4D97-AF65-F5344CB8AC3E}">
        <p14:creationId xmlns:p14="http://schemas.microsoft.com/office/powerpoint/2010/main" val="1958994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906E-0F4A-4658-8DB2-86737DDF0783}"/>
              </a:ext>
            </a:extLst>
          </p:cNvPr>
          <p:cNvSpPr>
            <a:spLocks noGrp="1"/>
          </p:cNvSpPr>
          <p:nvPr>
            <p:ph type="title"/>
          </p:nvPr>
        </p:nvSpPr>
        <p:spPr/>
        <p:txBody>
          <a:bodyPr/>
          <a:lstStyle/>
          <a:p>
            <a:r>
              <a:rPr lang="en-US" dirty="0"/>
              <a:t>Software Development Styles</a:t>
            </a:r>
          </a:p>
        </p:txBody>
      </p:sp>
      <p:sp>
        <p:nvSpPr>
          <p:cNvPr id="3" name="Content Placeholder 2">
            <a:extLst>
              <a:ext uri="{FF2B5EF4-FFF2-40B4-BE49-F238E27FC236}">
                <a16:creationId xmlns:a16="http://schemas.microsoft.com/office/drawing/2014/main" id="{7980A4F0-8D15-48A3-AE22-15517CA841EA}"/>
              </a:ext>
            </a:extLst>
          </p:cNvPr>
          <p:cNvSpPr>
            <a:spLocks noGrp="1"/>
          </p:cNvSpPr>
          <p:nvPr>
            <p:ph sz="quarter" idx="1"/>
          </p:nvPr>
        </p:nvSpPr>
        <p:spPr/>
        <p:txBody>
          <a:bodyPr>
            <a:normAutofit lnSpcReduction="10000"/>
          </a:bodyPr>
          <a:lstStyle/>
          <a:p>
            <a:r>
              <a:rPr lang="en-US" dirty="0"/>
              <a:t>Monolithic Applications</a:t>
            </a:r>
          </a:p>
          <a:p>
            <a:pPr lvl="1"/>
            <a:r>
              <a:rPr lang="en-US" dirty="0"/>
              <a:t>Codebase of application deployed as a single bundle of executables and libraries on a unified platform</a:t>
            </a:r>
          </a:p>
          <a:p>
            <a:r>
              <a:rPr lang="en-US" dirty="0"/>
              <a:t>Microservices Architecture</a:t>
            </a:r>
          </a:p>
          <a:p>
            <a:pPr lvl="1"/>
            <a:r>
              <a:rPr lang="en-US" dirty="0"/>
              <a:t>Multiple independent software components orchestrated to form a unified application</a:t>
            </a:r>
          </a:p>
          <a:p>
            <a:pPr lvl="1"/>
            <a:r>
              <a:rPr lang="en-US" dirty="0"/>
              <a:t>Common infrastructure:</a:t>
            </a:r>
          </a:p>
          <a:p>
            <a:pPr lvl="2"/>
            <a:r>
              <a:rPr lang="en-US" dirty="0"/>
              <a:t>User interface toolkit</a:t>
            </a:r>
          </a:p>
          <a:p>
            <a:pPr lvl="2"/>
            <a:r>
              <a:rPr lang="en-US" dirty="0"/>
              <a:t>API Gateway</a:t>
            </a:r>
          </a:p>
          <a:p>
            <a:pPr lvl="2"/>
            <a:r>
              <a:rPr lang="en-US"/>
              <a:t>Persistence layer</a:t>
            </a:r>
            <a:endParaRPr lang="en-US" dirty="0"/>
          </a:p>
        </p:txBody>
      </p:sp>
    </p:spTree>
    <p:extLst>
      <p:ext uri="{BB962C8B-B14F-4D97-AF65-F5344CB8AC3E}">
        <p14:creationId xmlns:p14="http://schemas.microsoft.com/office/powerpoint/2010/main" val="531698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5460-5626-4688-9B0B-94E3B348D0A0}"/>
              </a:ext>
            </a:extLst>
          </p:cNvPr>
          <p:cNvSpPr>
            <a:spLocks noGrp="1"/>
          </p:cNvSpPr>
          <p:nvPr>
            <p:ph type="title"/>
          </p:nvPr>
        </p:nvSpPr>
        <p:spPr/>
        <p:txBody>
          <a:bodyPr/>
          <a:lstStyle/>
          <a:p>
            <a:r>
              <a:rPr lang="en-US" dirty="0"/>
              <a:t>An internal architecture</a:t>
            </a:r>
          </a:p>
        </p:txBody>
      </p:sp>
      <p:sp>
        <p:nvSpPr>
          <p:cNvPr id="3" name="Content Placeholder 2">
            <a:extLst>
              <a:ext uri="{FF2B5EF4-FFF2-40B4-BE49-F238E27FC236}">
                <a16:creationId xmlns:a16="http://schemas.microsoft.com/office/drawing/2014/main" id="{52D00B16-F7FE-4E6E-ADCA-F2ADA11204FD}"/>
              </a:ext>
            </a:extLst>
          </p:cNvPr>
          <p:cNvSpPr>
            <a:spLocks noGrp="1"/>
          </p:cNvSpPr>
          <p:nvPr>
            <p:ph sz="quarter" idx="1"/>
          </p:nvPr>
        </p:nvSpPr>
        <p:spPr/>
        <p:txBody>
          <a:bodyPr/>
          <a:lstStyle/>
          <a:p>
            <a:r>
              <a:rPr lang="en-US" dirty="0"/>
              <a:t>Not necessarily apparent  to users whether the application is based on microservices</a:t>
            </a:r>
          </a:p>
          <a:p>
            <a:r>
              <a:rPr lang="en-US" dirty="0"/>
              <a:t>Needed for fast performance, high availability, extreme transaction loads</a:t>
            </a:r>
          </a:p>
          <a:p>
            <a:r>
              <a:rPr lang="en-US" dirty="0"/>
              <a:t>Decentralized architecture does not  imply fragmented user experience </a:t>
            </a:r>
          </a:p>
        </p:txBody>
      </p:sp>
    </p:spTree>
    <p:extLst>
      <p:ext uri="{BB962C8B-B14F-4D97-AF65-F5344CB8AC3E}">
        <p14:creationId xmlns:p14="http://schemas.microsoft.com/office/powerpoint/2010/main" val="224665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4D891-650B-431C-89AF-761703F3EEC0}"/>
              </a:ext>
            </a:extLst>
          </p:cNvPr>
          <p:cNvSpPr>
            <a:spLocks noGrp="1"/>
          </p:cNvSpPr>
          <p:nvPr>
            <p:ph type="title"/>
          </p:nvPr>
        </p:nvSpPr>
        <p:spPr/>
        <p:txBody>
          <a:bodyPr/>
          <a:lstStyle/>
          <a:p>
            <a:r>
              <a:rPr lang="en-US" dirty="0"/>
              <a:t>Who uses Microservices</a:t>
            </a:r>
          </a:p>
        </p:txBody>
      </p:sp>
      <p:sp>
        <p:nvSpPr>
          <p:cNvPr id="3" name="Content Placeholder 2">
            <a:extLst>
              <a:ext uri="{FF2B5EF4-FFF2-40B4-BE49-F238E27FC236}">
                <a16:creationId xmlns:a16="http://schemas.microsoft.com/office/drawing/2014/main" id="{AD3386A0-80F4-4D25-8B41-B005172F788E}"/>
              </a:ext>
            </a:extLst>
          </p:cNvPr>
          <p:cNvSpPr>
            <a:spLocks noGrp="1"/>
          </p:cNvSpPr>
          <p:nvPr>
            <p:ph sz="quarter" idx="1"/>
          </p:nvPr>
        </p:nvSpPr>
        <p:spPr/>
        <p:txBody>
          <a:bodyPr/>
          <a:lstStyle/>
          <a:p>
            <a:r>
              <a:rPr lang="en-US" dirty="0"/>
              <a:t>Uber</a:t>
            </a:r>
          </a:p>
          <a:p>
            <a:r>
              <a:rPr lang="en-US" dirty="0"/>
              <a:t>Netflix</a:t>
            </a:r>
          </a:p>
          <a:p>
            <a:r>
              <a:rPr lang="en-US" dirty="0"/>
              <a:t>Amazon</a:t>
            </a:r>
          </a:p>
          <a:p>
            <a:r>
              <a:rPr lang="en-US" dirty="0" err="1"/>
              <a:t>Ebay</a:t>
            </a:r>
            <a:endParaRPr lang="en-US" dirty="0"/>
          </a:p>
          <a:p>
            <a:r>
              <a:rPr lang="en-US" dirty="0"/>
              <a:t>Twitter</a:t>
            </a:r>
          </a:p>
          <a:p>
            <a:r>
              <a:rPr lang="en-US" dirty="0"/>
              <a:t>PayPal</a:t>
            </a:r>
          </a:p>
        </p:txBody>
      </p:sp>
    </p:spTree>
    <p:extLst>
      <p:ext uri="{BB962C8B-B14F-4D97-AF65-F5344CB8AC3E}">
        <p14:creationId xmlns:p14="http://schemas.microsoft.com/office/powerpoint/2010/main" val="1286770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6348-3406-4CF4-ABFC-1B03613B0ACB}"/>
              </a:ext>
            </a:extLst>
          </p:cNvPr>
          <p:cNvSpPr>
            <a:spLocks noGrp="1"/>
          </p:cNvSpPr>
          <p:nvPr>
            <p:ph type="title"/>
          </p:nvPr>
        </p:nvSpPr>
        <p:spPr/>
        <p:txBody>
          <a:bodyPr/>
          <a:lstStyle/>
          <a:p>
            <a:r>
              <a:rPr lang="en-US" dirty="0"/>
              <a:t>Alternative approach: Monolithic software</a:t>
            </a:r>
          </a:p>
        </p:txBody>
      </p:sp>
      <p:sp>
        <p:nvSpPr>
          <p:cNvPr id="3" name="Content Placeholder 2">
            <a:extLst>
              <a:ext uri="{FF2B5EF4-FFF2-40B4-BE49-F238E27FC236}">
                <a16:creationId xmlns:a16="http://schemas.microsoft.com/office/drawing/2014/main" id="{E4ED9131-CEB2-4F70-852B-B86376575BE7}"/>
              </a:ext>
            </a:extLst>
          </p:cNvPr>
          <p:cNvSpPr>
            <a:spLocks noGrp="1"/>
          </p:cNvSpPr>
          <p:nvPr>
            <p:ph sz="quarter" idx="1"/>
          </p:nvPr>
        </p:nvSpPr>
        <p:spPr/>
        <p:txBody>
          <a:bodyPr/>
          <a:lstStyle/>
          <a:p>
            <a:r>
              <a:rPr lang="en-US" dirty="0"/>
              <a:t>Consolidated executable application </a:t>
            </a:r>
          </a:p>
          <a:p>
            <a:pPr lvl="1"/>
            <a:r>
              <a:rPr lang="en-US" dirty="0"/>
              <a:t>Plus supporting libraries  and  modules</a:t>
            </a:r>
          </a:p>
          <a:p>
            <a:r>
              <a:rPr lang="en-US" dirty="0"/>
              <a:t>Can be massively distributed across computing clusters</a:t>
            </a:r>
          </a:p>
          <a:p>
            <a:r>
              <a:rPr lang="en-US" dirty="0"/>
              <a:t>Entire application based on a uniform technology stack:</a:t>
            </a:r>
          </a:p>
          <a:p>
            <a:pPr lvl="1"/>
            <a:r>
              <a:rPr lang="en-US" dirty="0"/>
              <a:t>Server platform</a:t>
            </a:r>
          </a:p>
          <a:p>
            <a:pPr lvl="1"/>
            <a:r>
              <a:rPr lang="en-US" dirty="0"/>
              <a:t>Operating system</a:t>
            </a:r>
          </a:p>
          <a:p>
            <a:pPr lvl="1"/>
            <a:r>
              <a:rPr lang="en-US" dirty="0"/>
              <a:t>Programming  language</a:t>
            </a:r>
          </a:p>
          <a:p>
            <a:pPr lvl="1"/>
            <a:r>
              <a:rPr lang="en-US" dirty="0"/>
              <a:t>Database layer</a:t>
            </a:r>
          </a:p>
          <a:p>
            <a:r>
              <a:rPr lang="en-US" dirty="0"/>
              <a:t>Enhancements mean recompilation of entire application</a:t>
            </a:r>
          </a:p>
          <a:p>
            <a:endParaRPr lang="en-US" dirty="0"/>
          </a:p>
        </p:txBody>
      </p:sp>
    </p:spTree>
    <p:extLst>
      <p:ext uri="{BB962C8B-B14F-4D97-AF65-F5344CB8AC3E}">
        <p14:creationId xmlns:p14="http://schemas.microsoft.com/office/powerpoint/2010/main" val="3791362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CB7F16B-B7E8-4755-BADF-C97A4EE600EF}"/>
              </a:ext>
            </a:extLst>
          </p:cNvPr>
          <p:cNvSpPr/>
          <p:nvPr/>
        </p:nvSpPr>
        <p:spPr>
          <a:xfrm>
            <a:off x="144629" y="1480456"/>
            <a:ext cx="10372645" cy="5225143"/>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endParaRPr>
          </a:p>
        </p:txBody>
      </p:sp>
      <p:sp>
        <p:nvSpPr>
          <p:cNvPr id="201" name="Flowchart: Magnetic Disk 200">
            <a:extLst>
              <a:ext uri="{FF2B5EF4-FFF2-40B4-BE49-F238E27FC236}">
                <a16:creationId xmlns:a16="http://schemas.microsoft.com/office/drawing/2014/main" id="{2BE3D908-557B-45C3-812F-C25F6695CE0D}"/>
              </a:ext>
            </a:extLst>
          </p:cNvPr>
          <p:cNvSpPr/>
          <p:nvPr/>
        </p:nvSpPr>
        <p:spPr>
          <a:xfrm>
            <a:off x="852990" y="5257216"/>
            <a:ext cx="9227181" cy="1355685"/>
          </a:xfrm>
          <a:prstGeom prst="flowChartMagneticDisk">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p>
        </p:txBody>
      </p:sp>
      <p:sp>
        <p:nvSpPr>
          <p:cNvPr id="20" name="Rectangle: Rounded Corners 19">
            <a:extLst>
              <a:ext uri="{FF2B5EF4-FFF2-40B4-BE49-F238E27FC236}">
                <a16:creationId xmlns:a16="http://schemas.microsoft.com/office/drawing/2014/main" id="{FBFAAD37-F448-4C0E-A15F-68BB93B31DC5}"/>
              </a:ext>
            </a:extLst>
          </p:cNvPr>
          <p:cNvSpPr/>
          <p:nvPr/>
        </p:nvSpPr>
        <p:spPr>
          <a:xfrm>
            <a:off x="852989" y="1686315"/>
            <a:ext cx="9074779" cy="581548"/>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Web service</a:t>
            </a:r>
          </a:p>
        </p:txBody>
      </p:sp>
      <p:sp>
        <p:nvSpPr>
          <p:cNvPr id="21" name="Rectangle: Rounded Corners 20">
            <a:extLst>
              <a:ext uri="{FF2B5EF4-FFF2-40B4-BE49-F238E27FC236}">
                <a16:creationId xmlns:a16="http://schemas.microsoft.com/office/drawing/2014/main" id="{EB5262A9-29A7-41ED-A01C-18256CFDB0D2}"/>
              </a:ext>
            </a:extLst>
          </p:cNvPr>
          <p:cNvSpPr/>
          <p:nvPr/>
        </p:nvSpPr>
        <p:spPr>
          <a:xfrm>
            <a:off x="852989" y="4846474"/>
            <a:ext cx="9074781" cy="31304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Run time libraries</a:t>
            </a:r>
          </a:p>
        </p:txBody>
      </p:sp>
      <p:sp>
        <p:nvSpPr>
          <p:cNvPr id="22" name="Rectangle: Rounded Corners 21">
            <a:extLst>
              <a:ext uri="{FF2B5EF4-FFF2-40B4-BE49-F238E27FC236}">
                <a16:creationId xmlns:a16="http://schemas.microsoft.com/office/drawing/2014/main" id="{B62AF1A2-07B8-4AC6-B442-D310214E7C46}"/>
              </a:ext>
            </a:extLst>
          </p:cNvPr>
          <p:cNvSpPr/>
          <p:nvPr/>
        </p:nvSpPr>
        <p:spPr>
          <a:xfrm>
            <a:off x="794268" y="3519803"/>
            <a:ext cx="9133501" cy="1227823"/>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rPr>
              <a:t>Application software </a:t>
            </a:r>
            <a:br>
              <a:rPr lang="en-US" sz="2800" dirty="0">
                <a:solidFill>
                  <a:schemeClr val="tx1">
                    <a:lumMod val="85000"/>
                    <a:lumOff val="15000"/>
                  </a:schemeClr>
                </a:solidFill>
              </a:rPr>
            </a:br>
            <a:r>
              <a:rPr lang="en-US" sz="2800" dirty="0">
                <a:solidFill>
                  <a:schemeClr val="tx1">
                    <a:lumMod val="85000"/>
                    <a:lumOff val="15000"/>
                  </a:schemeClr>
                </a:solidFill>
              </a:rPr>
              <a:t>Business Logic</a:t>
            </a:r>
          </a:p>
        </p:txBody>
      </p:sp>
      <p:sp>
        <p:nvSpPr>
          <p:cNvPr id="202" name="Flowchart: Magnetic Disk 201">
            <a:extLst>
              <a:ext uri="{FF2B5EF4-FFF2-40B4-BE49-F238E27FC236}">
                <a16:creationId xmlns:a16="http://schemas.microsoft.com/office/drawing/2014/main" id="{F3EC0868-106D-4C76-86E9-8164F2B16ABA}"/>
              </a:ext>
            </a:extLst>
          </p:cNvPr>
          <p:cNvSpPr/>
          <p:nvPr/>
        </p:nvSpPr>
        <p:spPr>
          <a:xfrm>
            <a:off x="1154526" y="568234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03" name="Flowchart: Magnetic Disk 202">
            <a:extLst>
              <a:ext uri="{FF2B5EF4-FFF2-40B4-BE49-F238E27FC236}">
                <a16:creationId xmlns:a16="http://schemas.microsoft.com/office/drawing/2014/main" id="{021129E6-9A3F-4032-9778-3611F0792939}"/>
              </a:ext>
            </a:extLst>
          </p:cNvPr>
          <p:cNvSpPr/>
          <p:nvPr/>
        </p:nvSpPr>
        <p:spPr>
          <a:xfrm>
            <a:off x="1154526" y="611473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28" name="Flowchart: Magnetic Disk 227">
            <a:extLst>
              <a:ext uri="{FF2B5EF4-FFF2-40B4-BE49-F238E27FC236}">
                <a16:creationId xmlns:a16="http://schemas.microsoft.com/office/drawing/2014/main" id="{246E78CD-684D-40CD-AB3F-079EC058C0A8}"/>
              </a:ext>
            </a:extLst>
          </p:cNvPr>
          <p:cNvSpPr/>
          <p:nvPr/>
        </p:nvSpPr>
        <p:spPr>
          <a:xfrm>
            <a:off x="2245505" y="5717468"/>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29" name="Flowchart: Magnetic Disk 228">
            <a:extLst>
              <a:ext uri="{FF2B5EF4-FFF2-40B4-BE49-F238E27FC236}">
                <a16:creationId xmlns:a16="http://schemas.microsoft.com/office/drawing/2014/main" id="{0B7C8203-4ADD-43F8-B7CC-054A8C6A3F44}"/>
              </a:ext>
            </a:extLst>
          </p:cNvPr>
          <p:cNvSpPr/>
          <p:nvPr/>
        </p:nvSpPr>
        <p:spPr>
          <a:xfrm>
            <a:off x="2245505" y="6149854"/>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0" name="Flowchart: Magnetic Disk 229">
            <a:extLst>
              <a:ext uri="{FF2B5EF4-FFF2-40B4-BE49-F238E27FC236}">
                <a16:creationId xmlns:a16="http://schemas.microsoft.com/office/drawing/2014/main" id="{2060E990-9CE0-4975-9363-20776634FF60}"/>
              </a:ext>
            </a:extLst>
          </p:cNvPr>
          <p:cNvSpPr/>
          <p:nvPr/>
        </p:nvSpPr>
        <p:spPr>
          <a:xfrm>
            <a:off x="3336484" y="572835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1" name="Flowchart: Magnetic Disk 230">
            <a:extLst>
              <a:ext uri="{FF2B5EF4-FFF2-40B4-BE49-F238E27FC236}">
                <a16:creationId xmlns:a16="http://schemas.microsoft.com/office/drawing/2014/main" id="{8A84D017-3256-41EE-B692-BB656F2C5479}"/>
              </a:ext>
            </a:extLst>
          </p:cNvPr>
          <p:cNvSpPr/>
          <p:nvPr/>
        </p:nvSpPr>
        <p:spPr>
          <a:xfrm>
            <a:off x="3336484" y="616074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2" name="Flowchart: Magnetic Disk 231">
            <a:extLst>
              <a:ext uri="{FF2B5EF4-FFF2-40B4-BE49-F238E27FC236}">
                <a16:creationId xmlns:a16="http://schemas.microsoft.com/office/drawing/2014/main" id="{7E355485-FB6D-42DC-8E6E-E654A3AE49A9}"/>
              </a:ext>
            </a:extLst>
          </p:cNvPr>
          <p:cNvSpPr/>
          <p:nvPr/>
        </p:nvSpPr>
        <p:spPr>
          <a:xfrm>
            <a:off x="4485716" y="572835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3" name="Flowchart: Magnetic Disk 232">
            <a:extLst>
              <a:ext uri="{FF2B5EF4-FFF2-40B4-BE49-F238E27FC236}">
                <a16:creationId xmlns:a16="http://schemas.microsoft.com/office/drawing/2014/main" id="{1385BBA1-18AA-4AAB-B57F-FC4B70DC4019}"/>
              </a:ext>
            </a:extLst>
          </p:cNvPr>
          <p:cNvSpPr/>
          <p:nvPr/>
        </p:nvSpPr>
        <p:spPr>
          <a:xfrm>
            <a:off x="4485716" y="616074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4" name="Flowchart: Magnetic Disk 233">
            <a:extLst>
              <a:ext uri="{FF2B5EF4-FFF2-40B4-BE49-F238E27FC236}">
                <a16:creationId xmlns:a16="http://schemas.microsoft.com/office/drawing/2014/main" id="{6298BCF6-84AC-4D82-9DA0-2D1D8607B647}"/>
              </a:ext>
            </a:extLst>
          </p:cNvPr>
          <p:cNvSpPr/>
          <p:nvPr/>
        </p:nvSpPr>
        <p:spPr>
          <a:xfrm>
            <a:off x="5519697" y="575259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5" name="Flowchart: Magnetic Disk 234">
            <a:extLst>
              <a:ext uri="{FF2B5EF4-FFF2-40B4-BE49-F238E27FC236}">
                <a16:creationId xmlns:a16="http://schemas.microsoft.com/office/drawing/2014/main" id="{16A7015D-6E14-4C7D-A90C-0DDABAB4BA5B}"/>
              </a:ext>
            </a:extLst>
          </p:cNvPr>
          <p:cNvSpPr/>
          <p:nvPr/>
        </p:nvSpPr>
        <p:spPr>
          <a:xfrm>
            <a:off x="5519697" y="6184978"/>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6" name="Flowchart: Magnetic Disk 235">
            <a:extLst>
              <a:ext uri="{FF2B5EF4-FFF2-40B4-BE49-F238E27FC236}">
                <a16:creationId xmlns:a16="http://schemas.microsoft.com/office/drawing/2014/main" id="{9C7784D4-39E0-47F7-98E9-15E829F966B4}"/>
              </a:ext>
            </a:extLst>
          </p:cNvPr>
          <p:cNvSpPr/>
          <p:nvPr/>
        </p:nvSpPr>
        <p:spPr>
          <a:xfrm>
            <a:off x="6668929" y="572835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7" name="Flowchart: Magnetic Disk 236">
            <a:extLst>
              <a:ext uri="{FF2B5EF4-FFF2-40B4-BE49-F238E27FC236}">
                <a16:creationId xmlns:a16="http://schemas.microsoft.com/office/drawing/2014/main" id="{6216C49A-C48A-49DC-A880-43793EE12617}"/>
              </a:ext>
            </a:extLst>
          </p:cNvPr>
          <p:cNvSpPr/>
          <p:nvPr/>
        </p:nvSpPr>
        <p:spPr>
          <a:xfrm>
            <a:off x="6668929" y="616074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8" name="Flowchart: Magnetic Disk 237">
            <a:extLst>
              <a:ext uri="{FF2B5EF4-FFF2-40B4-BE49-F238E27FC236}">
                <a16:creationId xmlns:a16="http://schemas.microsoft.com/office/drawing/2014/main" id="{0DFDD4EF-5EE2-46A4-BB13-C54F439B5003}"/>
              </a:ext>
            </a:extLst>
          </p:cNvPr>
          <p:cNvSpPr/>
          <p:nvPr/>
        </p:nvSpPr>
        <p:spPr>
          <a:xfrm>
            <a:off x="7695601" y="569498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9" name="Flowchart: Magnetic Disk 238">
            <a:extLst>
              <a:ext uri="{FF2B5EF4-FFF2-40B4-BE49-F238E27FC236}">
                <a16:creationId xmlns:a16="http://schemas.microsoft.com/office/drawing/2014/main" id="{F62A794E-6138-4884-A24D-090A53274C59}"/>
              </a:ext>
            </a:extLst>
          </p:cNvPr>
          <p:cNvSpPr/>
          <p:nvPr/>
        </p:nvSpPr>
        <p:spPr>
          <a:xfrm>
            <a:off x="7695601" y="612737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40" name="Flowchart: Magnetic Disk 239">
            <a:extLst>
              <a:ext uri="{FF2B5EF4-FFF2-40B4-BE49-F238E27FC236}">
                <a16:creationId xmlns:a16="http://schemas.microsoft.com/office/drawing/2014/main" id="{00AA85B2-7F8C-4DB1-937A-E6B2D9E8916D}"/>
              </a:ext>
            </a:extLst>
          </p:cNvPr>
          <p:cNvSpPr/>
          <p:nvPr/>
        </p:nvSpPr>
        <p:spPr>
          <a:xfrm>
            <a:off x="8722273" y="568234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41" name="Flowchart: Magnetic Disk 240">
            <a:extLst>
              <a:ext uri="{FF2B5EF4-FFF2-40B4-BE49-F238E27FC236}">
                <a16:creationId xmlns:a16="http://schemas.microsoft.com/office/drawing/2014/main" id="{A94470D6-5BE9-416A-AB98-AD31F3C4FEFE}"/>
              </a:ext>
            </a:extLst>
          </p:cNvPr>
          <p:cNvSpPr/>
          <p:nvPr/>
        </p:nvSpPr>
        <p:spPr>
          <a:xfrm>
            <a:off x="8722273" y="611473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42" name="TextBox 241">
            <a:extLst>
              <a:ext uri="{FF2B5EF4-FFF2-40B4-BE49-F238E27FC236}">
                <a16:creationId xmlns:a16="http://schemas.microsoft.com/office/drawing/2014/main" id="{5A7260CF-30A8-490A-A3F0-B9ABB9E0710A}"/>
              </a:ext>
            </a:extLst>
          </p:cNvPr>
          <p:cNvSpPr txBox="1"/>
          <p:nvPr/>
        </p:nvSpPr>
        <p:spPr>
          <a:xfrm>
            <a:off x="4615961" y="5298862"/>
            <a:ext cx="1770485" cy="646331"/>
          </a:xfrm>
          <a:prstGeom prst="rect">
            <a:avLst/>
          </a:prstGeom>
          <a:noFill/>
        </p:spPr>
        <p:txBody>
          <a:bodyPr wrap="none" rtlCol="0">
            <a:spAutoFit/>
          </a:bodyPr>
          <a:lstStyle/>
          <a:p>
            <a:r>
              <a:rPr lang="en-US" b="1" dirty="0"/>
              <a:t>Database Engine</a:t>
            </a:r>
          </a:p>
          <a:p>
            <a:endParaRPr lang="en-US" dirty="0"/>
          </a:p>
        </p:txBody>
      </p:sp>
      <p:sp>
        <p:nvSpPr>
          <p:cNvPr id="246" name="Rectangle: Rounded Corners 245">
            <a:extLst>
              <a:ext uri="{FF2B5EF4-FFF2-40B4-BE49-F238E27FC236}">
                <a16:creationId xmlns:a16="http://schemas.microsoft.com/office/drawing/2014/main" id="{DE6BD8F7-622B-4196-96BD-69D20D5F3F95}"/>
              </a:ext>
            </a:extLst>
          </p:cNvPr>
          <p:cNvSpPr/>
          <p:nvPr/>
        </p:nvSpPr>
        <p:spPr>
          <a:xfrm>
            <a:off x="794269" y="2450858"/>
            <a:ext cx="6756404" cy="911031"/>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Presentation Layer </a:t>
            </a:r>
          </a:p>
        </p:txBody>
      </p:sp>
      <p:pic>
        <p:nvPicPr>
          <p:cNvPr id="1030" name="Picture 6" descr="Image result for clip art web browser">
            <a:extLst>
              <a:ext uri="{FF2B5EF4-FFF2-40B4-BE49-F238E27FC236}">
                <a16:creationId xmlns:a16="http://schemas.microsoft.com/office/drawing/2014/main" id="{2DC7E432-BB57-4848-8EA8-4653E05B7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397"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250" name="Picture 6" descr="Image result for clip art web browser">
            <a:extLst>
              <a:ext uri="{FF2B5EF4-FFF2-40B4-BE49-F238E27FC236}">
                <a16:creationId xmlns:a16="http://schemas.microsoft.com/office/drawing/2014/main" id="{ECA05571-BF60-4584-A9DD-01EC2D1B5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9785"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6" descr="Image result for clip art web browser">
            <a:extLst>
              <a:ext uri="{FF2B5EF4-FFF2-40B4-BE49-F238E27FC236}">
                <a16:creationId xmlns:a16="http://schemas.microsoft.com/office/drawing/2014/main" id="{56498277-7B47-476C-ABE3-D898A2987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173"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clip art  cloud server">
            <a:extLst>
              <a:ext uri="{FF2B5EF4-FFF2-40B4-BE49-F238E27FC236}">
                <a16:creationId xmlns:a16="http://schemas.microsoft.com/office/drawing/2014/main" id="{B7AD4744-20C4-4E7D-BE7C-902452FB8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122" y="432835"/>
            <a:ext cx="808301" cy="808301"/>
          </a:xfrm>
          <a:prstGeom prst="rect">
            <a:avLst/>
          </a:prstGeom>
          <a:noFill/>
          <a:extLst>
            <a:ext uri="{909E8E84-426E-40DD-AFC4-6F175D3DCCD1}">
              <a14:hiddenFill xmlns:a14="http://schemas.microsoft.com/office/drawing/2010/main">
                <a:solidFill>
                  <a:srgbClr val="FFFFFF"/>
                </a:solidFill>
              </a14:hiddenFill>
            </a:ext>
          </a:extLst>
        </p:spPr>
      </p:pic>
      <p:sp>
        <p:nvSpPr>
          <p:cNvPr id="247" name="TextBox 246">
            <a:extLst>
              <a:ext uri="{FF2B5EF4-FFF2-40B4-BE49-F238E27FC236}">
                <a16:creationId xmlns:a16="http://schemas.microsoft.com/office/drawing/2014/main" id="{7F4C9599-DB8A-4BD2-AC02-938B526D1748}"/>
              </a:ext>
            </a:extLst>
          </p:cNvPr>
          <p:cNvSpPr txBox="1"/>
          <p:nvPr/>
        </p:nvSpPr>
        <p:spPr>
          <a:xfrm>
            <a:off x="464595" y="700612"/>
            <a:ext cx="1111715" cy="646331"/>
          </a:xfrm>
          <a:prstGeom prst="rect">
            <a:avLst/>
          </a:prstGeom>
          <a:noFill/>
        </p:spPr>
        <p:txBody>
          <a:bodyPr wrap="none" rtlCol="0">
            <a:spAutoFit/>
          </a:bodyPr>
          <a:lstStyle/>
          <a:p>
            <a:pPr algn="ctr"/>
            <a:r>
              <a:rPr lang="en-US" dirty="0"/>
              <a:t>User </a:t>
            </a:r>
            <a:br>
              <a:rPr lang="en-US" dirty="0"/>
            </a:br>
            <a:r>
              <a:rPr lang="en-US" dirty="0"/>
              <a:t>Interfaces</a:t>
            </a:r>
          </a:p>
        </p:txBody>
      </p:sp>
      <p:sp>
        <p:nvSpPr>
          <p:cNvPr id="254" name="TextBox 253">
            <a:extLst>
              <a:ext uri="{FF2B5EF4-FFF2-40B4-BE49-F238E27FC236}">
                <a16:creationId xmlns:a16="http://schemas.microsoft.com/office/drawing/2014/main" id="{E13E21F7-45B3-434E-82E9-A7E30BC8EB1A}"/>
              </a:ext>
            </a:extLst>
          </p:cNvPr>
          <p:cNvSpPr txBox="1"/>
          <p:nvPr/>
        </p:nvSpPr>
        <p:spPr>
          <a:xfrm>
            <a:off x="9163144" y="368625"/>
            <a:ext cx="2018053" cy="646331"/>
          </a:xfrm>
          <a:prstGeom prst="rect">
            <a:avLst/>
          </a:prstGeom>
          <a:noFill/>
        </p:spPr>
        <p:txBody>
          <a:bodyPr wrap="none" rtlCol="0">
            <a:spAutoFit/>
          </a:bodyPr>
          <a:lstStyle/>
          <a:p>
            <a:pPr algn="ctr"/>
            <a:r>
              <a:rPr lang="en-US" dirty="0"/>
              <a:t>Scripts/</a:t>
            </a:r>
            <a:br>
              <a:rPr lang="en-US" dirty="0"/>
            </a:br>
            <a:r>
              <a:rPr lang="en-US" dirty="0"/>
              <a:t>Third Party Systems</a:t>
            </a:r>
          </a:p>
        </p:txBody>
      </p:sp>
      <p:cxnSp>
        <p:nvCxnSpPr>
          <p:cNvPr id="249" name="Straight Arrow Connector 248">
            <a:extLst>
              <a:ext uri="{FF2B5EF4-FFF2-40B4-BE49-F238E27FC236}">
                <a16:creationId xmlns:a16="http://schemas.microsoft.com/office/drawing/2014/main" id="{8B016D12-6840-448D-99A3-02FD7E54A7B5}"/>
              </a:ext>
            </a:extLst>
          </p:cNvPr>
          <p:cNvCxnSpPr>
            <a:cxnSpLocks/>
          </p:cNvCxnSpPr>
          <p:nvPr/>
        </p:nvCxnSpPr>
        <p:spPr>
          <a:xfrm>
            <a:off x="8425543" y="1346943"/>
            <a:ext cx="0" cy="63014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388BD882-B886-4788-AE58-F002D12E0C96}"/>
              </a:ext>
            </a:extLst>
          </p:cNvPr>
          <p:cNvCxnSpPr>
            <a:cxnSpLocks/>
          </p:cNvCxnSpPr>
          <p:nvPr/>
        </p:nvCxnSpPr>
        <p:spPr>
          <a:xfrm>
            <a:off x="8700502" y="1297813"/>
            <a:ext cx="0" cy="67927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39E8E9F1-41C4-4225-AC4B-73C31DCA3DDA}"/>
              </a:ext>
            </a:extLst>
          </p:cNvPr>
          <p:cNvCxnSpPr>
            <a:cxnSpLocks/>
          </p:cNvCxnSpPr>
          <p:nvPr/>
        </p:nvCxnSpPr>
        <p:spPr>
          <a:xfrm>
            <a:off x="8981494" y="1346943"/>
            <a:ext cx="0" cy="63014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60" name="TextBox 259">
            <a:extLst>
              <a:ext uri="{FF2B5EF4-FFF2-40B4-BE49-F238E27FC236}">
                <a16:creationId xmlns:a16="http://schemas.microsoft.com/office/drawing/2014/main" id="{D5E109F0-19EF-40FB-8CCB-7A507D05D23B}"/>
              </a:ext>
            </a:extLst>
          </p:cNvPr>
          <p:cNvSpPr txBox="1"/>
          <p:nvPr/>
        </p:nvSpPr>
        <p:spPr>
          <a:xfrm>
            <a:off x="9078527" y="1092478"/>
            <a:ext cx="1341714" cy="338554"/>
          </a:xfrm>
          <a:prstGeom prst="rect">
            <a:avLst/>
          </a:prstGeom>
          <a:noFill/>
        </p:spPr>
        <p:txBody>
          <a:bodyPr wrap="none" rtlCol="0">
            <a:spAutoFit/>
          </a:bodyPr>
          <a:lstStyle/>
          <a:p>
            <a:pPr algn="ctr"/>
            <a:r>
              <a:rPr lang="en-US" sz="1600" dirty="0"/>
              <a:t>API endpoints</a:t>
            </a:r>
          </a:p>
        </p:txBody>
      </p:sp>
      <p:cxnSp>
        <p:nvCxnSpPr>
          <p:cNvPr id="261" name="Straight Arrow Connector 260">
            <a:extLst>
              <a:ext uri="{FF2B5EF4-FFF2-40B4-BE49-F238E27FC236}">
                <a16:creationId xmlns:a16="http://schemas.microsoft.com/office/drawing/2014/main" id="{EFB80973-B316-4CE9-8527-624F7D3AA138}"/>
              </a:ext>
            </a:extLst>
          </p:cNvPr>
          <p:cNvCxnSpPr>
            <a:cxnSpLocks/>
          </p:cNvCxnSpPr>
          <p:nvPr/>
        </p:nvCxnSpPr>
        <p:spPr>
          <a:xfrm>
            <a:off x="8425543" y="2107598"/>
            <a:ext cx="15738" cy="160443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F5A56E55-321A-4FE1-B07F-556F276DD647}"/>
              </a:ext>
            </a:extLst>
          </p:cNvPr>
          <p:cNvCxnSpPr>
            <a:cxnSpLocks/>
          </p:cNvCxnSpPr>
          <p:nvPr/>
        </p:nvCxnSpPr>
        <p:spPr>
          <a:xfrm>
            <a:off x="8700502" y="2107598"/>
            <a:ext cx="21771" cy="160443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11A33438-5FF6-4804-AD79-E37A42BDF6EB}"/>
              </a:ext>
            </a:extLst>
          </p:cNvPr>
          <p:cNvCxnSpPr>
            <a:cxnSpLocks/>
          </p:cNvCxnSpPr>
          <p:nvPr/>
        </p:nvCxnSpPr>
        <p:spPr>
          <a:xfrm>
            <a:off x="8981494" y="2107598"/>
            <a:ext cx="0" cy="160443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9B5A8F0E-F284-423B-92A1-4645A6175C96}"/>
              </a:ext>
            </a:extLst>
          </p:cNvPr>
          <p:cNvSpPr txBox="1"/>
          <p:nvPr/>
        </p:nvSpPr>
        <p:spPr>
          <a:xfrm>
            <a:off x="2568795" y="-13804"/>
            <a:ext cx="6255367" cy="523220"/>
          </a:xfrm>
          <a:prstGeom prst="rect">
            <a:avLst/>
          </a:prstGeom>
          <a:noFill/>
        </p:spPr>
        <p:txBody>
          <a:bodyPr wrap="none" rtlCol="0">
            <a:spAutoFit/>
          </a:bodyPr>
          <a:lstStyle/>
          <a:p>
            <a:r>
              <a:rPr lang="en-US" sz="2800" dirty="0"/>
              <a:t>Monolithic Application Conceptual Model</a:t>
            </a:r>
          </a:p>
        </p:txBody>
      </p:sp>
    </p:spTree>
    <p:extLst>
      <p:ext uri="{BB962C8B-B14F-4D97-AF65-F5344CB8AC3E}">
        <p14:creationId xmlns:p14="http://schemas.microsoft.com/office/powerpoint/2010/main" val="980113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31017-DA85-4442-B90A-B0F50E3F6EBD}"/>
              </a:ext>
            </a:extLst>
          </p:cNvPr>
          <p:cNvSpPr>
            <a:spLocks noGrp="1"/>
          </p:cNvSpPr>
          <p:nvPr>
            <p:ph type="title"/>
          </p:nvPr>
        </p:nvSpPr>
        <p:spPr/>
        <p:txBody>
          <a:bodyPr/>
          <a:lstStyle/>
          <a:p>
            <a:r>
              <a:rPr lang="en-US" dirty="0"/>
              <a:t>Services-oriented Architecture</a:t>
            </a:r>
          </a:p>
        </p:txBody>
      </p:sp>
      <p:sp>
        <p:nvSpPr>
          <p:cNvPr id="3" name="Content Placeholder 2">
            <a:extLst>
              <a:ext uri="{FF2B5EF4-FFF2-40B4-BE49-F238E27FC236}">
                <a16:creationId xmlns:a16="http://schemas.microsoft.com/office/drawing/2014/main" id="{C52AF3FC-38CA-4566-9438-3022077FD978}"/>
              </a:ext>
            </a:extLst>
          </p:cNvPr>
          <p:cNvSpPr>
            <a:spLocks noGrp="1"/>
          </p:cNvSpPr>
          <p:nvPr>
            <p:ph sz="quarter" idx="1"/>
          </p:nvPr>
        </p:nvSpPr>
        <p:spPr/>
        <p:txBody>
          <a:bodyPr/>
          <a:lstStyle/>
          <a:p>
            <a:r>
              <a:rPr lang="en-US" dirty="0"/>
              <a:t>Longstanding approach to business  application development</a:t>
            </a:r>
          </a:p>
          <a:p>
            <a:r>
              <a:rPr lang="en-US" dirty="0"/>
              <a:t>Monolithic application  based on reusable services</a:t>
            </a:r>
          </a:p>
          <a:p>
            <a:r>
              <a:rPr lang="en-US" dirty="0"/>
              <a:t>Complex applications rely on an enterprise service bus to manage communications among services, database connectivity, event triggers, </a:t>
            </a:r>
            <a:r>
              <a:rPr lang="en-US" dirty="0" err="1"/>
              <a:t>etc</a:t>
            </a:r>
            <a:endParaRPr lang="en-US" dirty="0"/>
          </a:p>
          <a:p>
            <a:r>
              <a:rPr lang="en-US" dirty="0"/>
              <a:t>Single uniform technology platform</a:t>
            </a:r>
          </a:p>
          <a:p>
            <a:r>
              <a:rPr lang="en-US" dirty="0"/>
              <a:t>Code assembled into a monolithic package</a:t>
            </a:r>
          </a:p>
          <a:p>
            <a:r>
              <a:rPr lang="en-US" dirty="0"/>
              <a:t>Scales to very high performance through clustered deployment</a:t>
            </a:r>
          </a:p>
        </p:txBody>
      </p:sp>
    </p:spTree>
    <p:extLst>
      <p:ext uri="{BB962C8B-B14F-4D97-AF65-F5344CB8AC3E}">
        <p14:creationId xmlns:p14="http://schemas.microsoft.com/office/powerpoint/2010/main" val="1836053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D297-C7DF-438E-8F05-24BDEFE8660D}"/>
              </a:ext>
            </a:extLst>
          </p:cNvPr>
          <p:cNvSpPr>
            <a:spLocks noGrp="1"/>
          </p:cNvSpPr>
          <p:nvPr>
            <p:ph type="title"/>
          </p:nvPr>
        </p:nvSpPr>
        <p:spPr/>
        <p:txBody>
          <a:bodyPr/>
          <a:lstStyle/>
          <a:p>
            <a:r>
              <a:rPr lang="en-US" dirty="0"/>
              <a:t>SOA development issues</a:t>
            </a:r>
          </a:p>
        </p:txBody>
      </p:sp>
      <p:sp>
        <p:nvSpPr>
          <p:cNvPr id="3" name="Content Placeholder 2">
            <a:extLst>
              <a:ext uri="{FF2B5EF4-FFF2-40B4-BE49-F238E27FC236}">
                <a16:creationId xmlns:a16="http://schemas.microsoft.com/office/drawing/2014/main" id="{98348077-F75C-46F2-90C3-9C12734C206E}"/>
              </a:ext>
            </a:extLst>
          </p:cNvPr>
          <p:cNvSpPr>
            <a:spLocks noGrp="1"/>
          </p:cNvSpPr>
          <p:nvPr>
            <p:ph sz="quarter" idx="1"/>
          </p:nvPr>
        </p:nvSpPr>
        <p:spPr/>
        <p:txBody>
          <a:bodyPr/>
          <a:lstStyle/>
          <a:p>
            <a:r>
              <a:rPr lang="en-US" dirty="0"/>
              <a:t>Services are closely interrelated throughout the application</a:t>
            </a:r>
          </a:p>
          <a:p>
            <a:r>
              <a:rPr lang="en-US" dirty="0"/>
              <a:t>Developers must understand all aspects of the application</a:t>
            </a:r>
          </a:p>
          <a:p>
            <a:r>
              <a:rPr lang="en-US" dirty="0"/>
              <a:t>Single technology stack </a:t>
            </a:r>
          </a:p>
          <a:p>
            <a:r>
              <a:rPr lang="en-US" dirty="0"/>
              <a:t>Small changes require full recompilation</a:t>
            </a:r>
          </a:p>
          <a:p>
            <a:r>
              <a:rPr lang="en-US" dirty="0"/>
              <a:t>Complex applications can hit hardware or OS limits</a:t>
            </a:r>
          </a:p>
          <a:p>
            <a:r>
              <a:rPr lang="en-US" dirty="0"/>
              <a:t>Centralized development pattern</a:t>
            </a:r>
          </a:p>
          <a:p>
            <a:r>
              <a:rPr lang="en-US" dirty="0"/>
              <a:t>Operations separated from Development</a:t>
            </a:r>
          </a:p>
        </p:txBody>
      </p:sp>
    </p:spTree>
    <p:extLst>
      <p:ext uri="{BB962C8B-B14F-4D97-AF65-F5344CB8AC3E}">
        <p14:creationId xmlns:p14="http://schemas.microsoft.com/office/powerpoint/2010/main" val="3653075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CB7F16B-B7E8-4755-BADF-C97A4EE600EF}"/>
              </a:ext>
            </a:extLst>
          </p:cNvPr>
          <p:cNvSpPr/>
          <p:nvPr/>
        </p:nvSpPr>
        <p:spPr>
          <a:xfrm>
            <a:off x="144629" y="1480456"/>
            <a:ext cx="10372645" cy="5225143"/>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endParaRPr>
          </a:p>
        </p:txBody>
      </p:sp>
      <p:sp>
        <p:nvSpPr>
          <p:cNvPr id="201" name="Flowchart: Magnetic Disk 200">
            <a:extLst>
              <a:ext uri="{FF2B5EF4-FFF2-40B4-BE49-F238E27FC236}">
                <a16:creationId xmlns:a16="http://schemas.microsoft.com/office/drawing/2014/main" id="{2BE3D908-557B-45C3-812F-C25F6695CE0D}"/>
              </a:ext>
            </a:extLst>
          </p:cNvPr>
          <p:cNvSpPr/>
          <p:nvPr/>
        </p:nvSpPr>
        <p:spPr>
          <a:xfrm>
            <a:off x="852990" y="5257216"/>
            <a:ext cx="9227181" cy="1355685"/>
          </a:xfrm>
          <a:prstGeom prst="flowChartMagneticDisk">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p>
        </p:txBody>
      </p:sp>
      <p:sp>
        <p:nvSpPr>
          <p:cNvPr id="20" name="Rectangle: Rounded Corners 19">
            <a:extLst>
              <a:ext uri="{FF2B5EF4-FFF2-40B4-BE49-F238E27FC236}">
                <a16:creationId xmlns:a16="http://schemas.microsoft.com/office/drawing/2014/main" id="{FBFAAD37-F448-4C0E-A15F-68BB93B31DC5}"/>
              </a:ext>
            </a:extLst>
          </p:cNvPr>
          <p:cNvSpPr/>
          <p:nvPr/>
        </p:nvSpPr>
        <p:spPr>
          <a:xfrm>
            <a:off x="852989" y="1686315"/>
            <a:ext cx="9074779" cy="581548"/>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Web service</a:t>
            </a:r>
          </a:p>
        </p:txBody>
      </p:sp>
      <p:sp>
        <p:nvSpPr>
          <p:cNvPr id="21" name="Rectangle: Rounded Corners 20">
            <a:extLst>
              <a:ext uri="{FF2B5EF4-FFF2-40B4-BE49-F238E27FC236}">
                <a16:creationId xmlns:a16="http://schemas.microsoft.com/office/drawing/2014/main" id="{EB5262A9-29A7-41ED-A01C-18256CFDB0D2}"/>
              </a:ext>
            </a:extLst>
          </p:cNvPr>
          <p:cNvSpPr/>
          <p:nvPr/>
        </p:nvSpPr>
        <p:spPr>
          <a:xfrm>
            <a:off x="852989" y="4755456"/>
            <a:ext cx="9074781" cy="40406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Enterprise Service Bus</a:t>
            </a:r>
          </a:p>
        </p:txBody>
      </p:sp>
      <p:sp>
        <p:nvSpPr>
          <p:cNvPr id="22" name="Rectangle: Rounded Corners 21">
            <a:extLst>
              <a:ext uri="{FF2B5EF4-FFF2-40B4-BE49-F238E27FC236}">
                <a16:creationId xmlns:a16="http://schemas.microsoft.com/office/drawing/2014/main" id="{B62AF1A2-07B8-4AC6-B442-D310214E7C46}"/>
              </a:ext>
            </a:extLst>
          </p:cNvPr>
          <p:cNvSpPr/>
          <p:nvPr/>
        </p:nvSpPr>
        <p:spPr>
          <a:xfrm>
            <a:off x="794268" y="3192857"/>
            <a:ext cx="9133501" cy="150625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800" dirty="0">
                <a:solidFill>
                  <a:schemeClr val="tx1">
                    <a:lumMod val="85000"/>
                    <a:lumOff val="15000"/>
                  </a:schemeClr>
                </a:solidFill>
              </a:rPr>
              <a:t>Application software Business Logic</a:t>
            </a:r>
          </a:p>
        </p:txBody>
      </p:sp>
      <p:sp>
        <p:nvSpPr>
          <p:cNvPr id="202" name="Flowchart: Magnetic Disk 201">
            <a:extLst>
              <a:ext uri="{FF2B5EF4-FFF2-40B4-BE49-F238E27FC236}">
                <a16:creationId xmlns:a16="http://schemas.microsoft.com/office/drawing/2014/main" id="{F3EC0868-106D-4C76-86E9-8164F2B16ABA}"/>
              </a:ext>
            </a:extLst>
          </p:cNvPr>
          <p:cNvSpPr/>
          <p:nvPr/>
        </p:nvSpPr>
        <p:spPr>
          <a:xfrm>
            <a:off x="1154526" y="568234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03" name="Flowchart: Magnetic Disk 202">
            <a:extLst>
              <a:ext uri="{FF2B5EF4-FFF2-40B4-BE49-F238E27FC236}">
                <a16:creationId xmlns:a16="http://schemas.microsoft.com/office/drawing/2014/main" id="{021129E6-9A3F-4032-9778-3611F0792939}"/>
              </a:ext>
            </a:extLst>
          </p:cNvPr>
          <p:cNvSpPr/>
          <p:nvPr/>
        </p:nvSpPr>
        <p:spPr>
          <a:xfrm>
            <a:off x="1154526" y="611473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28" name="Flowchart: Magnetic Disk 227">
            <a:extLst>
              <a:ext uri="{FF2B5EF4-FFF2-40B4-BE49-F238E27FC236}">
                <a16:creationId xmlns:a16="http://schemas.microsoft.com/office/drawing/2014/main" id="{246E78CD-684D-40CD-AB3F-079EC058C0A8}"/>
              </a:ext>
            </a:extLst>
          </p:cNvPr>
          <p:cNvSpPr/>
          <p:nvPr/>
        </p:nvSpPr>
        <p:spPr>
          <a:xfrm>
            <a:off x="2245505" y="5717468"/>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29" name="Flowchart: Magnetic Disk 228">
            <a:extLst>
              <a:ext uri="{FF2B5EF4-FFF2-40B4-BE49-F238E27FC236}">
                <a16:creationId xmlns:a16="http://schemas.microsoft.com/office/drawing/2014/main" id="{0B7C8203-4ADD-43F8-B7CC-054A8C6A3F44}"/>
              </a:ext>
            </a:extLst>
          </p:cNvPr>
          <p:cNvSpPr/>
          <p:nvPr/>
        </p:nvSpPr>
        <p:spPr>
          <a:xfrm>
            <a:off x="2245505" y="6149854"/>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0" name="Flowchart: Magnetic Disk 229">
            <a:extLst>
              <a:ext uri="{FF2B5EF4-FFF2-40B4-BE49-F238E27FC236}">
                <a16:creationId xmlns:a16="http://schemas.microsoft.com/office/drawing/2014/main" id="{2060E990-9CE0-4975-9363-20776634FF60}"/>
              </a:ext>
            </a:extLst>
          </p:cNvPr>
          <p:cNvSpPr/>
          <p:nvPr/>
        </p:nvSpPr>
        <p:spPr>
          <a:xfrm>
            <a:off x="3336484" y="572835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1" name="Flowchart: Magnetic Disk 230">
            <a:extLst>
              <a:ext uri="{FF2B5EF4-FFF2-40B4-BE49-F238E27FC236}">
                <a16:creationId xmlns:a16="http://schemas.microsoft.com/office/drawing/2014/main" id="{8A84D017-3256-41EE-B692-BB656F2C5479}"/>
              </a:ext>
            </a:extLst>
          </p:cNvPr>
          <p:cNvSpPr/>
          <p:nvPr/>
        </p:nvSpPr>
        <p:spPr>
          <a:xfrm>
            <a:off x="3336484" y="616074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2" name="Flowchart: Magnetic Disk 231">
            <a:extLst>
              <a:ext uri="{FF2B5EF4-FFF2-40B4-BE49-F238E27FC236}">
                <a16:creationId xmlns:a16="http://schemas.microsoft.com/office/drawing/2014/main" id="{7E355485-FB6D-42DC-8E6E-E654A3AE49A9}"/>
              </a:ext>
            </a:extLst>
          </p:cNvPr>
          <p:cNvSpPr/>
          <p:nvPr/>
        </p:nvSpPr>
        <p:spPr>
          <a:xfrm>
            <a:off x="4485716" y="572835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3" name="Flowchart: Magnetic Disk 232">
            <a:extLst>
              <a:ext uri="{FF2B5EF4-FFF2-40B4-BE49-F238E27FC236}">
                <a16:creationId xmlns:a16="http://schemas.microsoft.com/office/drawing/2014/main" id="{1385BBA1-18AA-4AAB-B57F-FC4B70DC4019}"/>
              </a:ext>
            </a:extLst>
          </p:cNvPr>
          <p:cNvSpPr/>
          <p:nvPr/>
        </p:nvSpPr>
        <p:spPr>
          <a:xfrm>
            <a:off x="4485716" y="616074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4" name="Flowchart: Magnetic Disk 233">
            <a:extLst>
              <a:ext uri="{FF2B5EF4-FFF2-40B4-BE49-F238E27FC236}">
                <a16:creationId xmlns:a16="http://schemas.microsoft.com/office/drawing/2014/main" id="{6298BCF6-84AC-4D82-9DA0-2D1D8607B647}"/>
              </a:ext>
            </a:extLst>
          </p:cNvPr>
          <p:cNvSpPr/>
          <p:nvPr/>
        </p:nvSpPr>
        <p:spPr>
          <a:xfrm>
            <a:off x="5519697" y="575259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5" name="Flowchart: Magnetic Disk 234">
            <a:extLst>
              <a:ext uri="{FF2B5EF4-FFF2-40B4-BE49-F238E27FC236}">
                <a16:creationId xmlns:a16="http://schemas.microsoft.com/office/drawing/2014/main" id="{16A7015D-6E14-4C7D-A90C-0DDABAB4BA5B}"/>
              </a:ext>
            </a:extLst>
          </p:cNvPr>
          <p:cNvSpPr/>
          <p:nvPr/>
        </p:nvSpPr>
        <p:spPr>
          <a:xfrm>
            <a:off x="5519697" y="6184978"/>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6" name="Flowchart: Magnetic Disk 235">
            <a:extLst>
              <a:ext uri="{FF2B5EF4-FFF2-40B4-BE49-F238E27FC236}">
                <a16:creationId xmlns:a16="http://schemas.microsoft.com/office/drawing/2014/main" id="{9C7784D4-39E0-47F7-98E9-15E829F966B4}"/>
              </a:ext>
            </a:extLst>
          </p:cNvPr>
          <p:cNvSpPr/>
          <p:nvPr/>
        </p:nvSpPr>
        <p:spPr>
          <a:xfrm>
            <a:off x="6668929" y="572835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7" name="Flowchart: Magnetic Disk 236">
            <a:extLst>
              <a:ext uri="{FF2B5EF4-FFF2-40B4-BE49-F238E27FC236}">
                <a16:creationId xmlns:a16="http://schemas.microsoft.com/office/drawing/2014/main" id="{6216C49A-C48A-49DC-A880-43793EE12617}"/>
              </a:ext>
            </a:extLst>
          </p:cNvPr>
          <p:cNvSpPr/>
          <p:nvPr/>
        </p:nvSpPr>
        <p:spPr>
          <a:xfrm>
            <a:off x="6668929" y="616074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8" name="Flowchart: Magnetic Disk 237">
            <a:extLst>
              <a:ext uri="{FF2B5EF4-FFF2-40B4-BE49-F238E27FC236}">
                <a16:creationId xmlns:a16="http://schemas.microsoft.com/office/drawing/2014/main" id="{0DFDD4EF-5EE2-46A4-BB13-C54F439B5003}"/>
              </a:ext>
            </a:extLst>
          </p:cNvPr>
          <p:cNvSpPr/>
          <p:nvPr/>
        </p:nvSpPr>
        <p:spPr>
          <a:xfrm>
            <a:off x="7695601" y="569498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39" name="Flowchart: Magnetic Disk 238">
            <a:extLst>
              <a:ext uri="{FF2B5EF4-FFF2-40B4-BE49-F238E27FC236}">
                <a16:creationId xmlns:a16="http://schemas.microsoft.com/office/drawing/2014/main" id="{F62A794E-6138-4884-A24D-090A53274C59}"/>
              </a:ext>
            </a:extLst>
          </p:cNvPr>
          <p:cNvSpPr/>
          <p:nvPr/>
        </p:nvSpPr>
        <p:spPr>
          <a:xfrm>
            <a:off x="7695601" y="612737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40" name="Flowchart: Magnetic Disk 239">
            <a:extLst>
              <a:ext uri="{FF2B5EF4-FFF2-40B4-BE49-F238E27FC236}">
                <a16:creationId xmlns:a16="http://schemas.microsoft.com/office/drawing/2014/main" id="{00AA85B2-7F8C-4DB1-937A-E6B2D9E8916D}"/>
              </a:ext>
            </a:extLst>
          </p:cNvPr>
          <p:cNvSpPr/>
          <p:nvPr/>
        </p:nvSpPr>
        <p:spPr>
          <a:xfrm>
            <a:off x="8722273" y="5682346"/>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41" name="Flowchart: Magnetic Disk 240">
            <a:extLst>
              <a:ext uri="{FF2B5EF4-FFF2-40B4-BE49-F238E27FC236}">
                <a16:creationId xmlns:a16="http://schemas.microsoft.com/office/drawing/2014/main" id="{A94470D6-5BE9-416A-AB98-AD31F3C4FEFE}"/>
              </a:ext>
            </a:extLst>
          </p:cNvPr>
          <p:cNvSpPr/>
          <p:nvPr/>
        </p:nvSpPr>
        <p:spPr>
          <a:xfrm>
            <a:off x="8722273" y="6114732"/>
            <a:ext cx="881743" cy="315685"/>
          </a:xfrm>
          <a:prstGeom prst="flowChartMagneticDisk">
            <a:avLst/>
          </a:prstGeom>
          <a:solidFill>
            <a:schemeClr val="accent4">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Table</a:t>
            </a:r>
          </a:p>
        </p:txBody>
      </p:sp>
      <p:sp>
        <p:nvSpPr>
          <p:cNvPr id="242" name="TextBox 241">
            <a:extLst>
              <a:ext uri="{FF2B5EF4-FFF2-40B4-BE49-F238E27FC236}">
                <a16:creationId xmlns:a16="http://schemas.microsoft.com/office/drawing/2014/main" id="{5A7260CF-30A8-490A-A3F0-B9ABB9E0710A}"/>
              </a:ext>
            </a:extLst>
          </p:cNvPr>
          <p:cNvSpPr txBox="1"/>
          <p:nvPr/>
        </p:nvSpPr>
        <p:spPr>
          <a:xfrm>
            <a:off x="4615961" y="5298862"/>
            <a:ext cx="1770485" cy="646331"/>
          </a:xfrm>
          <a:prstGeom prst="rect">
            <a:avLst/>
          </a:prstGeom>
          <a:noFill/>
        </p:spPr>
        <p:txBody>
          <a:bodyPr wrap="none" rtlCol="0">
            <a:spAutoFit/>
          </a:bodyPr>
          <a:lstStyle/>
          <a:p>
            <a:r>
              <a:rPr lang="en-US" b="1" dirty="0"/>
              <a:t>Database Engine</a:t>
            </a:r>
          </a:p>
          <a:p>
            <a:endParaRPr lang="en-US" dirty="0"/>
          </a:p>
        </p:txBody>
      </p:sp>
      <p:sp>
        <p:nvSpPr>
          <p:cNvPr id="246" name="Rectangle: Rounded Corners 245">
            <a:extLst>
              <a:ext uri="{FF2B5EF4-FFF2-40B4-BE49-F238E27FC236}">
                <a16:creationId xmlns:a16="http://schemas.microsoft.com/office/drawing/2014/main" id="{DE6BD8F7-622B-4196-96BD-69D20D5F3F95}"/>
              </a:ext>
            </a:extLst>
          </p:cNvPr>
          <p:cNvSpPr/>
          <p:nvPr/>
        </p:nvSpPr>
        <p:spPr>
          <a:xfrm>
            <a:off x="794269" y="2450858"/>
            <a:ext cx="6756404" cy="559355"/>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Presentation Layer </a:t>
            </a:r>
          </a:p>
        </p:txBody>
      </p:sp>
      <p:pic>
        <p:nvPicPr>
          <p:cNvPr id="1030" name="Picture 6" descr="Image result for clip art web browser">
            <a:extLst>
              <a:ext uri="{FF2B5EF4-FFF2-40B4-BE49-F238E27FC236}">
                <a16:creationId xmlns:a16="http://schemas.microsoft.com/office/drawing/2014/main" id="{2DC7E432-BB57-4848-8EA8-4653E05B7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397"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250" name="Picture 6" descr="Image result for clip art web browser">
            <a:extLst>
              <a:ext uri="{FF2B5EF4-FFF2-40B4-BE49-F238E27FC236}">
                <a16:creationId xmlns:a16="http://schemas.microsoft.com/office/drawing/2014/main" id="{ECA05571-BF60-4584-A9DD-01EC2D1B5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9785"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6" descr="Image result for clip art web browser">
            <a:extLst>
              <a:ext uri="{FF2B5EF4-FFF2-40B4-BE49-F238E27FC236}">
                <a16:creationId xmlns:a16="http://schemas.microsoft.com/office/drawing/2014/main" id="{56498277-7B47-476C-ABE3-D898A2987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173"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clip art  cloud server">
            <a:extLst>
              <a:ext uri="{FF2B5EF4-FFF2-40B4-BE49-F238E27FC236}">
                <a16:creationId xmlns:a16="http://schemas.microsoft.com/office/drawing/2014/main" id="{B7AD4744-20C4-4E7D-BE7C-902452FB8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122" y="432835"/>
            <a:ext cx="808301" cy="808301"/>
          </a:xfrm>
          <a:prstGeom prst="rect">
            <a:avLst/>
          </a:prstGeom>
          <a:noFill/>
          <a:extLst>
            <a:ext uri="{909E8E84-426E-40DD-AFC4-6F175D3DCCD1}">
              <a14:hiddenFill xmlns:a14="http://schemas.microsoft.com/office/drawing/2010/main">
                <a:solidFill>
                  <a:srgbClr val="FFFFFF"/>
                </a:solidFill>
              </a14:hiddenFill>
            </a:ext>
          </a:extLst>
        </p:spPr>
      </p:pic>
      <p:sp>
        <p:nvSpPr>
          <p:cNvPr id="247" name="TextBox 246">
            <a:extLst>
              <a:ext uri="{FF2B5EF4-FFF2-40B4-BE49-F238E27FC236}">
                <a16:creationId xmlns:a16="http://schemas.microsoft.com/office/drawing/2014/main" id="{7F4C9599-DB8A-4BD2-AC02-938B526D1748}"/>
              </a:ext>
            </a:extLst>
          </p:cNvPr>
          <p:cNvSpPr txBox="1"/>
          <p:nvPr/>
        </p:nvSpPr>
        <p:spPr>
          <a:xfrm>
            <a:off x="464595" y="700612"/>
            <a:ext cx="1111715" cy="646331"/>
          </a:xfrm>
          <a:prstGeom prst="rect">
            <a:avLst/>
          </a:prstGeom>
          <a:noFill/>
        </p:spPr>
        <p:txBody>
          <a:bodyPr wrap="none" rtlCol="0">
            <a:spAutoFit/>
          </a:bodyPr>
          <a:lstStyle/>
          <a:p>
            <a:pPr algn="ctr"/>
            <a:r>
              <a:rPr lang="en-US" dirty="0"/>
              <a:t>User </a:t>
            </a:r>
            <a:br>
              <a:rPr lang="en-US" dirty="0"/>
            </a:br>
            <a:r>
              <a:rPr lang="en-US" dirty="0"/>
              <a:t>Interfaces</a:t>
            </a:r>
          </a:p>
        </p:txBody>
      </p:sp>
      <p:sp>
        <p:nvSpPr>
          <p:cNvPr id="254" name="TextBox 253">
            <a:extLst>
              <a:ext uri="{FF2B5EF4-FFF2-40B4-BE49-F238E27FC236}">
                <a16:creationId xmlns:a16="http://schemas.microsoft.com/office/drawing/2014/main" id="{E13E21F7-45B3-434E-82E9-A7E30BC8EB1A}"/>
              </a:ext>
            </a:extLst>
          </p:cNvPr>
          <p:cNvSpPr txBox="1"/>
          <p:nvPr/>
        </p:nvSpPr>
        <p:spPr>
          <a:xfrm>
            <a:off x="9163144" y="368625"/>
            <a:ext cx="2018053" cy="646331"/>
          </a:xfrm>
          <a:prstGeom prst="rect">
            <a:avLst/>
          </a:prstGeom>
          <a:noFill/>
        </p:spPr>
        <p:txBody>
          <a:bodyPr wrap="none" rtlCol="0">
            <a:spAutoFit/>
          </a:bodyPr>
          <a:lstStyle/>
          <a:p>
            <a:pPr algn="ctr"/>
            <a:r>
              <a:rPr lang="en-US" dirty="0"/>
              <a:t>Scripts/</a:t>
            </a:r>
            <a:br>
              <a:rPr lang="en-US" dirty="0"/>
            </a:br>
            <a:r>
              <a:rPr lang="en-US" dirty="0"/>
              <a:t>Third Party Systems</a:t>
            </a:r>
          </a:p>
        </p:txBody>
      </p:sp>
      <p:cxnSp>
        <p:nvCxnSpPr>
          <p:cNvPr id="249" name="Straight Arrow Connector 248">
            <a:extLst>
              <a:ext uri="{FF2B5EF4-FFF2-40B4-BE49-F238E27FC236}">
                <a16:creationId xmlns:a16="http://schemas.microsoft.com/office/drawing/2014/main" id="{8B016D12-6840-448D-99A3-02FD7E54A7B5}"/>
              </a:ext>
            </a:extLst>
          </p:cNvPr>
          <p:cNvCxnSpPr>
            <a:cxnSpLocks/>
          </p:cNvCxnSpPr>
          <p:nvPr/>
        </p:nvCxnSpPr>
        <p:spPr>
          <a:xfrm>
            <a:off x="8425543" y="1346943"/>
            <a:ext cx="0" cy="63014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388BD882-B886-4788-AE58-F002D12E0C96}"/>
              </a:ext>
            </a:extLst>
          </p:cNvPr>
          <p:cNvCxnSpPr>
            <a:cxnSpLocks/>
          </p:cNvCxnSpPr>
          <p:nvPr/>
        </p:nvCxnSpPr>
        <p:spPr>
          <a:xfrm>
            <a:off x="8700502" y="1297813"/>
            <a:ext cx="0" cy="67927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39E8E9F1-41C4-4225-AC4B-73C31DCA3DDA}"/>
              </a:ext>
            </a:extLst>
          </p:cNvPr>
          <p:cNvCxnSpPr>
            <a:cxnSpLocks/>
          </p:cNvCxnSpPr>
          <p:nvPr/>
        </p:nvCxnSpPr>
        <p:spPr>
          <a:xfrm>
            <a:off x="8981494" y="1346943"/>
            <a:ext cx="0" cy="63014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60" name="TextBox 259">
            <a:extLst>
              <a:ext uri="{FF2B5EF4-FFF2-40B4-BE49-F238E27FC236}">
                <a16:creationId xmlns:a16="http://schemas.microsoft.com/office/drawing/2014/main" id="{D5E109F0-19EF-40FB-8CCB-7A507D05D23B}"/>
              </a:ext>
            </a:extLst>
          </p:cNvPr>
          <p:cNvSpPr txBox="1"/>
          <p:nvPr/>
        </p:nvSpPr>
        <p:spPr>
          <a:xfrm>
            <a:off x="9078527" y="1092478"/>
            <a:ext cx="1341714" cy="338554"/>
          </a:xfrm>
          <a:prstGeom prst="rect">
            <a:avLst/>
          </a:prstGeom>
          <a:noFill/>
        </p:spPr>
        <p:txBody>
          <a:bodyPr wrap="none" rtlCol="0">
            <a:spAutoFit/>
          </a:bodyPr>
          <a:lstStyle/>
          <a:p>
            <a:pPr algn="ctr"/>
            <a:r>
              <a:rPr lang="en-US" sz="1600" dirty="0"/>
              <a:t>API endpoints</a:t>
            </a:r>
          </a:p>
        </p:txBody>
      </p:sp>
      <p:cxnSp>
        <p:nvCxnSpPr>
          <p:cNvPr id="261" name="Straight Arrow Connector 260">
            <a:extLst>
              <a:ext uri="{FF2B5EF4-FFF2-40B4-BE49-F238E27FC236}">
                <a16:creationId xmlns:a16="http://schemas.microsoft.com/office/drawing/2014/main" id="{EFB80973-B316-4CE9-8527-624F7D3AA138}"/>
              </a:ext>
            </a:extLst>
          </p:cNvPr>
          <p:cNvCxnSpPr>
            <a:cxnSpLocks/>
          </p:cNvCxnSpPr>
          <p:nvPr/>
        </p:nvCxnSpPr>
        <p:spPr>
          <a:xfrm flipH="1">
            <a:off x="7109800" y="2107598"/>
            <a:ext cx="1315743" cy="1635067"/>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F5A56E55-321A-4FE1-B07F-556F276DD647}"/>
              </a:ext>
            </a:extLst>
          </p:cNvPr>
          <p:cNvCxnSpPr>
            <a:cxnSpLocks/>
          </p:cNvCxnSpPr>
          <p:nvPr/>
        </p:nvCxnSpPr>
        <p:spPr>
          <a:xfrm flipH="1">
            <a:off x="7834540" y="2107598"/>
            <a:ext cx="865962" cy="160443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11A33438-5FF6-4804-AD79-E37A42BDF6EB}"/>
              </a:ext>
            </a:extLst>
          </p:cNvPr>
          <p:cNvCxnSpPr>
            <a:cxnSpLocks/>
          </p:cNvCxnSpPr>
          <p:nvPr/>
        </p:nvCxnSpPr>
        <p:spPr>
          <a:xfrm flipH="1">
            <a:off x="8497590" y="2107598"/>
            <a:ext cx="483904" cy="160443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9B5A8F0E-F284-423B-92A1-4645A6175C96}"/>
              </a:ext>
            </a:extLst>
          </p:cNvPr>
          <p:cNvSpPr txBox="1"/>
          <p:nvPr/>
        </p:nvSpPr>
        <p:spPr>
          <a:xfrm>
            <a:off x="2568795" y="-13804"/>
            <a:ext cx="6885346" cy="523220"/>
          </a:xfrm>
          <a:prstGeom prst="rect">
            <a:avLst/>
          </a:prstGeom>
          <a:noFill/>
        </p:spPr>
        <p:txBody>
          <a:bodyPr wrap="none" rtlCol="0">
            <a:spAutoFit/>
          </a:bodyPr>
          <a:lstStyle/>
          <a:p>
            <a:r>
              <a:rPr lang="en-US" sz="2800" dirty="0"/>
              <a:t>Monolithic Application: Enterprise SOA Model</a:t>
            </a:r>
          </a:p>
        </p:txBody>
      </p:sp>
      <p:sp>
        <p:nvSpPr>
          <p:cNvPr id="2" name="Rectangle: Rounded Corners 1">
            <a:extLst>
              <a:ext uri="{FF2B5EF4-FFF2-40B4-BE49-F238E27FC236}">
                <a16:creationId xmlns:a16="http://schemas.microsoft.com/office/drawing/2014/main" id="{51B9EF54-BA6E-4EE8-A163-03BE36C1A231}"/>
              </a:ext>
            </a:extLst>
          </p:cNvPr>
          <p:cNvSpPr/>
          <p:nvPr/>
        </p:nvSpPr>
        <p:spPr>
          <a:xfrm>
            <a:off x="1034143" y="3791029"/>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B4E6B5AD-9B87-47C8-9A76-FF0252D99DD0}"/>
              </a:ext>
            </a:extLst>
          </p:cNvPr>
          <p:cNvSpPr/>
          <p:nvPr/>
        </p:nvSpPr>
        <p:spPr>
          <a:xfrm>
            <a:off x="1034143" y="4238994"/>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79CAD441-6A37-463A-82F8-25163862CE16}"/>
              </a:ext>
            </a:extLst>
          </p:cNvPr>
          <p:cNvSpPr/>
          <p:nvPr/>
        </p:nvSpPr>
        <p:spPr>
          <a:xfrm>
            <a:off x="1817915" y="3774631"/>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39E79D0D-7BFD-45E4-9657-D70E250778C5}"/>
              </a:ext>
            </a:extLst>
          </p:cNvPr>
          <p:cNvSpPr/>
          <p:nvPr/>
        </p:nvSpPr>
        <p:spPr>
          <a:xfrm>
            <a:off x="1817915" y="4222596"/>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4E9BB9D6-78AF-4BA1-B34E-C216BA426F1E}"/>
              </a:ext>
            </a:extLst>
          </p:cNvPr>
          <p:cNvSpPr/>
          <p:nvPr/>
        </p:nvSpPr>
        <p:spPr>
          <a:xfrm>
            <a:off x="2568795" y="3782553"/>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8FFCD205-9D07-4DD5-85A1-E1EA78770700}"/>
              </a:ext>
            </a:extLst>
          </p:cNvPr>
          <p:cNvSpPr/>
          <p:nvPr/>
        </p:nvSpPr>
        <p:spPr>
          <a:xfrm>
            <a:off x="2568795" y="4230518"/>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F410F1B1-96C6-4F36-8A7B-4DDB620AD5FB}"/>
              </a:ext>
            </a:extLst>
          </p:cNvPr>
          <p:cNvSpPr/>
          <p:nvPr/>
        </p:nvSpPr>
        <p:spPr>
          <a:xfrm>
            <a:off x="3382718" y="3769626"/>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64081F67-9E32-4D19-B073-7C72FC988186}"/>
              </a:ext>
            </a:extLst>
          </p:cNvPr>
          <p:cNvSpPr/>
          <p:nvPr/>
        </p:nvSpPr>
        <p:spPr>
          <a:xfrm>
            <a:off x="3382718" y="4217591"/>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05385B54-9B78-470E-BE02-CDEFF5F777D2}"/>
              </a:ext>
            </a:extLst>
          </p:cNvPr>
          <p:cNvSpPr/>
          <p:nvPr/>
        </p:nvSpPr>
        <p:spPr>
          <a:xfrm>
            <a:off x="4218227" y="3769626"/>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D8349B2B-E8B2-4B6B-892B-89963D42EDD6}"/>
              </a:ext>
            </a:extLst>
          </p:cNvPr>
          <p:cNvSpPr/>
          <p:nvPr/>
        </p:nvSpPr>
        <p:spPr>
          <a:xfrm>
            <a:off x="4218227" y="4217591"/>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123EB617-FE2F-48AC-82D9-2F06AB5D6303}"/>
              </a:ext>
            </a:extLst>
          </p:cNvPr>
          <p:cNvSpPr/>
          <p:nvPr/>
        </p:nvSpPr>
        <p:spPr>
          <a:xfrm>
            <a:off x="5040887" y="3769626"/>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0070AC5A-4AF5-41BE-8AF4-9EDFF83373F8}"/>
              </a:ext>
            </a:extLst>
          </p:cNvPr>
          <p:cNvSpPr/>
          <p:nvPr/>
        </p:nvSpPr>
        <p:spPr>
          <a:xfrm>
            <a:off x="5040887" y="4217591"/>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74A5708E-85BC-43B3-ABA5-5FABB6CB3055}"/>
              </a:ext>
            </a:extLst>
          </p:cNvPr>
          <p:cNvSpPr/>
          <p:nvPr/>
        </p:nvSpPr>
        <p:spPr>
          <a:xfrm>
            <a:off x="5772532" y="3782553"/>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B113C01F-B58D-4814-ABD1-71776A48C314}"/>
              </a:ext>
            </a:extLst>
          </p:cNvPr>
          <p:cNvSpPr/>
          <p:nvPr/>
        </p:nvSpPr>
        <p:spPr>
          <a:xfrm>
            <a:off x="5772532" y="4230518"/>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E0991DA8-E91D-418A-8B3A-1E725A4F47DA}"/>
              </a:ext>
            </a:extLst>
          </p:cNvPr>
          <p:cNvSpPr/>
          <p:nvPr/>
        </p:nvSpPr>
        <p:spPr>
          <a:xfrm>
            <a:off x="6586455" y="3782553"/>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63D64A8E-13CA-46ED-80CC-F3B29839FEE0}"/>
              </a:ext>
            </a:extLst>
          </p:cNvPr>
          <p:cNvSpPr/>
          <p:nvPr/>
        </p:nvSpPr>
        <p:spPr>
          <a:xfrm>
            <a:off x="6586455" y="4230518"/>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643C2FF3-880C-434A-AF16-126D3A5D6711}"/>
              </a:ext>
            </a:extLst>
          </p:cNvPr>
          <p:cNvSpPr/>
          <p:nvPr/>
        </p:nvSpPr>
        <p:spPr>
          <a:xfrm>
            <a:off x="7421964" y="3804289"/>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A47EF62D-9050-463B-AA00-25C3F767948D}"/>
              </a:ext>
            </a:extLst>
          </p:cNvPr>
          <p:cNvSpPr/>
          <p:nvPr/>
        </p:nvSpPr>
        <p:spPr>
          <a:xfrm>
            <a:off x="7421964" y="4252254"/>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97CC1BE6-C886-4D1B-8127-D0E9451693AC}"/>
              </a:ext>
            </a:extLst>
          </p:cNvPr>
          <p:cNvSpPr/>
          <p:nvPr/>
        </p:nvSpPr>
        <p:spPr>
          <a:xfrm>
            <a:off x="8162346" y="3761453"/>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2FA3AC3F-4D3E-408E-BA27-CE143F88EF2C}"/>
              </a:ext>
            </a:extLst>
          </p:cNvPr>
          <p:cNvSpPr/>
          <p:nvPr/>
        </p:nvSpPr>
        <p:spPr>
          <a:xfrm>
            <a:off x="8171019" y="4252254"/>
            <a:ext cx="653143" cy="3747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89430C7F-BE70-49AA-8F25-A8BB4CA3C88B}"/>
              </a:ext>
            </a:extLst>
          </p:cNvPr>
          <p:cNvSpPr txBox="1"/>
          <p:nvPr/>
        </p:nvSpPr>
        <p:spPr>
          <a:xfrm>
            <a:off x="8904716" y="3741784"/>
            <a:ext cx="1090362" cy="738664"/>
          </a:xfrm>
          <a:prstGeom prst="rect">
            <a:avLst/>
          </a:prstGeom>
          <a:noFill/>
        </p:spPr>
        <p:txBody>
          <a:bodyPr wrap="none" rtlCol="0">
            <a:spAutoFit/>
          </a:bodyPr>
          <a:lstStyle/>
          <a:p>
            <a:pPr algn="ctr"/>
            <a:r>
              <a:rPr lang="en-US" sz="1400" dirty="0"/>
              <a:t>Reusable</a:t>
            </a:r>
          </a:p>
          <a:p>
            <a:pPr algn="ctr"/>
            <a:r>
              <a:rPr lang="en-US" sz="1400" dirty="0"/>
              <a:t>Composable</a:t>
            </a:r>
            <a:br>
              <a:rPr lang="en-US" sz="1400" dirty="0"/>
            </a:br>
            <a:r>
              <a:rPr lang="en-US" sz="1400" dirty="0"/>
              <a:t>Services</a:t>
            </a:r>
          </a:p>
        </p:txBody>
      </p:sp>
      <p:sp>
        <p:nvSpPr>
          <p:cNvPr id="6" name="TextBox 5">
            <a:extLst>
              <a:ext uri="{FF2B5EF4-FFF2-40B4-BE49-F238E27FC236}">
                <a16:creationId xmlns:a16="http://schemas.microsoft.com/office/drawing/2014/main" id="{41065CDE-70A5-40E6-A7EB-4409833047C4}"/>
              </a:ext>
            </a:extLst>
          </p:cNvPr>
          <p:cNvSpPr txBox="1"/>
          <p:nvPr/>
        </p:nvSpPr>
        <p:spPr>
          <a:xfrm>
            <a:off x="8730101" y="3730687"/>
            <a:ext cx="362600" cy="769441"/>
          </a:xfrm>
          <a:prstGeom prst="rect">
            <a:avLst/>
          </a:prstGeom>
          <a:noFill/>
        </p:spPr>
        <p:txBody>
          <a:bodyPr wrap="none" rtlCol="0">
            <a:spAutoFit/>
          </a:bodyPr>
          <a:lstStyle/>
          <a:p>
            <a:r>
              <a:rPr lang="en-US" sz="4400" dirty="0"/>
              <a:t>}</a:t>
            </a:r>
          </a:p>
        </p:txBody>
      </p:sp>
    </p:spTree>
    <p:extLst>
      <p:ext uri="{BB962C8B-B14F-4D97-AF65-F5344CB8AC3E}">
        <p14:creationId xmlns:p14="http://schemas.microsoft.com/office/powerpoint/2010/main" val="3210410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D297-C7DF-438E-8F05-24BDEFE8660D}"/>
              </a:ext>
            </a:extLst>
          </p:cNvPr>
          <p:cNvSpPr>
            <a:spLocks noGrp="1"/>
          </p:cNvSpPr>
          <p:nvPr>
            <p:ph type="title"/>
          </p:nvPr>
        </p:nvSpPr>
        <p:spPr/>
        <p:txBody>
          <a:bodyPr/>
          <a:lstStyle/>
          <a:p>
            <a:r>
              <a:rPr lang="en-US" dirty="0"/>
              <a:t>Building a microservice</a:t>
            </a:r>
          </a:p>
        </p:txBody>
      </p:sp>
      <p:sp>
        <p:nvSpPr>
          <p:cNvPr id="3" name="Content Placeholder 2">
            <a:extLst>
              <a:ext uri="{FF2B5EF4-FFF2-40B4-BE49-F238E27FC236}">
                <a16:creationId xmlns:a16="http://schemas.microsoft.com/office/drawing/2014/main" id="{98348077-F75C-46F2-90C3-9C12734C206E}"/>
              </a:ext>
            </a:extLst>
          </p:cNvPr>
          <p:cNvSpPr>
            <a:spLocks noGrp="1"/>
          </p:cNvSpPr>
          <p:nvPr>
            <p:ph sz="quarter" idx="1"/>
          </p:nvPr>
        </p:nvSpPr>
        <p:spPr/>
        <p:txBody>
          <a:bodyPr>
            <a:normAutofit lnSpcReduction="10000"/>
          </a:bodyPr>
          <a:lstStyle/>
          <a:p>
            <a:r>
              <a:rPr lang="en-US" dirty="0"/>
              <a:t>Small unit of  functionality</a:t>
            </a:r>
          </a:p>
          <a:p>
            <a:r>
              <a:rPr lang="en-US" dirty="0"/>
              <a:t>Complete and independent  technology stack</a:t>
            </a:r>
          </a:p>
          <a:p>
            <a:r>
              <a:rPr lang="en-US" dirty="0"/>
              <a:t>Separate data stores</a:t>
            </a:r>
          </a:p>
          <a:p>
            <a:pPr lvl="1"/>
            <a:r>
              <a:rPr lang="en-US" dirty="0"/>
              <a:t>Synchronization  with other  services as needed through persistence layers</a:t>
            </a:r>
          </a:p>
          <a:p>
            <a:r>
              <a:rPr lang="en-US" dirty="0"/>
              <a:t>Invoked through API Request / Response</a:t>
            </a:r>
          </a:p>
          <a:p>
            <a:r>
              <a:rPr lang="en-US" dirty="0"/>
              <a:t>Usually: REST, HTTP, JSON</a:t>
            </a:r>
          </a:p>
          <a:p>
            <a:r>
              <a:rPr lang="en-US" dirty="0"/>
              <a:t>Self-contained components</a:t>
            </a:r>
          </a:p>
          <a:p>
            <a:r>
              <a:rPr lang="en-US" dirty="0"/>
              <a:t>Inner workings not exposed externally</a:t>
            </a:r>
          </a:p>
          <a:p>
            <a:pPr lvl="1"/>
            <a:r>
              <a:rPr lang="en-US" dirty="0"/>
              <a:t>Developers have free reign  to select tech components</a:t>
            </a:r>
          </a:p>
        </p:txBody>
      </p:sp>
    </p:spTree>
    <p:extLst>
      <p:ext uri="{BB962C8B-B14F-4D97-AF65-F5344CB8AC3E}">
        <p14:creationId xmlns:p14="http://schemas.microsoft.com/office/powerpoint/2010/main" val="961594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832AC-6C65-4986-875A-D6A89FEA005E}"/>
              </a:ext>
            </a:extLst>
          </p:cNvPr>
          <p:cNvSpPr>
            <a:spLocks noGrp="1"/>
          </p:cNvSpPr>
          <p:nvPr>
            <p:ph type="title"/>
          </p:nvPr>
        </p:nvSpPr>
        <p:spPr>
          <a:xfrm>
            <a:off x="701040" y="154813"/>
            <a:ext cx="10515600" cy="1325563"/>
          </a:xfrm>
        </p:spPr>
        <p:txBody>
          <a:bodyPr/>
          <a:lstStyle/>
          <a:p>
            <a:r>
              <a:rPr lang="en-US" dirty="0"/>
              <a:t>Microservice conceptual model</a:t>
            </a:r>
          </a:p>
        </p:txBody>
      </p:sp>
      <p:grpSp>
        <p:nvGrpSpPr>
          <p:cNvPr id="17" name="Group 16">
            <a:extLst>
              <a:ext uri="{FF2B5EF4-FFF2-40B4-BE49-F238E27FC236}">
                <a16:creationId xmlns:a16="http://schemas.microsoft.com/office/drawing/2014/main" id="{9871A397-8420-417D-BD78-B2B8EDCB8A8E}"/>
              </a:ext>
            </a:extLst>
          </p:cNvPr>
          <p:cNvGrpSpPr/>
          <p:nvPr/>
        </p:nvGrpSpPr>
        <p:grpSpPr>
          <a:xfrm>
            <a:off x="2362200" y="1569857"/>
            <a:ext cx="3733799" cy="5133330"/>
            <a:chOff x="2980944" y="1846082"/>
            <a:chExt cx="1674725" cy="4782930"/>
          </a:xfrm>
        </p:grpSpPr>
        <p:sp>
          <p:nvSpPr>
            <p:cNvPr id="15" name="Rectangle: Rounded Corners 14">
              <a:extLst>
                <a:ext uri="{FF2B5EF4-FFF2-40B4-BE49-F238E27FC236}">
                  <a16:creationId xmlns:a16="http://schemas.microsoft.com/office/drawing/2014/main" id="{7003EA26-F51C-4403-BAA8-02E57136F1D3}"/>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7080175-D4A8-457A-9158-DFEFD70056D2}"/>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3200" dirty="0"/>
                <a:t>Microservice</a:t>
              </a:r>
              <a:endParaRPr lang="en-US" dirty="0"/>
            </a:p>
          </p:txBody>
        </p:sp>
        <p:sp>
          <p:nvSpPr>
            <p:cNvPr id="4" name="Flowchart: Magnetic Disk 3">
              <a:extLst>
                <a:ext uri="{FF2B5EF4-FFF2-40B4-BE49-F238E27FC236}">
                  <a16:creationId xmlns:a16="http://schemas.microsoft.com/office/drawing/2014/main" id="{9BF84EA5-0459-4DEC-856B-32F2E954A15A}"/>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lumMod val="75000"/>
                    </a:schemeClr>
                  </a:solidFill>
                </a:rPr>
                <a:t>Data Store</a:t>
              </a:r>
            </a:p>
          </p:txBody>
        </p:sp>
        <p:sp>
          <p:nvSpPr>
            <p:cNvPr id="5" name="Arrow: Up-Down 4">
              <a:extLst>
                <a:ext uri="{FF2B5EF4-FFF2-40B4-BE49-F238E27FC236}">
                  <a16:creationId xmlns:a16="http://schemas.microsoft.com/office/drawing/2014/main" id="{F440C531-CC71-45A6-9B02-036395CA1271}"/>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Up 5">
              <a:extLst>
                <a:ext uri="{FF2B5EF4-FFF2-40B4-BE49-F238E27FC236}">
                  <a16:creationId xmlns:a16="http://schemas.microsoft.com/office/drawing/2014/main" id="{BBFF995D-52EC-41D5-B5B8-DD0775308556}"/>
                </a:ext>
              </a:extLst>
            </p:cNvPr>
            <p:cNvSpPr/>
            <p:nvPr/>
          </p:nvSpPr>
          <p:spPr>
            <a:xfrm>
              <a:off x="4151376" y="2125980"/>
              <a:ext cx="137160" cy="28346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764E7009-8B77-4F62-94C8-F30A0B6C6786}"/>
                </a:ext>
              </a:extLst>
            </p:cNvPr>
            <p:cNvSpPr/>
            <p:nvPr/>
          </p:nvSpPr>
          <p:spPr>
            <a:xfrm>
              <a:off x="3319272" y="2125980"/>
              <a:ext cx="128016" cy="2834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386465B-D27E-4547-B895-8493E3EA3BF7}"/>
                </a:ext>
              </a:extLst>
            </p:cNvPr>
            <p:cNvSpPr txBox="1"/>
            <p:nvPr/>
          </p:nvSpPr>
          <p:spPr>
            <a:xfrm>
              <a:off x="3090672" y="1846082"/>
              <a:ext cx="536861" cy="430152"/>
            </a:xfrm>
            <a:prstGeom prst="rect">
              <a:avLst/>
            </a:prstGeom>
            <a:noFill/>
          </p:spPr>
          <p:txBody>
            <a:bodyPr wrap="none" rtlCol="0">
              <a:spAutoFit/>
            </a:bodyPr>
            <a:lstStyle/>
            <a:p>
              <a:r>
                <a:rPr lang="en-US" sz="2400" dirty="0"/>
                <a:t>Request</a:t>
              </a:r>
              <a:endParaRPr lang="en-US" sz="1100" dirty="0"/>
            </a:p>
          </p:txBody>
        </p:sp>
        <p:sp>
          <p:nvSpPr>
            <p:cNvPr id="10" name="TextBox 9">
              <a:extLst>
                <a:ext uri="{FF2B5EF4-FFF2-40B4-BE49-F238E27FC236}">
                  <a16:creationId xmlns:a16="http://schemas.microsoft.com/office/drawing/2014/main" id="{594ABB7D-F08B-44A4-8F2B-28C03F9CB813}"/>
                </a:ext>
              </a:extLst>
            </p:cNvPr>
            <p:cNvSpPr txBox="1"/>
            <p:nvPr/>
          </p:nvSpPr>
          <p:spPr>
            <a:xfrm>
              <a:off x="3922776" y="1855729"/>
              <a:ext cx="530188" cy="372799"/>
            </a:xfrm>
            <a:prstGeom prst="rect">
              <a:avLst/>
            </a:prstGeom>
            <a:noFill/>
          </p:spPr>
          <p:txBody>
            <a:bodyPr wrap="none" rtlCol="0">
              <a:spAutoFit/>
            </a:bodyPr>
            <a:lstStyle/>
            <a:p>
              <a:r>
                <a:rPr lang="en-US" sz="2000" dirty="0"/>
                <a:t>Response</a:t>
              </a:r>
              <a:endParaRPr lang="en-US" sz="1100" dirty="0"/>
            </a:p>
          </p:txBody>
        </p:sp>
        <p:sp>
          <p:nvSpPr>
            <p:cNvPr id="11" name="TextBox 10">
              <a:extLst>
                <a:ext uri="{FF2B5EF4-FFF2-40B4-BE49-F238E27FC236}">
                  <a16:creationId xmlns:a16="http://schemas.microsoft.com/office/drawing/2014/main" id="{86838D7C-F08A-464E-A4CA-969F452561A0}"/>
                </a:ext>
              </a:extLst>
            </p:cNvPr>
            <p:cNvSpPr txBox="1"/>
            <p:nvPr/>
          </p:nvSpPr>
          <p:spPr>
            <a:xfrm>
              <a:off x="3345375" y="2260908"/>
              <a:ext cx="944489" cy="258091"/>
            </a:xfrm>
            <a:prstGeom prst="rect">
              <a:avLst/>
            </a:prstGeom>
            <a:noFill/>
          </p:spPr>
          <p:txBody>
            <a:bodyPr wrap="square" rtlCol="0">
              <a:spAutoFit/>
            </a:bodyPr>
            <a:lstStyle/>
            <a:p>
              <a:pPr algn="ctr"/>
              <a:r>
                <a:rPr lang="en-US" sz="1200" dirty="0"/>
                <a:t>REST / HTTPS</a:t>
              </a:r>
            </a:p>
          </p:txBody>
        </p:sp>
        <p:sp>
          <p:nvSpPr>
            <p:cNvPr id="12" name="Rectangle: Rounded Corners 11">
              <a:extLst>
                <a:ext uri="{FF2B5EF4-FFF2-40B4-BE49-F238E27FC236}">
                  <a16:creationId xmlns:a16="http://schemas.microsoft.com/office/drawing/2014/main" id="{A6B40E0C-0814-48F0-AA09-347765F7281F}"/>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lumMod val="85000"/>
                      <a:lumOff val="15000"/>
                    </a:schemeClr>
                  </a:solidFill>
                </a:rPr>
                <a:t>Web service</a:t>
              </a:r>
            </a:p>
          </p:txBody>
        </p:sp>
        <p:sp>
          <p:nvSpPr>
            <p:cNvPr id="13" name="Rectangle: Rounded Corners 12">
              <a:extLst>
                <a:ext uri="{FF2B5EF4-FFF2-40B4-BE49-F238E27FC236}">
                  <a16:creationId xmlns:a16="http://schemas.microsoft.com/office/drawing/2014/main" id="{EC4F449C-932C-4223-8B54-F6410AB7FF4D}"/>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85000"/>
                      <a:lumOff val="15000"/>
                    </a:schemeClr>
                  </a:solidFill>
                </a:rPr>
                <a:t>Run time libraries</a:t>
              </a:r>
            </a:p>
          </p:txBody>
        </p:sp>
        <p:sp>
          <p:nvSpPr>
            <p:cNvPr id="14" name="Rectangle: Rounded Corners 13">
              <a:extLst>
                <a:ext uri="{FF2B5EF4-FFF2-40B4-BE49-F238E27FC236}">
                  <a16:creationId xmlns:a16="http://schemas.microsoft.com/office/drawing/2014/main" id="{39FF2D45-D2E2-4AE1-B807-748D5947DB63}"/>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85000"/>
                      <a:lumOff val="15000"/>
                    </a:schemeClr>
                  </a:solidFill>
                </a:rPr>
                <a:t>Application </a:t>
              </a:r>
              <a:br>
                <a:rPr lang="en-US" sz="2400" dirty="0">
                  <a:solidFill>
                    <a:schemeClr val="tx1">
                      <a:lumMod val="85000"/>
                      <a:lumOff val="15000"/>
                    </a:schemeClr>
                  </a:solidFill>
                </a:rPr>
              </a:br>
              <a:r>
                <a:rPr lang="en-US" sz="2400" dirty="0">
                  <a:solidFill>
                    <a:schemeClr val="tx1">
                      <a:lumMod val="85000"/>
                      <a:lumOff val="15000"/>
                    </a:schemeClr>
                  </a:solidFill>
                </a:rPr>
                <a:t>software</a:t>
              </a:r>
            </a:p>
          </p:txBody>
        </p:sp>
        <p:sp>
          <p:nvSpPr>
            <p:cNvPr id="16" name="Rectangle: Rounded Corners 15">
              <a:extLst>
                <a:ext uri="{FF2B5EF4-FFF2-40B4-BE49-F238E27FC236}">
                  <a16:creationId xmlns:a16="http://schemas.microsoft.com/office/drawing/2014/main" id="{C7394812-1085-4AE1-ADF7-410DCA08E5AB}"/>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lumMod val="85000"/>
                      <a:lumOff val="15000"/>
                    </a:schemeClr>
                  </a:solidFill>
                </a:rPr>
                <a:t>Service components</a:t>
              </a:r>
            </a:p>
          </p:txBody>
        </p:sp>
      </p:grpSp>
    </p:spTree>
    <p:extLst>
      <p:ext uri="{BB962C8B-B14F-4D97-AF65-F5344CB8AC3E}">
        <p14:creationId xmlns:p14="http://schemas.microsoft.com/office/powerpoint/2010/main" val="3185182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D297-C7DF-438E-8F05-24BDEFE8660D}"/>
              </a:ext>
            </a:extLst>
          </p:cNvPr>
          <p:cNvSpPr>
            <a:spLocks noGrp="1"/>
          </p:cNvSpPr>
          <p:nvPr>
            <p:ph type="title"/>
          </p:nvPr>
        </p:nvSpPr>
        <p:spPr/>
        <p:txBody>
          <a:bodyPr/>
          <a:lstStyle/>
          <a:p>
            <a:r>
              <a:rPr lang="en-US" dirty="0"/>
              <a:t>Assembling an application</a:t>
            </a:r>
          </a:p>
        </p:txBody>
      </p:sp>
      <p:sp>
        <p:nvSpPr>
          <p:cNvPr id="3" name="Content Placeholder 2">
            <a:extLst>
              <a:ext uri="{FF2B5EF4-FFF2-40B4-BE49-F238E27FC236}">
                <a16:creationId xmlns:a16="http://schemas.microsoft.com/office/drawing/2014/main" id="{98348077-F75C-46F2-90C3-9C12734C206E}"/>
              </a:ext>
            </a:extLst>
          </p:cNvPr>
          <p:cNvSpPr>
            <a:spLocks noGrp="1"/>
          </p:cNvSpPr>
          <p:nvPr>
            <p:ph sz="quarter" idx="1"/>
          </p:nvPr>
        </p:nvSpPr>
        <p:spPr/>
        <p:txBody>
          <a:bodyPr>
            <a:normAutofit fontScale="92500" lnSpcReduction="20000"/>
          </a:bodyPr>
          <a:lstStyle/>
          <a:p>
            <a:r>
              <a:rPr lang="en-US" dirty="0"/>
              <a:t>Each microservice performs a small limited task</a:t>
            </a:r>
          </a:p>
          <a:p>
            <a:pPr lvl="1"/>
            <a:r>
              <a:rPr lang="en-US" dirty="0"/>
              <a:t>Not intended to be standalone applications</a:t>
            </a:r>
          </a:p>
          <a:p>
            <a:r>
              <a:rPr lang="en-US" dirty="0"/>
              <a:t>Surrounded by specialized infrastructure</a:t>
            </a:r>
          </a:p>
          <a:p>
            <a:r>
              <a:rPr lang="en-US" dirty="0"/>
              <a:t>Manage communications</a:t>
            </a:r>
          </a:p>
          <a:p>
            <a:r>
              <a:rPr lang="en-US" dirty="0"/>
              <a:t>Orchestrate services into complex chains of tasks</a:t>
            </a:r>
          </a:p>
          <a:p>
            <a:r>
              <a:rPr lang="en-US" dirty="0"/>
              <a:t>Load balancing</a:t>
            </a:r>
          </a:p>
          <a:p>
            <a:r>
              <a:rPr lang="en-US" dirty="0"/>
              <a:t>API Gateway</a:t>
            </a:r>
          </a:p>
          <a:p>
            <a:r>
              <a:rPr lang="en-US" dirty="0"/>
              <a:t>User Interface layer</a:t>
            </a:r>
          </a:p>
          <a:p>
            <a:r>
              <a:rPr lang="en-US" dirty="0"/>
              <a:t>Externally exposed APIs</a:t>
            </a:r>
          </a:p>
          <a:p>
            <a:r>
              <a:rPr lang="en-US" dirty="0"/>
              <a:t>Multiple instances of any microservice launched as needed</a:t>
            </a:r>
          </a:p>
        </p:txBody>
      </p:sp>
    </p:spTree>
    <p:extLst>
      <p:ext uri="{BB962C8B-B14F-4D97-AF65-F5344CB8AC3E}">
        <p14:creationId xmlns:p14="http://schemas.microsoft.com/office/powerpoint/2010/main" val="1689331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ctangle: Rounded Corners 10">
            <a:extLst>
              <a:ext uri="{FF2B5EF4-FFF2-40B4-BE49-F238E27FC236}">
                <a16:creationId xmlns:a16="http://schemas.microsoft.com/office/drawing/2014/main" id="{8CB7F16B-B7E8-4755-BADF-C97A4EE600EF}"/>
              </a:ext>
            </a:extLst>
          </p:cNvPr>
          <p:cNvSpPr/>
          <p:nvPr/>
        </p:nvSpPr>
        <p:spPr>
          <a:xfrm>
            <a:off x="143672" y="1487709"/>
            <a:ext cx="10372645" cy="5225143"/>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endParaRPr>
          </a:p>
        </p:txBody>
      </p:sp>
      <p:pic>
        <p:nvPicPr>
          <p:cNvPr id="1030" name="Picture 6" descr="Image result for clip art web browser">
            <a:extLst>
              <a:ext uri="{FF2B5EF4-FFF2-40B4-BE49-F238E27FC236}">
                <a16:creationId xmlns:a16="http://schemas.microsoft.com/office/drawing/2014/main" id="{2DC7E432-BB57-4848-8EA8-4653E05B7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397"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250" name="Picture 6" descr="Image result for clip art web browser">
            <a:extLst>
              <a:ext uri="{FF2B5EF4-FFF2-40B4-BE49-F238E27FC236}">
                <a16:creationId xmlns:a16="http://schemas.microsoft.com/office/drawing/2014/main" id="{ECA05571-BF60-4584-A9DD-01EC2D1B5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9785"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6" descr="Image result for clip art web browser">
            <a:extLst>
              <a:ext uri="{FF2B5EF4-FFF2-40B4-BE49-F238E27FC236}">
                <a16:creationId xmlns:a16="http://schemas.microsoft.com/office/drawing/2014/main" id="{56498277-7B47-476C-ABE3-D898A2987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173" y="548916"/>
            <a:ext cx="973398" cy="8525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clip art  cloud server">
            <a:extLst>
              <a:ext uri="{FF2B5EF4-FFF2-40B4-BE49-F238E27FC236}">
                <a16:creationId xmlns:a16="http://schemas.microsoft.com/office/drawing/2014/main" id="{B7AD4744-20C4-4E7D-BE7C-902452FB8F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122" y="432835"/>
            <a:ext cx="808301" cy="808301"/>
          </a:xfrm>
          <a:prstGeom prst="rect">
            <a:avLst/>
          </a:prstGeom>
          <a:noFill/>
          <a:extLst>
            <a:ext uri="{909E8E84-426E-40DD-AFC4-6F175D3DCCD1}">
              <a14:hiddenFill xmlns:a14="http://schemas.microsoft.com/office/drawing/2010/main">
                <a:solidFill>
                  <a:srgbClr val="FFFFFF"/>
                </a:solidFill>
              </a14:hiddenFill>
            </a:ext>
          </a:extLst>
        </p:spPr>
      </p:pic>
      <p:sp>
        <p:nvSpPr>
          <p:cNvPr id="247" name="TextBox 246">
            <a:extLst>
              <a:ext uri="{FF2B5EF4-FFF2-40B4-BE49-F238E27FC236}">
                <a16:creationId xmlns:a16="http://schemas.microsoft.com/office/drawing/2014/main" id="{7F4C9599-DB8A-4BD2-AC02-938B526D1748}"/>
              </a:ext>
            </a:extLst>
          </p:cNvPr>
          <p:cNvSpPr txBox="1"/>
          <p:nvPr/>
        </p:nvSpPr>
        <p:spPr>
          <a:xfrm>
            <a:off x="464595" y="700612"/>
            <a:ext cx="1111715" cy="646331"/>
          </a:xfrm>
          <a:prstGeom prst="rect">
            <a:avLst/>
          </a:prstGeom>
          <a:noFill/>
        </p:spPr>
        <p:txBody>
          <a:bodyPr wrap="none" rtlCol="0">
            <a:spAutoFit/>
          </a:bodyPr>
          <a:lstStyle/>
          <a:p>
            <a:pPr algn="ctr"/>
            <a:r>
              <a:rPr lang="en-US" dirty="0"/>
              <a:t>User </a:t>
            </a:r>
            <a:br>
              <a:rPr lang="en-US" dirty="0"/>
            </a:br>
            <a:r>
              <a:rPr lang="en-US" dirty="0"/>
              <a:t>Interfaces</a:t>
            </a:r>
          </a:p>
        </p:txBody>
      </p:sp>
      <p:sp>
        <p:nvSpPr>
          <p:cNvPr id="254" name="TextBox 253">
            <a:extLst>
              <a:ext uri="{FF2B5EF4-FFF2-40B4-BE49-F238E27FC236}">
                <a16:creationId xmlns:a16="http://schemas.microsoft.com/office/drawing/2014/main" id="{E13E21F7-45B3-434E-82E9-A7E30BC8EB1A}"/>
              </a:ext>
            </a:extLst>
          </p:cNvPr>
          <p:cNvSpPr txBox="1"/>
          <p:nvPr/>
        </p:nvSpPr>
        <p:spPr>
          <a:xfrm>
            <a:off x="9163144" y="368625"/>
            <a:ext cx="2018053" cy="646331"/>
          </a:xfrm>
          <a:prstGeom prst="rect">
            <a:avLst/>
          </a:prstGeom>
          <a:noFill/>
        </p:spPr>
        <p:txBody>
          <a:bodyPr wrap="none" rtlCol="0">
            <a:spAutoFit/>
          </a:bodyPr>
          <a:lstStyle/>
          <a:p>
            <a:pPr algn="ctr"/>
            <a:r>
              <a:rPr lang="en-US" dirty="0"/>
              <a:t>Scripts/</a:t>
            </a:r>
            <a:br>
              <a:rPr lang="en-US" dirty="0"/>
            </a:br>
            <a:r>
              <a:rPr lang="en-US" dirty="0"/>
              <a:t>Third Party Systems</a:t>
            </a:r>
          </a:p>
        </p:txBody>
      </p:sp>
      <p:cxnSp>
        <p:nvCxnSpPr>
          <p:cNvPr id="249" name="Straight Arrow Connector 248">
            <a:extLst>
              <a:ext uri="{FF2B5EF4-FFF2-40B4-BE49-F238E27FC236}">
                <a16:creationId xmlns:a16="http://schemas.microsoft.com/office/drawing/2014/main" id="{8B016D12-6840-448D-99A3-02FD7E54A7B5}"/>
              </a:ext>
            </a:extLst>
          </p:cNvPr>
          <p:cNvCxnSpPr>
            <a:cxnSpLocks/>
          </p:cNvCxnSpPr>
          <p:nvPr/>
        </p:nvCxnSpPr>
        <p:spPr>
          <a:xfrm>
            <a:off x="8425543" y="1346943"/>
            <a:ext cx="0" cy="63014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388BD882-B886-4788-AE58-F002D12E0C96}"/>
              </a:ext>
            </a:extLst>
          </p:cNvPr>
          <p:cNvCxnSpPr>
            <a:cxnSpLocks/>
          </p:cNvCxnSpPr>
          <p:nvPr/>
        </p:nvCxnSpPr>
        <p:spPr>
          <a:xfrm>
            <a:off x="8700502" y="1297813"/>
            <a:ext cx="0" cy="67927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39E8E9F1-41C4-4225-AC4B-73C31DCA3DDA}"/>
              </a:ext>
            </a:extLst>
          </p:cNvPr>
          <p:cNvCxnSpPr>
            <a:cxnSpLocks/>
          </p:cNvCxnSpPr>
          <p:nvPr/>
        </p:nvCxnSpPr>
        <p:spPr>
          <a:xfrm>
            <a:off x="8981494" y="1346943"/>
            <a:ext cx="0" cy="630146"/>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60" name="TextBox 259">
            <a:extLst>
              <a:ext uri="{FF2B5EF4-FFF2-40B4-BE49-F238E27FC236}">
                <a16:creationId xmlns:a16="http://schemas.microsoft.com/office/drawing/2014/main" id="{D5E109F0-19EF-40FB-8CCB-7A507D05D23B}"/>
              </a:ext>
            </a:extLst>
          </p:cNvPr>
          <p:cNvSpPr txBox="1"/>
          <p:nvPr/>
        </p:nvSpPr>
        <p:spPr>
          <a:xfrm>
            <a:off x="9078527" y="1092478"/>
            <a:ext cx="1341714" cy="338554"/>
          </a:xfrm>
          <a:prstGeom prst="rect">
            <a:avLst/>
          </a:prstGeom>
          <a:noFill/>
        </p:spPr>
        <p:txBody>
          <a:bodyPr wrap="none" rtlCol="0">
            <a:spAutoFit/>
          </a:bodyPr>
          <a:lstStyle/>
          <a:p>
            <a:pPr algn="ctr"/>
            <a:r>
              <a:rPr lang="en-US" sz="1600" dirty="0"/>
              <a:t>API endpoints</a:t>
            </a:r>
          </a:p>
        </p:txBody>
      </p:sp>
      <p:cxnSp>
        <p:nvCxnSpPr>
          <p:cNvPr id="263" name="Straight Arrow Connector 262">
            <a:extLst>
              <a:ext uri="{FF2B5EF4-FFF2-40B4-BE49-F238E27FC236}">
                <a16:creationId xmlns:a16="http://schemas.microsoft.com/office/drawing/2014/main" id="{11A33438-5FF6-4804-AD79-E37A42BDF6EB}"/>
              </a:ext>
            </a:extLst>
          </p:cNvPr>
          <p:cNvCxnSpPr>
            <a:cxnSpLocks/>
          </p:cNvCxnSpPr>
          <p:nvPr/>
        </p:nvCxnSpPr>
        <p:spPr>
          <a:xfrm>
            <a:off x="9023049" y="2115226"/>
            <a:ext cx="726335" cy="87499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68" name="TextBox 267">
            <a:extLst>
              <a:ext uri="{FF2B5EF4-FFF2-40B4-BE49-F238E27FC236}">
                <a16:creationId xmlns:a16="http://schemas.microsoft.com/office/drawing/2014/main" id="{9B5A8F0E-F284-423B-92A1-4645A6175C96}"/>
              </a:ext>
            </a:extLst>
          </p:cNvPr>
          <p:cNvSpPr txBox="1"/>
          <p:nvPr/>
        </p:nvSpPr>
        <p:spPr>
          <a:xfrm>
            <a:off x="2568795" y="-13804"/>
            <a:ext cx="4906408" cy="523220"/>
          </a:xfrm>
          <a:prstGeom prst="rect">
            <a:avLst/>
          </a:prstGeom>
          <a:noFill/>
        </p:spPr>
        <p:txBody>
          <a:bodyPr wrap="none" rtlCol="0">
            <a:spAutoFit/>
          </a:bodyPr>
          <a:lstStyle/>
          <a:p>
            <a:r>
              <a:rPr lang="en-US" sz="2800" dirty="0"/>
              <a:t>Microservices-based Application</a:t>
            </a:r>
          </a:p>
        </p:txBody>
      </p:sp>
      <p:sp>
        <p:nvSpPr>
          <p:cNvPr id="61" name="Rectangle 60">
            <a:extLst>
              <a:ext uri="{FF2B5EF4-FFF2-40B4-BE49-F238E27FC236}">
                <a16:creationId xmlns:a16="http://schemas.microsoft.com/office/drawing/2014/main" id="{10560E69-6CCD-4574-8646-59CD3055DBA3}"/>
              </a:ext>
            </a:extLst>
          </p:cNvPr>
          <p:cNvSpPr/>
          <p:nvPr/>
        </p:nvSpPr>
        <p:spPr>
          <a:xfrm>
            <a:off x="549214" y="5897880"/>
            <a:ext cx="9573194" cy="607942"/>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Persistence / System</a:t>
            </a:r>
            <a:br>
              <a:rPr lang="en-US" dirty="0"/>
            </a:br>
            <a:r>
              <a:rPr lang="en-US" dirty="0"/>
              <a:t> Layer</a:t>
            </a:r>
          </a:p>
        </p:txBody>
      </p:sp>
      <p:pic>
        <p:nvPicPr>
          <p:cNvPr id="62" name="Picture 61">
            <a:extLst>
              <a:ext uri="{FF2B5EF4-FFF2-40B4-BE49-F238E27FC236}">
                <a16:creationId xmlns:a16="http://schemas.microsoft.com/office/drawing/2014/main" id="{3FA63F41-2F5D-4B57-B7D4-6E296C999DB8}"/>
              </a:ext>
            </a:extLst>
          </p:cNvPr>
          <p:cNvPicPr>
            <a:picLocks noChangeAspect="1"/>
          </p:cNvPicPr>
          <p:nvPr/>
        </p:nvPicPr>
        <p:blipFill>
          <a:blip r:embed="rId4"/>
          <a:stretch>
            <a:fillRect/>
          </a:stretch>
        </p:blipFill>
        <p:spPr>
          <a:xfrm>
            <a:off x="728929" y="5927588"/>
            <a:ext cx="1355904" cy="551554"/>
          </a:xfrm>
          <a:prstGeom prst="rect">
            <a:avLst/>
          </a:prstGeom>
        </p:spPr>
      </p:pic>
      <p:pic>
        <p:nvPicPr>
          <p:cNvPr id="63" name="Picture 62">
            <a:extLst>
              <a:ext uri="{FF2B5EF4-FFF2-40B4-BE49-F238E27FC236}">
                <a16:creationId xmlns:a16="http://schemas.microsoft.com/office/drawing/2014/main" id="{21E4C2BC-1911-4131-A9AA-50E2EE19F9FA}"/>
              </a:ext>
            </a:extLst>
          </p:cNvPr>
          <p:cNvPicPr>
            <a:picLocks noChangeAspect="1"/>
          </p:cNvPicPr>
          <p:nvPr/>
        </p:nvPicPr>
        <p:blipFill>
          <a:blip r:embed="rId4"/>
          <a:stretch>
            <a:fillRect/>
          </a:stretch>
        </p:blipFill>
        <p:spPr>
          <a:xfrm>
            <a:off x="2264548" y="5954268"/>
            <a:ext cx="1355904" cy="551554"/>
          </a:xfrm>
          <a:prstGeom prst="rect">
            <a:avLst/>
          </a:prstGeom>
        </p:spPr>
      </p:pic>
      <p:pic>
        <p:nvPicPr>
          <p:cNvPr id="65" name="Picture 64">
            <a:extLst>
              <a:ext uri="{FF2B5EF4-FFF2-40B4-BE49-F238E27FC236}">
                <a16:creationId xmlns:a16="http://schemas.microsoft.com/office/drawing/2014/main" id="{07FDCFA8-47E3-4759-B4B5-EB99E114B022}"/>
              </a:ext>
            </a:extLst>
          </p:cNvPr>
          <p:cNvPicPr>
            <a:picLocks noChangeAspect="1"/>
          </p:cNvPicPr>
          <p:nvPr/>
        </p:nvPicPr>
        <p:blipFill>
          <a:blip r:embed="rId4"/>
          <a:stretch>
            <a:fillRect/>
          </a:stretch>
        </p:blipFill>
        <p:spPr>
          <a:xfrm>
            <a:off x="6411767" y="5954268"/>
            <a:ext cx="1355904" cy="551554"/>
          </a:xfrm>
          <a:prstGeom prst="rect">
            <a:avLst/>
          </a:prstGeom>
        </p:spPr>
      </p:pic>
      <p:pic>
        <p:nvPicPr>
          <p:cNvPr id="66" name="Picture 65">
            <a:extLst>
              <a:ext uri="{FF2B5EF4-FFF2-40B4-BE49-F238E27FC236}">
                <a16:creationId xmlns:a16="http://schemas.microsoft.com/office/drawing/2014/main" id="{94A4121A-1FF4-4EA9-9E68-C4EA28CBC797}"/>
              </a:ext>
            </a:extLst>
          </p:cNvPr>
          <p:cNvPicPr>
            <a:picLocks noChangeAspect="1"/>
          </p:cNvPicPr>
          <p:nvPr/>
        </p:nvPicPr>
        <p:blipFill>
          <a:blip r:embed="rId4"/>
          <a:stretch>
            <a:fillRect/>
          </a:stretch>
        </p:blipFill>
        <p:spPr>
          <a:xfrm>
            <a:off x="8098237" y="5954268"/>
            <a:ext cx="1355904" cy="551554"/>
          </a:xfrm>
          <a:prstGeom prst="rect">
            <a:avLst/>
          </a:prstGeom>
        </p:spPr>
      </p:pic>
      <p:sp>
        <p:nvSpPr>
          <p:cNvPr id="68" name="Rectangle: Rounded Corners 67">
            <a:extLst>
              <a:ext uri="{FF2B5EF4-FFF2-40B4-BE49-F238E27FC236}">
                <a16:creationId xmlns:a16="http://schemas.microsoft.com/office/drawing/2014/main" id="{2FA16245-C6BE-4A58-A916-FC115BE45EEB}"/>
              </a:ext>
            </a:extLst>
          </p:cNvPr>
          <p:cNvSpPr/>
          <p:nvPr/>
        </p:nvSpPr>
        <p:spPr>
          <a:xfrm>
            <a:off x="906884" y="1565036"/>
            <a:ext cx="6756404" cy="559355"/>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rPr>
              <a:t>Presentation Layer / UI Toolkit </a:t>
            </a:r>
          </a:p>
        </p:txBody>
      </p:sp>
      <p:sp>
        <p:nvSpPr>
          <p:cNvPr id="69" name="Rectangle 68">
            <a:extLst>
              <a:ext uri="{FF2B5EF4-FFF2-40B4-BE49-F238E27FC236}">
                <a16:creationId xmlns:a16="http://schemas.microsoft.com/office/drawing/2014/main" id="{7DBFFF25-9B9B-445B-848A-27DD2C482C55}"/>
              </a:ext>
            </a:extLst>
          </p:cNvPr>
          <p:cNvSpPr/>
          <p:nvPr/>
        </p:nvSpPr>
        <p:spPr>
          <a:xfrm>
            <a:off x="1880252" y="2222640"/>
            <a:ext cx="5679329" cy="649224"/>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API Gateway</a:t>
            </a:r>
          </a:p>
        </p:txBody>
      </p:sp>
      <p:grpSp>
        <p:nvGrpSpPr>
          <p:cNvPr id="70" name="Group 69">
            <a:extLst>
              <a:ext uri="{FF2B5EF4-FFF2-40B4-BE49-F238E27FC236}">
                <a16:creationId xmlns:a16="http://schemas.microsoft.com/office/drawing/2014/main" id="{58ECB4EC-E6BB-42F9-9DB8-25F258487133}"/>
              </a:ext>
            </a:extLst>
          </p:cNvPr>
          <p:cNvGrpSpPr/>
          <p:nvPr/>
        </p:nvGrpSpPr>
        <p:grpSpPr>
          <a:xfrm>
            <a:off x="459941" y="3817228"/>
            <a:ext cx="693769" cy="1874697"/>
            <a:chOff x="2980944" y="2486780"/>
            <a:chExt cx="1674725" cy="4142232"/>
          </a:xfrm>
        </p:grpSpPr>
        <p:sp>
          <p:nvSpPr>
            <p:cNvPr id="71" name="Rectangle: Rounded Corners 70">
              <a:extLst>
                <a:ext uri="{FF2B5EF4-FFF2-40B4-BE49-F238E27FC236}">
                  <a16:creationId xmlns:a16="http://schemas.microsoft.com/office/drawing/2014/main" id="{FCC4153D-552A-4B88-8F9E-654F4F41723B}"/>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72" name="Rectangle 71">
              <a:extLst>
                <a:ext uri="{FF2B5EF4-FFF2-40B4-BE49-F238E27FC236}">
                  <a16:creationId xmlns:a16="http://schemas.microsoft.com/office/drawing/2014/main" id="{BA192DE2-83AC-4A51-8949-6A312E41E1E1}"/>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73" name="Flowchart: Magnetic Disk 72">
              <a:extLst>
                <a:ext uri="{FF2B5EF4-FFF2-40B4-BE49-F238E27FC236}">
                  <a16:creationId xmlns:a16="http://schemas.microsoft.com/office/drawing/2014/main" id="{6DAED553-997F-4246-9A33-4697A3524C1C}"/>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74" name="Arrow: Up-Down 73">
              <a:extLst>
                <a:ext uri="{FF2B5EF4-FFF2-40B4-BE49-F238E27FC236}">
                  <a16:creationId xmlns:a16="http://schemas.microsoft.com/office/drawing/2014/main" id="{3FAB9809-0A22-4A1A-9E0B-A6BC5D37841D}"/>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75" name="Rectangle: Rounded Corners 74">
              <a:extLst>
                <a:ext uri="{FF2B5EF4-FFF2-40B4-BE49-F238E27FC236}">
                  <a16:creationId xmlns:a16="http://schemas.microsoft.com/office/drawing/2014/main" id="{3DC202BD-C0AD-4638-831E-2197B82A2980}"/>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76" name="Rectangle: Rounded Corners 75">
              <a:extLst>
                <a:ext uri="{FF2B5EF4-FFF2-40B4-BE49-F238E27FC236}">
                  <a16:creationId xmlns:a16="http://schemas.microsoft.com/office/drawing/2014/main" id="{BE0523F0-5F56-4B64-974C-3650504A3336}"/>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77" name="Rectangle: Rounded Corners 76">
              <a:extLst>
                <a:ext uri="{FF2B5EF4-FFF2-40B4-BE49-F238E27FC236}">
                  <a16:creationId xmlns:a16="http://schemas.microsoft.com/office/drawing/2014/main" id="{2461EA41-5DCC-4F64-8FCC-EB9802AF229A}"/>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78" name="Rectangle: Rounded Corners 77">
              <a:extLst>
                <a:ext uri="{FF2B5EF4-FFF2-40B4-BE49-F238E27FC236}">
                  <a16:creationId xmlns:a16="http://schemas.microsoft.com/office/drawing/2014/main" id="{940168C5-B0C0-4CF6-BEDF-7110B0ADD5FE}"/>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79" name="Group 78">
            <a:extLst>
              <a:ext uri="{FF2B5EF4-FFF2-40B4-BE49-F238E27FC236}">
                <a16:creationId xmlns:a16="http://schemas.microsoft.com/office/drawing/2014/main" id="{6C082DC8-A54A-47D3-9CE0-9B413F2D843F}"/>
              </a:ext>
            </a:extLst>
          </p:cNvPr>
          <p:cNvGrpSpPr/>
          <p:nvPr/>
        </p:nvGrpSpPr>
        <p:grpSpPr>
          <a:xfrm>
            <a:off x="1494060" y="3382452"/>
            <a:ext cx="693769" cy="1874697"/>
            <a:chOff x="2980944" y="2486780"/>
            <a:chExt cx="1674725" cy="4142232"/>
          </a:xfrm>
        </p:grpSpPr>
        <p:sp>
          <p:nvSpPr>
            <p:cNvPr id="80" name="Rectangle: Rounded Corners 79">
              <a:extLst>
                <a:ext uri="{FF2B5EF4-FFF2-40B4-BE49-F238E27FC236}">
                  <a16:creationId xmlns:a16="http://schemas.microsoft.com/office/drawing/2014/main" id="{C5C32F68-81FF-4656-A71C-33AA03D37048}"/>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81" name="Rectangle 80">
              <a:extLst>
                <a:ext uri="{FF2B5EF4-FFF2-40B4-BE49-F238E27FC236}">
                  <a16:creationId xmlns:a16="http://schemas.microsoft.com/office/drawing/2014/main" id="{4D99018F-17C9-4313-9EA6-3A4623FB2DE3}"/>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82" name="Flowchart: Magnetic Disk 81">
              <a:extLst>
                <a:ext uri="{FF2B5EF4-FFF2-40B4-BE49-F238E27FC236}">
                  <a16:creationId xmlns:a16="http://schemas.microsoft.com/office/drawing/2014/main" id="{0B4B9607-C9C3-4C1D-8BE5-621C97B21D24}"/>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83" name="Arrow: Up-Down 82">
              <a:extLst>
                <a:ext uri="{FF2B5EF4-FFF2-40B4-BE49-F238E27FC236}">
                  <a16:creationId xmlns:a16="http://schemas.microsoft.com/office/drawing/2014/main" id="{4F197E61-7B17-4FFB-A4D0-9A270191B882}"/>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84" name="Rectangle: Rounded Corners 83">
              <a:extLst>
                <a:ext uri="{FF2B5EF4-FFF2-40B4-BE49-F238E27FC236}">
                  <a16:creationId xmlns:a16="http://schemas.microsoft.com/office/drawing/2014/main" id="{F5F3C281-B13B-4500-B7B3-0B769AB15A43}"/>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85" name="Rectangle: Rounded Corners 84">
              <a:extLst>
                <a:ext uri="{FF2B5EF4-FFF2-40B4-BE49-F238E27FC236}">
                  <a16:creationId xmlns:a16="http://schemas.microsoft.com/office/drawing/2014/main" id="{F01AAD49-A0CA-4C45-A12B-52138983B83B}"/>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86" name="Rectangle: Rounded Corners 85">
              <a:extLst>
                <a:ext uri="{FF2B5EF4-FFF2-40B4-BE49-F238E27FC236}">
                  <a16:creationId xmlns:a16="http://schemas.microsoft.com/office/drawing/2014/main" id="{69C32841-36A7-4452-9CBD-23A6C6CA5AC0}"/>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87" name="Rectangle: Rounded Corners 86">
              <a:extLst>
                <a:ext uri="{FF2B5EF4-FFF2-40B4-BE49-F238E27FC236}">
                  <a16:creationId xmlns:a16="http://schemas.microsoft.com/office/drawing/2014/main" id="{82B52418-04E5-42E3-AA3A-EC0A08274C39}"/>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88" name="Group 87">
            <a:extLst>
              <a:ext uri="{FF2B5EF4-FFF2-40B4-BE49-F238E27FC236}">
                <a16:creationId xmlns:a16="http://schemas.microsoft.com/office/drawing/2014/main" id="{A6B64B18-907D-4A24-AEF7-2E803B8C4400}"/>
              </a:ext>
            </a:extLst>
          </p:cNvPr>
          <p:cNvGrpSpPr/>
          <p:nvPr/>
        </p:nvGrpSpPr>
        <p:grpSpPr>
          <a:xfrm>
            <a:off x="2498432" y="3828462"/>
            <a:ext cx="693769" cy="1874697"/>
            <a:chOff x="2980944" y="2486780"/>
            <a:chExt cx="1674725" cy="4142232"/>
          </a:xfrm>
        </p:grpSpPr>
        <p:sp>
          <p:nvSpPr>
            <p:cNvPr id="89" name="Rectangle: Rounded Corners 88">
              <a:extLst>
                <a:ext uri="{FF2B5EF4-FFF2-40B4-BE49-F238E27FC236}">
                  <a16:creationId xmlns:a16="http://schemas.microsoft.com/office/drawing/2014/main" id="{B40B7EA9-51AA-4BC2-8609-01B005F012BA}"/>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90" name="Rectangle 89">
              <a:extLst>
                <a:ext uri="{FF2B5EF4-FFF2-40B4-BE49-F238E27FC236}">
                  <a16:creationId xmlns:a16="http://schemas.microsoft.com/office/drawing/2014/main" id="{8F0EF0D1-3A4A-445B-86AD-97B5B3584650}"/>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91" name="Flowchart: Magnetic Disk 90">
              <a:extLst>
                <a:ext uri="{FF2B5EF4-FFF2-40B4-BE49-F238E27FC236}">
                  <a16:creationId xmlns:a16="http://schemas.microsoft.com/office/drawing/2014/main" id="{9AFDE42E-A264-416E-A24A-79E90E6497E9}"/>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92" name="Arrow: Up-Down 91">
              <a:extLst>
                <a:ext uri="{FF2B5EF4-FFF2-40B4-BE49-F238E27FC236}">
                  <a16:creationId xmlns:a16="http://schemas.microsoft.com/office/drawing/2014/main" id="{B848AEBC-3AE7-4CB5-9547-165ACE5A3054}"/>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93" name="Rectangle: Rounded Corners 92">
              <a:extLst>
                <a:ext uri="{FF2B5EF4-FFF2-40B4-BE49-F238E27FC236}">
                  <a16:creationId xmlns:a16="http://schemas.microsoft.com/office/drawing/2014/main" id="{B26FEFC6-2D27-47CE-A44B-118E69165063}"/>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94" name="Rectangle: Rounded Corners 93">
              <a:extLst>
                <a:ext uri="{FF2B5EF4-FFF2-40B4-BE49-F238E27FC236}">
                  <a16:creationId xmlns:a16="http://schemas.microsoft.com/office/drawing/2014/main" id="{A6BCA929-A975-444E-BC43-0684DF23A98A}"/>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95" name="Rectangle: Rounded Corners 94">
              <a:extLst>
                <a:ext uri="{FF2B5EF4-FFF2-40B4-BE49-F238E27FC236}">
                  <a16:creationId xmlns:a16="http://schemas.microsoft.com/office/drawing/2014/main" id="{42CBBE08-A87E-47ED-A021-DCACA29E882F}"/>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96" name="Rectangle: Rounded Corners 95">
              <a:extLst>
                <a:ext uri="{FF2B5EF4-FFF2-40B4-BE49-F238E27FC236}">
                  <a16:creationId xmlns:a16="http://schemas.microsoft.com/office/drawing/2014/main" id="{B56B4311-ADFA-4305-9EF0-CFD0C7CE7996}"/>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97" name="Group 96">
            <a:extLst>
              <a:ext uri="{FF2B5EF4-FFF2-40B4-BE49-F238E27FC236}">
                <a16:creationId xmlns:a16="http://schemas.microsoft.com/office/drawing/2014/main" id="{A6EC5C9B-06BA-4AEF-8EB4-6DC1A3076C4C}"/>
              </a:ext>
            </a:extLst>
          </p:cNvPr>
          <p:cNvGrpSpPr/>
          <p:nvPr/>
        </p:nvGrpSpPr>
        <p:grpSpPr>
          <a:xfrm>
            <a:off x="3651918" y="3432589"/>
            <a:ext cx="693769" cy="1874697"/>
            <a:chOff x="2980944" y="2486780"/>
            <a:chExt cx="1674725" cy="4142232"/>
          </a:xfrm>
        </p:grpSpPr>
        <p:sp>
          <p:nvSpPr>
            <p:cNvPr id="98" name="Rectangle: Rounded Corners 97">
              <a:extLst>
                <a:ext uri="{FF2B5EF4-FFF2-40B4-BE49-F238E27FC236}">
                  <a16:creationId xmlns:a16="http://schemas.microsoft.com/office/drawing/2014/main" id="{2AC803E5-F3DD-4888-B40C-7C05B8E8E1D1}"/>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99" name="Rectangle 98">
              <a:extLst>
                <a:ext uri="{FF2B5EF4-FFF2-40B4-BE49-F238E27FC236}">
                  <a16:creationId xmlns:a16="http://schemas.microsoft.com/office/drawing/2014/main" id="{49DBAF5C-9D2F-4B35-9569-B9FDB84205C6}"/>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00" name="Flowchart: Magnetic Disk 99">
              <a:extLst>
                <a:ext uri="{FF2B5EF4-FFF2-40B4-BE49-F238E27FC236}">
                  <a16:creationId xmlns:a16="http://schemas.microsoft.com/office/drawing/2014/main" id="{9497A9A2-2880-466B-A463-BCBEDA09E6DC}"/>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01" name="Arrow: Up-Down 100">
              <a:extLst>
                <a:ext uri="{FF2B5EF4-FFF2-40B4-BE49-F238E27FC236}">
                  <a16:creationId xmlns:a16="http://schemas.microsoft.com/office/drawing/2014/main" id="{DAE810A4-2475-4CF1-B56A-0461078B0622}"/>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02" name="Rectangle: Rounded Corners 101">
              <a:extLst>
                <a:ext uri="{FF2B5EF4-FFF2-40B4-BE49-F238E27FC236}">
                  <a16:creationId xmlns:a16="http://schemas.microsoft.com/office/drawing/2014/main" id="{2AB185A6-78B2-4E0B-8D86-B1C66A698E20}"/>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03" name="Rectangle: Rounded Corners 102">
              <a:extLst>
                <a:ext uri="{FF2B5EF4-FFF2-40B4-BE49-F238E27FC236}">
                  <a16:creationId xmlns:a16="http://schemas.microsoft.com/office/drawing/2014/main" id="{8904FAF1-F9CC-43AF-8028-E15A53748856}"/>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04" name="Rectangle: Rounded Corners 103">
              <a:extLst>
                <a:ext uri="{FF2B5EF4-FFF2-40B4-BE49-F238E27FC236}">
                  <a16:creationId xmlns:a16="http://schemas.microsoft.com/office/drawing/2014/main" id="{8E5DBC05-1285-467A-9566-AA3599B181B4}"/>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05" name="Rectangle: Rounded Corners 104">
              <a:extLst>
                <a:ext uri="{FF2B5EF4-FFF2-40B4-BE49-F238E27FC236}">
                  <a16:creationId xmlns:a16="http://schemas.microsoft.com/office/drawing/2014/main" id="{3058E67A-C0C3-4662-A61E-6E3DB0BDEA2F}"/>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106" name="Group 105">
            <a:extLst>
              <a:ext uri="{FF2B5EF4-FFF2-40B4-BE49-F238E27FC236}">
                <a16:creationId xmlns:a16="http://schemas.microsoft.com/office/drawing/2014/main" id="{BC3CD973-D319-4FBE-A208-06B89ED88234}"/>
              </a:ext>
            </a:extLst>
          </p:cNvPr>
          <p:cNvGrpSpPr/>
          <p:nvPr/>
        </p:nvGrpSpPr>
        <p:grpSpPr>
          <a:xfrm>
            <a:off x="4636226" y="3920205"/>
            <a:ext cx="693769" cy="1874697"/>
            <a:chOff x="2980944" y="2486780"/>
            <a:chExt cx="1674725" cy="4142232"/>
          </a:xfrm>
        </p:grpSpPr>
        <p:sp>
          <p:nvSpPr>
            <p:cNvPr id="107" name="Rectangle: Rounded Corners 106">
              <a:extLst>
                <a:ext uri="{FF2B5EF4-FFF2-40B4-BE49-F238E27FC236}">
                  <a16:creationId xmlns:a16="http://schemas.microsoft.com/office/drawing/2014/main" id="{F2EA5C6E-2722-4BBF-85ED-86308466E976}"/>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08" name="Rectangle 107">
              <a:extLst>
                <a:ext uri="{FF2B5EF4-FFF2-40B4-BE49-F238E27FC236}">
                  <a16:creationId xmlns:a16="http://schemas.microsoft.com/office/drawing/2014/main" id="{74D4BE15-2834-4C28-851D-916C46B6A055}"/>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09" name="Flowchart: Magnetic Disk 108">
              <a:extLst>
                <a:ext uri="{FF2B5EF4-FFF2-40B4-BE49-F238E27FC236}">
                  <a16:creationId xmlns:a16="http://schemas.microsoft.com/office/drawing/2014/main" id="{BCAD8BE8-54A1-46FB-8A84-F851F8BCDF75}"/>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10" name="Arrow: Up-Down 109">
              <a:extLst>
                <a:ext uri="{FF2B5EF4-FFF2-40B4-BE49-F238E27FC236}">
                  <a16:creationId xmlns:a16="http://schemas.microsoft.com/office/drawing/2014/main" id="{3EF0AC00-2120-4FE2-9F59-CDF1D70C377A}"/>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11" name="Rectangle: Rounded Corners 110">
              <a:extLst>
                <a:ext uri="{FF2B5EF4-FFF2-40B4-BE49-F238E27FC236}">
                  <a16:creationId xmlns:a16="http://schemas.microsoft.com/office/drawing/2014/main" id="{98EB454C-CF9D-43CE-B867-9CBB624AA5F0}"/>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12" name="Rectangle: Rounded Corners 111">
              <a:extLst>
                <a:ext uri="{FF2B5EF4-FFF2-40B4-BE49-F238E27FC236}">
                  <a16:creationId xmlns:a16="http://schemas.microsoft.com/office/drawing/2014/main" id="{6F943CCD-A807-468B-8397-0D89700444AD}"/>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13" name="Rectangle: Rounded Corners 112">
              <a:extLst>
                <a:ext uri="{FF2B5EF4-FFF2-40B4-BE49-F238E27FC236}">
                  <a16:creationId xmlns:a16="http://schemas.microsoft.com/office/drawing/2014/main" id="{7BFCEEEC-FA58-4ABB-ACA2-EE1399FF92A1}"/>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14" name="Rectangle: Rounded Corners 113">
              <a:extLst>
                <a:ext uri="{FF2B5EF4-FFF2-40B4-BE49-F238E27FC236}">
                  <a16:creationId xmlns:a16="http://schemas.microsoft.com/office/drawing/2014/main" id="{1C25BB42-7280-4E3A-B842-A8EF61CB686D}"/>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115" name="Group 114">
            <a:extLst>
              <a:ext uri="{FF2B5EF4-FFF2-40B4-BE49-F238E27FC236}">
                <a16:creationId xmlns:a16="http://schemas.microsoft.com/office/drawing/2014/main" id="{EBC46F02-D0A2-4E82-B3FC-0F57D69121D0}"/>
              </a:ext>
            </a:extLst>
          </p:cNvPr>
          <p:cNvGrpSpPr/>
          <p:nvPr/>
        </p:nvGrpSpPr>
        <p:grpSpPr>
          <a:xfrm>
            <a:off x="5606836" y="3382451"/>
            <a:ext cx="693769" cy="1874697"/>
            <a:chOff x="2980944" y="2486780"/>
            <a:chExt cx="1674725" cy="4142232"/>
          </a:xfrm>
        </p:grpSpPr>
        <p:sp>
          <p:nvSpPr>
            <p:cNvPr id="116" name="Rectangle: Rounded Corners 115">
              <a:extLst>
                <a:ext uri="{FF2B5EF4-FFF2-40B4-BE49-F238E27FC236}">
                  <a16:creationId xmlns:a16="http://schemas.microsoft.com/office/drawing/2014/main" id="{0D64DC7E-4636-4E17-9B95-4644404CDAFD}"/>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17" name="Rectangle 116">
              <a:extLst>
                <a:ext uri="{FF2B5EF4-FFF2-40B4-BE49-F238E27FC236}">
                  <a16:creationId xmlns:a16="http://schemas.microsoft.com/office/drawing/2014/main" id="{77B6E39A-E508-4850-B973-52C157903EF9}"/>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18" name="Flowchart: Magnetic Disk 117">
              <a:extLst>
                <a:ext uri="{FF2B5EF4-FFF2-40B4-BE49-F238E27FC236}">
                  <a16:creationId xmlns:a16="http://schemas.microsoft.com/office/drawing/2014/main" id="{01AD6BC7-0BCC-45BA-907A-159844958F69}"/>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19" name="Arrow: Up-Down 118">
              <a:extLst>
                <a:ext uri="{FF2B5EF4-FFF2-40B4-BE49-F238E27FC236}">
                  <a16:creationId xmlns:a16="http://schemas.microsoft.com/office/drawing/2014/main" id="{F3FFF7DB-E61B-4DFB-B52B-AA6B945896B0}"/>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20" name="Rectangle: Rounded Corners 119">
              <a:extLst>
                <a:ext uri="{FF2B5EF4-FFF2-40B4-BE49-F238E27FC236}">
                  <a16:creationId xmlns:a16="http://schemas.microsoft.com/office/drawing/2014/main" id="{6F294B00-0433-47F7-85DA-1FC26FF6BBED}"/>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21" name="Rectangle: Rounded Corners 120">
              <a:extLst>
                <a:ext uri="{FF2B5EF4-FFF2-40B4-BE49-F238E27FC236}">
                  <a16:creationId xmlns:a16="http://schemas.microsoft.com/office/drawing/2014/main" id="{72BCB78A-A871-4113-9A27-4DE669689836}"/>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22" name="Rectangle: Rounded Corners 121">
              <a:extLst>
                <a:ext uri="{FF2B5EF4-FFF2-40B4-BE49-F238E27FC236}">
                  <a16:creationId xmlns:a16="http://schemas.microsoft.com/office/drawing/2014/main" id="{1567683A-F8E8-455C-B06C-5A6DFCCFE9F3}"/>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23" name="Rectangle: Rounded Corners 122">
              <a:extLst>
                <a:ext uri="{FF2B5EF4-FFF2-40B4-BE49-F238E27FC236}">
                  <a16:creationId xmlns:a16="http://schemas.microsoft.com/office/drawing/2014/main" id="{24A5A878-7224-44A3-8523-69323C08D4CC}"/>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124" name="Group 123">
            <a:extLst>
              <a:ext uri="{FF2B5EF4-FFF2-40B4-BE49-F238E27FC236}">
                <a16:creationId xmlns:a16="http://schemas.microsoft.com/office/drawing/2014/main" id="{8EBAF3DD-AF2C-4271-A4BC-081004BC397A}"/>
              </a:ext>
            </a:extLst>
          </p:cNvPr>
          <p:cNvGrpSpPr/>
          <p:nvPr/>
        </p:nvGrpSpPr>
        <p:grpSpPr>
          <a:xfrm>
            <a:off x="6536866" y="3872238"/>
            <a:ext cx="693769" cy="1874697"/>
            <a:chOff x="2980944" y="2486780"/>
            <a:chExt cx="1674725" cy="4142232"/>
          </a:xfrm>
        </p:grpSpPr>
        <p:sp>
          <p:nvSpPr>
            <p:cNvPr id="125" name="Rectangle: Rounded Corners 124">
              <a:extLst>
                <a:ext uri="{FF2B5EF4-FFF2-40B4-BE49-F238E27FC236}">
                  <a16:creationId xmlns:a16="http://schemas.microsoft.com/office/drawing/2014/main" id="{43CA6DD3-05D2-45B0-BE7E-3508493BBCA6}"/>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26" name="Rectangle 125">
              <a:extLst>
                <a:ext uri="{FF2B5EF4-FFF2-40B4-BE49-F238E27FC236}">
                  <a16:creationId xmlns:a16="http://schemas.microsoft.com/office/drawing/2014/main" id="{E03439BB-2E5E-43FD-B7C2-0E447D98665A}"/>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27" name="Flowchart: Magnetic Disk 126">
              <a:extLst>
                <a:ext uri="{FF2B5EF4-FFF2-40B4-BE49-F238E27FC236}">
                  <a16:creationId xmlns:a16="http://schemas.microsoft.com/office/drawing/2014/main" id="{F187AA12-76AC-4BDB-A964-3BE20E0FF503}"/>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28" name="Arrow: Up-Down 127">
              <a:extLst>
                <a:ext uri="{FF2B5EF4-FFF2-40B4-BE49-F238E27FC236}">
                  <a16:creationId xmlns:a16="http://schemas.microsoft.com/office/drawing/2014/main" id="{3080DEDB-B8B3-4156-A32F-1507DB80EEDE}"/>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29" name="Rectangle: Rounded Corners 128">
              <a:extLst>
                <a:ext uri="{FF2B5EF4-FFF2-40B4-BE49-F238E27FC236}">
                  <a16:creationId xmlns:a16="http://schemas.microsoft.com/office/drawing/2014/main" id="{E445DB9A-B811-4A53-BAEB-B19FB765FCE5}"/>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30" name="Rectangle: Rounded Corners 129">
              <a:extLst>
                <a:ext uri="{FF2B5EF4-FFF2-40B4-BE49-F238E27FC236}">
                  <a16:creationId xmlns:a16="http://schemas.microsoft.com/office/drawing/2014/main" id="{D1A97DBB-155C-4A74-B11F-A389A2CDB7FE}"/>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31" name="Rectangle: Rounded Corners 130">
              <a:extLst>
                <a:ext uri="{FF2B5EF4-FFF2-40B4-BE49-F238E27FC236}">
                  <a16:creationId xmlns:a16="http://schemas.microsoft.com/office/drawing/2014/main" id="{2C6FBAF1-672D-4BE6-904D-AF1479BE6314}"/>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32" name="Rectangle: Rounded Corners 131">
              <a:extLst>
                <a:ext uri="{FF2B5EF4-FFF2-40B4-BE49-F238E27FC236}">
                  <a16:creationId xmlns:a16="http://schemas.microsoft.com/office/drawing/2014/main" id="{8924D86C-99C1-4E11-BF83-7A7300B0A00B}"/>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133" name="Group 132">
            <a:extLst>
              <a:ext uri="{FF2B5EF4-FFF2-40B4-BE49-F238E27FC236}">
                <a16:creationId xmlns:a16="http://schemas.microsoft.com/office/drawing/2014/main" id="{E20603E1-BF7B-489C-8084-4ADE3185A9C0}"/>
              </a:ext>
            </a:extLst>
          </p:cNvPr>
          <p:cNvGrpSpPr/>
          <p:nvPr/>
        </p:nvGrpSpPr>
        <p:grpSpPr>
          <a:xfrm>
            <a:off x="7403308" y="3776356"/>
            <a:ext cx="693769" cy="1874697"/>
            <a:chOff x="2980944" y="2486780"/>
            <a:chExt cx="1674725" cy="4142232"/>
          </a:xfrm>
        </p:grpSpPr>
        <p:sp>
          <p:nvSpPr>
            <p:cNvPr id="134" name="Rectangle: Rounded Corners 133">
              <a:extLst>
                <a:ext uri="{FF2B5EF4-FFF2-40B4-BE49-F238E27FC236}">
                  <a16:creationId xmlns:a16="http://schemas.microsoft.com/office/drawing/2014/main" id="{A9CA8B3B-0BDC-468E-A974-584E01B3450B}"/>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35" name="Rectangle 134">
              <a:extLst>
                <a:ext uri="{FF2B5EF4-FFF2-40B4-BE49-F238E27FC236}">
                  <a16:creationId xmlns:a16="http://schemas.microsoft.com/office/drawing/2014/main" id="{358E2F81-8ECC-4BE2-8946-C2B5F61B92F3}"/>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36" name="Flowchart: Magnetic Disk 135">
              <a:extLst>
                <a:ext uri="{FF2B5EF4-FFF2-40B4-BE49-F238E27FC236}">
                  <a16:creationId xmlns:a16="http://schemas.microsoft.com/office/drawing/2014/main" id="{6B8EA4F6-6608-4134-8336-738F444F5FE8}"/>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37" name="Arrow: Up-Down 136">
              <a:extLst>
                <a:ext uri="{FF2B5EF4-FFF2-40B4-BE49-F238E27FC236}">
                  <a16:creationId xmlns:a16="http://schemas.microsoft.com/office/drawing/2014/main" id="{A11CC25E-D926-4389-B948-43C4E99AB067}"/>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38" name="Rectangle: Rounded Corners 137">
              <a:extLst>
                <a:ext uri="{FF2B5EF4-FFF2-40B4-BE49-F238E27FC236}">
                  <a16:creationId xmlns:a16="http://schemas.microsoft.com/office/drawing/2014/main" id="{23622C8F-B6A0-4C9D-9778-BA9B53C23099}"/>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39" name="Rectangle: Rounded Corners 138">
              <a:extLst>
                <a:ext uri="{FF2B5EF4-FFF2-40B4-BE49-F238E27FC236}">
                  <a16:creationId xmlns:a16="http://schemas.microsoft.com/office/drawing/2014/main" id="{BD2C1128-E2EA-4899-8C4D-93182A57730B}"/>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40" name="Rectangle: Rounded Corners 139">
              <a:extLst>
                <a:ext uri="{FF2B5EF4-FFF2-40B4-BE49-F238E27FC236}">
                  <a16:creationId xmlns:a16="http://schemas.microsoft.com/office/drawing/2014/main" id="{ED05A5B5-F17B-4C6C-8BF4-ADB15C39FFD5}"/>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41" name="Rectangle: Rounded Corners 140">
              <a:extLst>
                <a:ext uri="{FF2B5EF4-FFF2-40B4-BE49-F238E27FC236}">
                  <a16:creationId xmlns:a16="http://schemas.microsoft.com/office/drawing/2014/main" id="{77445E8F-3308-458E-BED0-DB730F2C588F}"/>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172" name="Group 171">
            <a:extLst>
              <a:ext uri="{FF2B5EF4-FFF2-40B4-BE49-F238E27FC236}">
                <a16:creationId xmlns:a16="http://schemas.microsoft.com/office/drawing/2014/main" id="{2CC28529-E07A-45F5-8345-94E9B95F496A}"/>
              </a:ext>
            </a:extLst>
          </p:cNvPr>
          <p:cNvGrpSpPr/>
          <p:nvPr/>
        </p:nvGrpSpPr>
        <p:grpSpPr>
          <a:xfrm>
            <a:off x="8431576" y="3522536"/>
            <a:ext cx="693769" cy="1874697"/>
            <a:chOff x="2980944" y="2486780"/>
            <a:chExt cx="1674725" cy="4142232"/>
          </a:xfrm>
        </p:grpSpPr>
        <p:sp>
          <p:nvSpPr>
            <p:cNvPr id="173" name="Rectangle: Rounded Corners 172">
              <a:extLst>
                <a:ext uri="{FF2B5EF4-FFF2-40B4-BE49-F238E27FC236}">
                  <a16:creationId xmlns:a16="http://schemas.microsoft.com/office/drawing/2014/main" id="{C141B1F7-885D-409C-B9CB-AFD411EBB904}"/>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74" name="Rectangle 173">
              <a:extLst>
                <a:ext uri="{FF2B5EF4-FFF2-40B4-BE49-F238E27FC236}">
                  <a16:creationId xmlns:a16="http://schemas.microsoft.com/office/drawing/2014/main" id="{95E99490-5B17-4B76-B4DB-F655EB6786E5}"/>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75" name="Flowchart: Magnetic Disk 174">
              <a:extLst>
                <a:ext uri="{FF2B5EF4-FFF2-40B4-BE49-F238E27FC236}">
                  <a16:creationId xmlns:a16="http://schemas.microsoft.com/office/drawing/2014/main" id="{5334B352-1652-4E2B-9A76-56ED59CE6DD6}"/>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76" name="Arrow: Up-Down 175">
              <a:extLst>
                <a:ext uri="{FF2B5EF4-FFF2-40B4-BE49-F238E27FC236}">
                  <a16:creationId xmlns:a16="http://schemas.microsoft.com/office/drawing/2014/main" id="{FDDCED74-4454-4BB4-B243-C9D73E3892C4}"/>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77" name="Rectangle: Rounded Corners 176">
              <a:extLst>
                <a:ext uri="{FF2B5EF4-FFF2-40B4-BE49-F238E27FC236}">
                  <a16:creationId xmlns:a16="http://schemas.microsoft.com/office/drawing/2014/main" id="{14EFD445-668D-4CAE-8CED-A6C2ABB21F45}"/>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78" name="Rectangle: Rounded Corners 177">
              <a:extLst>
                <a:ext uri="{FF2B5EF4-FFF2-40B4-BE49-F238E27FC236}">
                  <a16:creationId xmlns:a16="http://schemas.microsoft.com/office/drawing/2014/main" id="{299AFAF1-B478-4424-ABEF-2203BCBBA020}"/>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79" name="Rectangle: Rounded Corners 178">
              <a:extLst>
                <a:ext uri="{FF2B5EF4-FFF2-40B4-BE49-F238E27FC236}">
                  <a16:creationId xmlns:a16="http://schemas.microsoft.com/office/drawing/2014/main" id="{6ADB4D20-AC79-485F-81DB-46C6C9440024}"/>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80" name="Rectangle: Rounded Corners 179">
              <a:extLst>
                <a:ext uri="{FF2B5EF4-FFF2-40B4-BE49-F238E27FC236}">
                  <a16:creationId xmlns:a16="http://schemas.microsoft.com/office/drawing/2014/main" id="{422E246A-FDAB-4375-8E7A-C2D9FCF22FFF}"/>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grpSp>
        <p:nvGrpSpPr>
          <p:cNvPr id="191" name="Group 190">
            <a:extLst>
              <a:ext uri="{FF2B5EF4-FFF2-40B4-BE49-F238E27FC236}">
                <a16:creationId xmlns:a16="http://schemas.microsoft.com/office/drawing/2014/main" id="{C4B139A5-4F33-4437-9E42-8A95BE3B81ED}"/>
              </a:ext>
            </a:extLst>
          </p:cNvPr>
          <p:cNvGrpSpPr/>
          <p:nvPr/>
        </p:nvGrpSpPr>
        <p:grpSpPr>
          <a:xfrm>
            <a:off x="9340882" y="3093519"/>
            <a:ext cx="693769" cy="1874697"/>
            <a:chOff x="2980944" y="2486780"/>
            <a:chExt cx="1674725" cy="4142232"/>
          </a:xfrm>
        </p:grpSpPr>
        <p:sp>
          <p:nvSpPr>
            <p:cNvPr id="192" name="Rectangle: Rounded Corners 191">
              <a:extLst>
                <a:ext uri="{FF2B5EF4-FFF2-40B4-BE49-F238E27FC236}">
                  <a16:creationId xmlns:a16="http://schemas.microsoft.com/office/drawing/2014/main" id="{A72067CE-ACDA-47D5-84BA-755D21CBC5A9}"/>
                </a:ext>
              </a:extLst>
            </p:cNvPr>
            <p:cNvSpPr/>
            <p:nvPr/>
          </p:nvSpPr>
          <p:spPr>
            <a:xfrm>
              <a:off x="2980944" y="2486780"/>
              <a:ext cx="1674725" cy="4142232"/>
            </a:xfrm>
            <a:prstGeom prst="roundRect">
              <a:avLst/>
            </a:prstGeom>
            <a:solidFill>
              <a:schemeClr val="bg1">
                <a:lumMod val="95000"/>
              </a:schemeClr>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93" name="Rectangle 192">
              <a:extLst>
                <a:ext uri="{FF2B5EF4-FFF2-40B4-BE49-F238E27FC236}">
                  <a16:creationId xmlns:a16="http://schemas.microsoft.com/office/drawing/2014/main" id="{D8494DE3-6F64-4FD9-84E1-8EE2C9EB3D62}"/>
                </a:ext>
              </a:extLst>
            </p:cNvPr>
            <p:cNvSpPr/>
            <p:nvPr/>
          </p:nvSpPr>
          <p:spPr>
            <a:xfrm>
              <a:off x="3127248" y="2644956"/>
              <a:ext cx="1380744" cy="2749227"/>
            </a:xfrm>
            <a:prstGeom prst="rect">
              <a:avLst/>
            </a:prstGeom>
            <a:ln w="31750"/>
          </p:spPr>
          <p:style>
            <a:lnRef idx="2">
              <a:schemeClr val="accent5"/>
            </a:lnRef>
            <a:fillRef idx="1">
              <a:schemeClr val="lt1"/>
            </a:fillRef>
            <a:effectRef idx="0">
              <a:schemeClr val="accent5"/>
            </a:effectRef>
            <a:fontRef idx="minor">
              <a:schemeClr val="dk1"/>
            </a:fontRef>
          </p:style>
          <p:txBody>
            <a:bodyPr rtlCol="0" anchor="ctr"/>
            <a:lstStyle/>
            <a:p>
              <a:pPr algn="ctr"/>
              <a:r>
                <a:rPr lang="en-US" sz="500" dirty="0"/>
                <a:t>Microservice</a:t>
              </a:r>
            </a:p>
          </p:txBody>
        </p:sp>
        <p:sp>
          <p:nvSpPr>
            <p:cNvPr id="194" name="Flowchart: Magnetic Disk 193">
              <a:extLst>
                <a:ext uri="{FF2B5EF4-FFF2-40B4-BE49-F238E27FC236}">
                  <a16:creationId xmlns:a16="http://schemas.microsoft.com/office/drawing/2014/main" id="{D4A7324A-AA1E-41A3-953E-732BECDA404F}"/>
                </a:ext>
              </a:extLst>
            </p:cNvPr>
            <p:cNvSpPr/>
            <p:nvPr/>
          </p:nvSpPr>
          <p:spPr>
            <a:xfrm>
              <a:off x="3090672" y="5760720"/>
              <a:ext cx="1417320" cy="512064"/>
            </a:xfrm>
            <a:prstGeom prst="flowChartMagneticDisk">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accent2">
                      <a:lumMod val="75000"/>
                    </a:schemeClr>
                  </a:solidFill>
                </a:rPr>
                <a:t>Data Store</a:t>
              </a:r>
            </a:p>
          </p:txBody>
        </p:sp>
        <p:sp>
          <p:nvSpPr>
            <p:cNvPr id="195" name="Arrow: Up-Down 194">
              <a:extLst>
                <a:ext uri="{FF2B5EF4-FFF2-40B4-BE49-F238E27FC236}">
                  <a16:creationId xmlns:a16="http://schemas.microsoft.com/office/drawing/2014/main" id="{C2958788-7181-41B2-93E1-1AF99E6374AF}"/>
                </a:ext>
              </a:extLst>
            </p:cNvPr>
            <p:cNvSpPr/>
            <p:nvPr/>
          </p:nvSpPr>
          <p:spPr>
            <a:xfrm>
              <a:off x="3712464" y="5385816"/>
              <a:ext cx="210312" cy="37490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p>
          </p:txBody>
        </p:sp>
        <p:sp>
          <p:nvSpPr>
            <p:cNvPr id="196" name="Rectangle: Rounded Corners 195">
              <a:extLst>
                <a:ext uri="{FF2B5EF4-FFF2-40B4-BE49-F238E27FC236}">
                  <a16:creationId xmlns:a16="http://schemas.microsoft.com/office/drawing/2014/main" id="{8972D3AE-A651-4A54-A376-9FAA100CF889}"/>
                </a:ext>
              </a:extLst>
            </p:cNvPr>
            <p:cNvSpPr/>
            <p:nvPr/>
          </p:nvSpPr>
          <p:spPr>
            <a:xfrm>
              <a:off x="3278123" y="2788532"/>
              <a:ext cx="1078992"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Web service</a:t>
              </a:r>
            </a:p>
          </p:txBody>
        </p:sp>
        <p:sp>
          <p:nvSpPr>
            <p:cNvPr id="197" name="Rectangle: Rounded Corners 196">
              <a:extLst>
                <a:ext uri="{FF2B5EF4-FFF2-40B4-BE49-F238E27FC236}">
                  <a16:creationId xmlns:a16="http://schemas.microsoft.com/office/drawing/2014/main" id="{D8CB9E11-15FE-473E-9EEE-6452DC56999A}"/>
                </a:ext>
              </a:extLst>
            </p:cNvPr>
            <p:cNvSpPr/>
            <p:nvPr/>
          </p:nvSpPr>
          <p:spPr>
            <a:xfrm>
              <a:off x="3193541" y="5072245"/>
              <a:ext cx="1248156" cy="26060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solidFill>
                    <a:schemeClr val="tx1">
                      <a:lumMod val="85000"/>
                      <a:lumOff val="15000"/>
                    </a:schemeClr>
                  </a:solidFill>
                </a:rPr>
                <a:t>Run time libraries</a:t>
              </a:r>
            </a:p>
          </p:txBody>
        </p:sp>
        <p:sp>
          <p:nvSpPr>
            <p:cNvPr id="198" name="Rectangle: Rounded Corners 197">
              <a:extLst>
                <a:ext uri="{FF2B5EF4-FFF2-40B4-BE49-F238E27FC236}">
                  <a16:creationId xmlns:a16="http://schemas.microsoft.com/office/drawing/2014/main" id="{3B399D70-C83F-4B27-80B6-C2665A4517A0}"/>
                </a:ext>
              </a:extLst>
            </p:cNvPr>
            <p:cNvSpPr/>
            <p:nvPr/>
          </p:nvSpPr>
          <p:spPr>
            <a:xfrm>
              <a:off x="3193541" y="4206240"/>
              <a:ext cx="1248156" cy="82753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lumMod val="85000"/>
                      <a:lumOff val="15000"/>
                    </a:schemeClr>
                  </a:solidFill>
                </a:rPr>
                <a:t>Application </a:t>
              </a:r>
              <a:br>
                <a:rPr lang="en-US" sz="500" dirty="0">
                  <a:solidFill>
                    <a:schemeClr val="tx1">
                      <a:lumMod val="85000"/>
                      <a:lumOff val="15000"/>
                    </a:schemeClr>
                  </a:solidFill>
                </a:rPr>
              </a:br>
              <a:r>
                <a:rPr lang="en-US" sz="500" dirty="0">
                  <a:solidFill>
                    <a:schemeClr val="tx1">
                      <a:lumMod val="85000"/>
                      <a:lumOff val="15000"/>
                    </a:schemeClr>
                  </a:solidFill>
                </a:rPr>
                <a:t>software</a:t>
              </a:r>
            </a:p>
          </p:txBody>
        </p:sp>
        <p:sp>
          <p:nvSpPr>
            <p:cNvPr id="199" name="Rectangle: Rounded Corners 198">
              <a:extLst>
                <a:ext uri="{FF2B5EF4-FFF2-40B4-BE49-F238E27FC236}">
                  <a16:creationId xmlns:a16="http://schemas.microsoft.com/office/drawing/2014/main" id="{959A54EC-0408-4451-8978-3752FCD215F6}"/>
                </a:ext>
              </a:extLst>
            </p:cNvPr>
            <p:cNvSpPr/>
            <p:nvPr/>
          </p:nvSpPr>
          <p:spPr>
            <a:xfrm>
              <a:off x="3278123" y="3166807"/>
              <a:ext cx="1078992" cy="33116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solidFill>
                    <a:schemeClr val="tx1">
                      <a:lumMod val="85000"/>
                      <a:lumOff val="15000"/>
                    </a:schemeClr>
                  </a:solidFill>
                </a:rPr>
                <a:t>Service components</a:t>
              </a:r>
            </a:p>
          </p:txBody>
        </p:sp>
      </p:grpSp>
      <p:sp>
        <p:nvSpPr>
          <p:cNvPr id="200" name="Arrow: Up-Down 199">
            <a:extLst>
              <a:ext uri="{FF2B5EF4-FFF2-40B4-BE49-F238E27FC236}">
                <a16:creationId xmlns:a16="http://schemas.microsoft.com/office/drawing/2014/main" id="{CC47B94F-5515-4CCC-89E1-4DB9AB4C9B8A}"/>
              </a:ext>
            </a:extLst>
          </p:cNvPr>
          <p:cNvSpPr/>
          <p:nvPr/>
        </p:nvSpPr>
        <p:spPr>
          <a:xfrm rot="3366623">
            <a:off x="1465749" y="2376673"/>
            <a:ext cx="84054" cy="178584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1" name="Straight Arrow Connector 260">
            <a:extLst>
              <a:ext uri="{FF2B5EF4-FFF2-40B4-BE49-F238E27FC236}">
                <a16:creationId xmlns:a16="http://schemas.microsoft.com/office/drawing/2014/main" id="{EFB80973-B316-4CE9-8527-624F7D3AA138}"/>
              </a:ext>
            </a:extLst>
          </p:cNvPr>
          <p:cNvCxnSpPr>
            <a:cxnSpLocks/>
          </p:cNvCxnSpPr>
          <p:nvPr/>
        </p:nvCxnSpPr>
        <p:spPr>
          <a:xfrm flipH="1">
            <a:off x="7431930" y="2107597"/>
            <a:ext cx="993614" cy="263621"/>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F5A56E55-321A-4FE1-B07F-556F276DD647}"/>
              </a:ext>
            </a:extLst>
          </p:cNvPr>
          <p:cNvCxnSpPr>
            <a:cxnSpLocks/>
          </p:cNvCxnSpPr>
          <p:nvPr/>
        </p:nvCxnSpPr>
        <p:spPr>
          <a:xfrm flipH="1">
            <a:off x="7395819" y="2107598"/>
            <a:ext cx="1304683" cy="432255"/>
          </a:xfrm>
          <a:prstGeom prst="straightConnector1">
            <a:avLst/>
          </a:prstGeom>
          <a:ln w="38100">
            <a:headEnd type="diamond"/>
            <a:tailEnd type="diamond"/>
          </a:ln>
        </p:spPr>
        <p:style>
          <a:lnRef idx="1">
            <a:schemeClr val="accent1"/>
          </a:lnRef>
          <a:fillRef idx="0">
            <a:schemeClr val="accent1"/>
          </a:fillRef>
          <a:effectRef idx="0">
            <a:schemeClr val="accent1"/>
          </a:effectRef>
          <a:fontRef idx="minor">
            <a:schemeClr val="tx1"/>
          </a:fontRef>
        </p:style>
      </p:cxnSp>
      <p:sp>
        <p:nvSpPr>
          <p:cNvPr id="204" name="Arrow: Up-Down 203">
            <a:extLst>
              <a:ext uri="{FF2B5EF4-FFF2-40B4-BE49-F238E27FC236}">
                <a16:creationId xmlns:a16="http://schemas.microsoft.com/office/drawing/2014/main" id="{6F783D8B-96C5-4242-AF0A-1973188BB30B}"/>
              </a:ext>
            </a:extLst>
          </p:cNvPr>
          <p:cNvSpPr/>
          <p:nvPr/>
        </p:nvSpPr>
        <p:spPr>
          <a:xfrm rot="3148984" flipH="1">
            <a:off x="2292309" y="2608422"/>
            <a:ext cx="85156" cy="86892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Arrow: Up-Down 205">
            <a:extLst>
              <a:ext uri="{FF2B5EF4-FFF2-40B4-BE49-F238E27FC236}">
                <a16:creationId xmlns:a16="http://schemas.microsoft.com/office/drawing/2014/main" id="{D643455F-A749-4391-930C-84A151F659A9}"/>
              </a:ext>
            </a:extLst>
          </p:cNvPr>
          <p:cNvSpPr/>
          <p:nvPr/>
        </p:nvSpPr>
        <p:spPr>
          <a:xfrm rot="845988" flipH="1">
            <a:off x="2865789" y="2725518"/>
            <a:ext cx="86551" cy="1060633"/>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Arrow: Up-Down 206">
            <a:extLst>
              <a:ext uri="{FF2B5EF4-FFF2-40B4-BE49-F238E27FC236}">
                <a16:creationId xmlns:a16="http://schemas.microsoft.com/office/drawing/2014/main" id="{C0034A83-0619-4231-A4C9-BB33BB62E485}"/>
              </a:ext>
            </a:extLst>
          </p:cNvPr>
          <p:cNvSpPr/>
          <p:nvPr/>
        </p:nvSpPr>
        <p:spPr>
          <a:xfrm rot="228302" flipH="1">
            <a:off x="3964412" y="2774104"/>
            <a:ext cx="48967" cy="57277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Arrow: Up-Down 209">
            <a:extLst>
              <a:ext uri="{FF2B5EF4-FFF2-40B4-BE49-F238E27FC236}">
                <a16:creationId xmlns:a16="http://schemas.microsoft.com/office/drawing/2014/main" id="{2916A637-66FA-4773-956E-F7D4FE723E22}"/>
              </a:ext>
            </a:extLst>
          </p:cNvPr>
          <p:cNvSpPr/>
          <p:nvPr/>
        </p:nvSpPr>
        <p:spPr>
          <a:xfrm flipH="1">
            <a:off x="4935105" y="2830998"/>
            <a:ext cx="45719" cy="101694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Arrow: Up-Down 210">
            <a:extLst>
              <a:ext uri="{FF2B5EF4-FFF2-40B4-BE49-F238E27FC236}">
                <a16:creationId xmlns:a16="http://schemas.microsoft.com/office/drawing/2014/main" id="{A6254FFF-69AE-485A-9CF9-6B35406ABBFC}"/>
              </a:ext>
            </a:extLst>
          </p:cNvPr>
          <p:cNvSpPr/>
          <p:nvPr/>
        </p:nvSpPr>
        <p:spPr>
          <a:xfrm rot="19811428" flipH="1">
            <a:off x="5565274" y="2762086"/>
            <a:ext cx="48967" cy="57277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Arrow: Up-Down 211">
            <a:extLst>
              <a:ext uri="{FF2B5EF4-FFF2-40B4-BE49-F238E27FC236}">
                <a16:creationId xmlns:a16="http://schemas.microsoft.com/office/drawing/2014/main" id="{DE464F12-DCF1-4D06-BF95-6DAD713ACBD9}"/>
              </a:ext>
            </a:extLst>
          </p:cNvPr>
          <p:cNvSpPr/>
          <p:nvPr/>
        </p:nvSpPr>
        <p:spPr>
          <a:xfrm rot="19345075">
            <a:off x="6422922" y="2625322"/>
            <a:ext cx="71346" cy="137049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Arrow: Up-Down 213">
            <a:extLst>
              <a:ext uri="{FF2B5EF4-FFF2-40B4-BE49-F238E27FC236}">
                <a16:creationId xmlns:a16="http://schemas.microsoft.com/office/drawing/2014/main" id="{C6AC4EF1-7041-4F79-9A29-7C7C89C20291}"/>
              </a:ext>
            </a:extLst>
          </p:cNvPr>
          <p:cNvSpPr/>
          <p:nvPr/>
        </p:nvSpPr>
        <p:spPr>
          <a:xfrm rot="18902946">
            <a:off x="7168405" y="2597951"/>
            <a:ext cx="71346" cy="137049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Arrow: Up-Down 218">
            <a:extLst>
              <a:ext uri="{FF2B5EF4-FFF2-40B4-BE49-F238E27FC236}">
                <a16:creationId xmlns:a16="http://schemas.microsoft.com/office/drawing/2014/main" id="{BE4D1372-0444-4970-A9F4-2750A1D9E1A0}"/>
              </a:ext>
            </a:extLst>
          </p:cNvPr>
          <p:cNvSpPr/>
          <p:nvPr/>
        </p:nvSpPr>
        <p:spPr>
          <a:xfrm rot="18014999" flipH="1">
            <a:off x="7687998" y="2333552"/>
            <a:ext cx="59800" cy="180843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Arrow: Up-Down 219">
            <a:extLst>
              <a:ext uri="{FF2B5EF4-FFF2-40B4-BE49-F238E27FC236}">
                <a16:creationId xmlns:a16="http://schemas.microsoft.com/office/drawing/2014/main" id="{A254B385-5DC7-4B75-B472-0F7A0A24BAFB}"/>
              </a:ext>
            </a:extLst>
          </p:cNvPr>
          <p:cNvSpPr/>
          <p:nvPr/>
        </p:nvSpPr>
        <p:spPr>
          <a:xfrm rot="16754549">
            <a:off x="8381016" y="1888312"/>
            <a:ext cx="46511" cy="203582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Arrow: Up-Down 225">
            <a:extLst>
              <a:ext uri="{FF2B5EF4-FFF2-40B4-BE49-F238E27FC236}">
                <a16:creationId xmlns:a16="http://schemas.microsoft.com/office/drawing/2014/main" id="{3E454114-4624-4B3E-A43D-3CDF5424F812}"/>
              </a:ext>
            </a:extLst>
          </p:cNvPr>
          <p:cNvSpPr/>
          <p:nvPr/>
        </p:nvSpPr>
        <p:spPr>
          <a:xfrm rot="18901024">
            <a:off x="4535235" y="3418225"/>
            <a:ext cx="53320" cy="55996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Arrow: Up-Down 243">
            <a:extLst>
              <a:ext uri="{FF2B5EF4-FFF2-40B4-BE49-F238E27FC236}">
                <a16:creationId xmlns:a16="http://schemas.microsoft.com/office/drawing/2014/main" id="{7EEB4D0C-9876-4DF5-8086-A207C6625A05}"/>
              </a:ext>
            </a:extLst>
          </p:cNvPr>
          <p:cNvSpPr/>
          <p:nvPr/>
        </p:nvSpPr>
        <p:spPr>
          <a:xfrm rot="3863324">
            <a:off x="5286432" y="3437949"/>
            <a:ext cx="53320" cy="559967"/>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9144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D297-C7DF-438E-8F05-24BDEFE8660D}"/>
              </a:ext>
            </a:extLst>
          </p:cNvPr>
          <p:cNvSpPr>
            <a:spLocks noGrp="1"/>
          </p:cNvSpPr>
          <p:nvPr>
            <p:ph type="title"/>
          </p:nvPr>
        </p:nvSpPr>
        <p:spPr/>
        <p:txBody>
          <a:bodyPr/>
          <a:lstStyle/>
          <a:p>
            <a:r>
              <a:rPr lang="en-US" dirty="0"/>
              <a:t>Beyond Virtual Machines to Containers</a:t>
            </a:r>
          </a:p>
        </p:txBody>
      </p:sp>
      <p:sp>
        <p:nvSpPr>
          <p:cNvPr id="3" name="Content Placeholder 2">
            <a:extLst>
              <a:ext uri="{FF2B5EF4-FFF2-40B4-BE49-F238E27FC236}">
                <a16:creationId xmlns:a16="http://schemas.microsoft.com/office/drawing/2014/main" id="{98348077-F75C-46F2-90C3-9C12734C206E}"/>
              </a:ext>
            </a:extLst>
          </p:cNvPr>
          <p:cNvSpPr>
            <a:spLocks noGrp="1"/>
          </p:cNvSpPr>
          <p:nvPr>
            <p:ph sz="quarter" idx="1"/>
          </p:nvPr>
        </p:nvSpPr>
        <p:spPr/>
        <p:txBody>
          <a:bodyPr>
            <a:normAutofit/>
          </a:bodyPr>
          <a:lstStyle/>
          <a:p>
            <a:r>
              <a:rPr lang="en-US" dirty="0"/>
              <a:t>Virtual machines are a common technology for optimizing use of computing hardware</a:t>
            </a:r>
          </a:p>
          <a:p>
            <a:r>
              <a:rPr lang="en-US" dirty="0"/>
              <a:t>Most applications use a small portion of computing and  storage capacity</a:t>
            </a:r>
          </a:p>
          <a:p>
            <a:r>
              <a:rPr lang="en-US" dirty="0"/>
              <a:t>VM managers enable multiple instances of operating environments to co-exist on each physical server</a:t>
            </a:r>
          </a:p>
          <a:p>
            <a:endParaRPr lang="en-US" dirty="0"/>
          </a:p>
        </p:txBody>
      </p:sp>
    </p:spTree>
    <p:extLst>
      <p:ext uri="{BB962C8B-B14F-4D97-AF65-F5344CB8AC3E}">
        <p14:creationId xmlns:p14="http://schemas.microsoft.com/office/powerpoint/2010/main" val="3303407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01EDF-FE95-4D5A-BF1E-611A8D26400F}"/>
              </a:ext>
            </a:extLst>
          </p:cNvPr>
          <p:cNvSpPr>
            <a:spLocks noGrp="1"/>
          </p:cNvSpPr>
          <p:nvPr>
            <p:ph type="title"/>
          </p:nvPr>
        </p:nvSpPr>
        <p:spPr/>
        <p:txBody>
          <a:bodyPr/>
          <a:lstStyle/>
          <a:p>
            <a:r>
              <a:rPr lang="en-US" dirty="0"/>
              <a:t>Virtual Machine Environment</a:t>
            </a:r>
          </a:p>
        </p:txBody>
      </p:sp>
      <p:sp>
        <p:nvSpPr>
          <p:cNvPr id="27" name="Content Placeholder 26">
            <a:extLst>
              <a:ext uri="{FF2B5EF4-FFF2-40B4-BE49-F238E27FC236}">
                <a16:creationId xmlns:a16="http://schemas.microsoft.com/office/drawing/2014/main" id="{656D12B7-3EB5-4FA1-8282-D4179F1E6F96}"/>
              </a:ext>
            </a:extLst>
          </p:cNvPr>
          <p:cNvSpPr>
            <a:spLocks noGrp="1"/>
          </p:cNvSpPr>
          <p:nvPr>
            <p:ph sz="half" idx="1"/>
          </p:nvPr>
        </p:nvSpPr>
        <p:spPr>
          <a:xfrm>
            <a:off x="838200" y="1825624"/>
            <a:ext cx="5181600" cy="5032375"/>
          </a:xfrm>
        </p:spPr>
        <p:txBody>
          <a:bodyPr/>
          <a:lstStyle/>
          <a:p>
            <a:endParaRPr lang="en-US" dirty="0"/>
          </a:p>
        </p:txBody>
      </p:sp>
      <p:sp>
        <p:nvSpPr>
          <p:cNvPr id="28" name="Content Placeholder 27">
            <a:extLst>
              <a:ext uri="{FF2B5EF4-FFF2-40B4-BE49-F238E27FC236}">
                <a16:creationId xmlns:a16="http://schemas.microsoft.com/office/drawing/2014/main" id="{5634D15A-9184-4DC1-9CE9-42713CC17C3A}"/>
              </a:ext>
            </a:extLst>
          </p:cNvPr>
          <p:cNvSpPr>
            <a:spLocks noGrp="1"/>
          </p:cNvSpPr>
          <p:nvPr>
            <p:ph sz="half" idx="2"/>
          </p:nvPr>
        </p:nvSpPr>
        <p:spPr/>
        <p:txBody>
          <a:bodyPr/>
          <a:lstStyle/>
          <a:p>
            <a:r>
              <a:rPr lang="en-US" dirty="0"/>
              <a:t>Multiple Virtual Machines can share a single physical server</a:t>
            </a:r>
          </a:p>
          <a:p>
            <a:r>
              <a:rPr lang="en-US" dirty="0"/>
              <a:t>VMs allocated via a Virtual Machine Monitor or Hypervisor</a:t>
            </a:r>
          </a:p>
          <a:p>
            <a:r>
              <a:rPr lang="en-US" dirty="0"/>
              <a:t>Each VM contains its own operating system, code libraries, applications, web services, and other components</a:t>
            </a:r>
          </a:p>
          <a:p>
            <a:r>
              <a:rPr lang="en-US" dirty="0"/>
              <a:t>Each VM independent: can host any OS, libraries, apps</a:t>
            </a:r>
          </a:p>
        </p:txBody>
      </p:sp>
      <p:sp>
        <p:nvSpPr>
          <p:cNvPr id="3" name="Rectangle: Rounded Corners 2">
            <a:extLst>
              <a:ext uri="{FF2B5EF4-FFF2-40B4-BE49-F238E27FC236}">
                <a16:creationId xmlns:a16="http://schemas.microsoft.com/office/drawing/2014/main" id="{A941734E-C1E9-4EA2-AAB6-57589844720B}"/>
              </a:ext>
            </a:extLst>
          </p:cNvPr>
          <p:cNvSpPr/>
          <p:nvPr/>
        </p:nvSpPr>
        <p:spPr>
          <a:xfrm>
            <a:off x="1152144" y="1837944"/>
            <a:ext cx="4023360" cy="4901184"/>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0F9F8938-A568-40FA-BA9E-8357C6A18E99}"/>
              </a:ext>
            </a:extLst>
          </p:cNvPr>
          <p:cNvSpPr/>
          <p:nvPr/>
        </p:nvSpPr>
        <p:spPr>
          <a:xfrm>
            <a:off x="1289304" y="5868732"/>
            <a:ext cx="3749040" cy="658368"/>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 Hardware</a:t>
            </a:r>
          </a:p>
        </p:txBody>
      </p:sp>
      <p:sp>
        <p:nvSpPr>
          <p:cNvPr id="6" name="Rectangle: Rounded Corners 5">
            <a:extLst>
              <a:ext uri="{FF2B5EF4-FFF2-40B4-BE49-F238E27FC236}">
                <a16:creationId xmlns:a16="http://schemas.microsoft.com/office/drawing/2014/main" id="{97AF16D9-DBDD-4409-8A49-6189643C8A4A}"/>
              </a:ext>
            </a:extLst>
          </p:cNvPr>
          <p:cNvSpPr/>
          <p:nvPr/>
        </p:nvSpPr>
        <p:spPr>
          <a:xfrm>
            <a:off x="1289304" y="5221224"/>
            <a:ext cx="3749040" cy="557308"/>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Host</a:t>
            </a:r>
            <a:r>
              <a:rPr lang="en-US" dirty="0"/>
              <a:t> </a:t>
            </a:r>
            <a:r>
              <a:rPr lang="en-US" dirty="0">
                <a:solidFill>
                  <a:schemeClr val="tx1"/>
                </a:solidFill>
              </a:rPr>
              <a:t>operating system</a:t>
            </a:r>
          </a:p>
        </p:txBody>
      </p:sp>
      <p:sp>
        <p:nvSpPr>
          <p:cNvPr id="7" name="Rectangle: Rounded Corners 6">
            <a:extLst>
              <a:ext uri="{FF2B5EF4-FFF2-40B4-BE49-F238E27FC236}">
                <a16:creationId xmlns:a16="http://schemas.microsoft.com/office/drawing/2014/main" id="{2A356E82-7F3C-4BDB-9B06-1E119C24F4D2}"/>
              </a:ext>
            </a:extLst>
          </p:cNvPr>
          <p:cNvSpPr/>
          <p:nvPr/>
        </p:nvSpPr>
        <p:spPr>
          <a:xfrm>
            <a:off x="1289304" y="4938712"/>
            <a:ext cx="3749040" cy="208884"/>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Virtual Machine Monitor</a:t>
            </a:r>
          </a:p>
        </p:txBody>
      </p:sp>
      <p:sp>
        <p:nvSpPr>
          <p:cNvPr id="14" name="Rectangle: Rounded Corners 13">
            <a:extLst>
              <a:ext uri="{FF2B5EF4-FFF2-40B4-BE49-F238E27FC236}">
                <a16:creationId xmlns:a16="http://schemas.microsoft.com/office/drawing/2014/main" id="{BCE2A062-BB0C-41C8-AEA9-94D67E909155}"/>
              </a:ext>
            </a:extLst>
          </p:cNvPr>
          <p:cNvSpPr/>
          <p:nvPr/>
        </p:nvSpPr>
        <p:spPr>
          <a:xfrm>
            <a:off x="1193292" y="2487168"/>
            <a:ext cx="804672" cy="240582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E089D69A-0215-4D8A-9C24-9005E5C02CB8}"/>
              </a:ext>
            </a:extLst>
          </p:cNvPr>
          <p:cNvSpPr/>
          <p:nvPr/>
        </p:nvSpPr>
        <p:spPr>
          <a:xfrm>
            <a:off x="1289304" y="4037076"/>
            <a:ext cx="612648" cy="773620"/>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Guest OS</a:t>
            </a:r>
          </a:p>
        </p:txBody>
      </p:sp>
      <p:sp>
        <p:nvSpPr>
          <p:cNvPr id="12" name="Rectangle: Rounded Corners 11">
            <a:extLst>
              <a:ext uri="{FF2B5EF4-FFF2-40B4-BE49-F238E27FC236}">
                <a16:creationId xmlns:a16="http://schemas.microsoft.com/office/drawing/2014/main" id="{9C598E53-D98D-4911-AEE6-B0225FB90B5B}"/>
              </a:ext>
            </a:extLst>
          </p:cNvPr>
          <p:cNvSpPr/>
          <p:nvPr/>
        </p:nvSpPr>
        <p:spPr>
          <a:xfrm>
            <a:off x="1289304" y="3535108"/>
            <a:ext cx="612648" cy="4791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Code libraries</a:t>
            </a:r>
          </a:p>
        </p:txBody>
      </p:sp>
      <p:sp>
        <p:nvSpPr>
          <p:cNvPr id="13" name="Rectangle: Rounded Corners 12">
            <a:extLst>
              <a:ext uri="{FF2B5EF4-FFF2-40B4-BE49-F238E27FC236}">
                <a16:creationId xmlns:a16="http://schemas.microsoft.com/office/drawing/2014/main" id="{D541B735-DE88-4299-90DE-48392F2C7A1E}"/>
              </a:ext>
            </a:extLst>
          </p:cNvPr>
          <p:cNvSpPr/>
          <p:nvPr/>
        </p:nvSpPr>
        <p:spPr>
          <a:xfrm>
            <a:off x="1289304" y="2617852"/>
            <a:ext cx="612648" cy="869632"/>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Apps</a:t>
            </a:r>
          </a:p>
        </p:txBody>
      </p:sp>
      <p:sp>
        <p:nvSpPr>
          <p:cNvPr id="15" name="Rectangle: Rounded Corners 14">
            <a:extLst>
              <a:ext uri="{FF2B5EF4-FFF2-40B4-BE49-F238E27FC236}">
                <a16:creationId xmlns:a16="http://schemas.microsoft.com/office/drawing/2014/main" id="{4F08B0F0-BB86-4FA1-96A9-B15E2464FCAC}"/>
              </a:ext>
            </a:extLst>
          </p:cNvPr>
          <p:cNvSpPr/>
          <p:nvPr/>
        </p:nvSpPr>
        <p:spPr>
          <a:xfrm>
            <a:off x="2208276" y="2487168"/>
            <a:ext cx="804672" cy="240582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4969A22-5BA9-4C13-BEF6-D19391AE0BBE}"/>
              </a:ext>
            </a:extLst>
          </p:cNvPr>
          <p:cNvSpPr/>
          <p:nvPr/>
        </p:nvSpPr>
        <p:spPr>
          <a:xfrm>
            <a:off x="2304288" y="4037076"/>
            <a:ext cx="612648" cy="77362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Guest OS</a:t>
            </a:r>
          </a:p>
        </p:txBody>
      </p:sp>
      <p:sp>
        <p:nvSpPr>
          <p:cNvPr id="17" name="Rectangle: Rounded Corners 16">
            <a:extLst>
              <a:ext uri="{FF2B5EF4-FFF2-40B4-BE49-F238E27FC236}">
                <a16:creationId xmlns:a16="http://schemas.microsoft.com/office/drawing/2014/main" id="{A45F8169-78F2-4E86-A1DC-980F403255FF}"/>
              </a:ext>
            </a:extLst>
          </p:cNvPr>
          <p:cNvSpPr/>
          <p:nvPr/>
        </p:nvSpPr>
        <p:spPr>
          <a:xfrm>
            <a:off x="2304288" y="3535108"/>
            <a:ext cx="612648" cy="4791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Code libraries</a:t>
            </a:r>
          </a:p>
        </p:txBody>
      </p:sp>
      <p:sp>
        <p:nvSpPr>
          <p:cNvPr id="18" name="Rectangle: Rounded Corners 17">
            <a:extLst>
              <a:ext uri="{FF2B5EF4-FFF2-40B4-BE49-F238E27FC236}">
                <a16:creationId xmlns:a16="http://schemas.microsoft.com/office/drawing/2014/main" id="{3A042681-AFAA-465D-B9F1-CF88E2B8A414}"/>
              </a:ext>
            </a:extLst>
          </p:cNvPr>
          <p:cNvSpPr/>
          <p:nvPr/>
        </p:nvSpPr>
        <p:spPr>
          <a:xfrm>
            <a:off x="2304288" y="2617852"/>
            <a:ext cx="612648" cy="869632"/>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Apps</a:t>
            </a:r>
          </a:p>
        </p:txBody>
      </p:sp>
      <p:sp>
        <p:nvSpPr>
          <p:cNvPr id="19" name="Rectangle: Rounded Corners 18">
            <a:extLst>
              <a:ext uri="{FF2B5EF4-FFF2-40B4-BE49-F238E27FC236}">
                <a16:creationId xmlns:a16="http://schemas.microsoft.com/office/drawing/2014/main" id="{D4DAA210-ACA9-4575-9CDB-A36111DE6EB0}"/>
              </a:ext>
            </a:extLst>
          </p:cNvPr>
          <p:cNvSpPr/>
          <p:nvPr/>
        </p:nvSpPr>
        <p:spPr>
          <a:xfrm>
            <a:off x="3214116" y="2487168"/>
            <a:ext cx="804672" cy="240582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1614C4E4-C5A7-4555-8BE8-AE61D3C610FB}"/>
              </a:ext>
            </a:extLst>
          </p:cNvPr>
          <p:cNvSpPr/>
          <p:nvPr/>
        </p:nvSpPr>
        <p:spPr>
          <a:xfrm>
            <a:off x="3310128" y="4037076"/>
            <a:ext cx="612648" cy="773620"/>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Guest OS</a:t>
            </a:r>
          </a:p>
        </p:txBody>
      </p:sp>
      <p:sp>
        <p:nvSpPr>
          <p:cNvPr id="21" name="Rectangle: Rounded Corners 20">
            <a:extLst>
              <a:ext uri="{FF2B5EF4-FFF2-40B4-BE49-F238E27FC236}">
                <a16:creationId xmlns:a16="http://schemas.microsoft.com/office/drawing/2014/main" id="{0D7B4DC8-0176-47E1-9BA2-26BC3C93FBDF}"/>
              </a:ext>
            </a:extLst>
          </p:cNvPr>
          <p:cNvSpPr/>
          <p:nvPr/>
        </p:nvSpPr>
        <p:spPr>
          <a:xfrm>
            <a:off x="3310128" y="3535108"/>
            <a:ext cx="612648" cy="4791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Code libraries</a:t>
            </a:r>
          </a:p>
        </p:txBody>
      </p:sp>
      <p:sp>
        <p:nvSpPr>
          <p:cNvPr id="22" name="Rectangle: Rounded Corners 21">
            <a:extLst>
              <a:ext uri="{FF2B5EF4-FFF2-40B4-BE49-F238E27FC236}">
                <a16:creationId xmlns:a16="http://schemas.microsoft.com/office/drawing/2014/main" id="{E881D3C1-AB8D-4593-848D-91304261CF07}"/>
              </a:ext>
            </a:extLst>
          </p:cNvPr>
          <p:cNvSpPr/>
          <p:nvPr/>
        </p:nvSpPr>
        <p:spPr>
          <a:xfrm>
            <a:off x="3310128" y="2617852"/>
            <a:ext cx="612648" cy="86963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Apps</a:t>
            </a:r>
          </a:p>
        </p:txBody>
      </p:sp>
      <p:sp>
        <p:nvSpPr>
          <p:cNvPr id="23" name="Rectangle: Rounded Corners 22">
            <a:extLst>
              <a:ext uri="{FF2B5EF4-FFF2-40B4-BE49-F238E27FC236}">
                <a16:creationId xmlns:a16="http://schemas.microsoft.com/office/drawing/2014/main" id="{0FDED894-6533-4571-B55B-1E891C8ED725}"/>
              </a:ext>
            </a:extLst>
          </p:cNvPr>
          <p:cNvSpPr/>
          <p:nvPr/>
        </p:nvSpPr>
        <p:spPr>
          <a:xfrm>
            <a:off x="4219956" y="2487168"/>
            <a:ext cx="804672" cy="240582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00A19171-B301-4957-975D-3384765E405E}"/>
              </a:ext>
            </a:extLst>
          </p:cNvPr>
          <p:cNvSpPr/>
          <p:nvPr/>
        </p:nvSpPr>
        <p:spPr>
          <a:xfrm>
            <a:off x="4315968" y="4037076"/>
            <a:ext cx="612648" cy="773620"/>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Guest OS</a:t>
            </a:r>
          </a:p>
        </p:txBody>
      </p:sp>
      <p:sp>
        <p:nvSpPr>
          <p:cNvPr id="25" name="Rectangle: Rounded Corners 24">
            <a:extLst>
              <a:ext uri="{FF2B5EF4-FFF2-40B4-BE49-F238E27FC236}">
                <a16:creationId xmlns:a16="http://schemas.microsoft.com/office/drawing/2014/main" id="{1AF8B8F9-6833-44AC-9F04-306BE503760A}"/>
              </a:ext>
            </a:extLst>
          </p:cNvPr>
          <p:cNvSpPr/>
          <p:nvPr/>
        </p:nvSpPr>
        <p:spPr>
          <a:xfrm>
            <a:off x="4315968" y="3535108"/>
            <a:ext cx="612648" cy="47910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Code libraries</a:t>
            </a:r>
          </a:p>
        </p:txBody>
      </p:sp>
      <p:sp>
        <p:nvSpPr>
          <p:cNvPr id="26" name="Rectangle: Rounded Corners 25">
            <a:extLst>
              <a:ext uri="{FF2B5EF4-FFF2-40B4-BE49-F238E27FC236}">
                <a16:creationId xmlns:a16="http://schemas.microsoft.com/office/drawing/2014/main" id="{E38AD804-D9DB-4E1A-B65A-90F87F4BA664}"/>
              </a:ext>
            </a:extLst>
          </p:cNvPr>
          <p:cNvSpPr/>
          <p:nvPr/>
        </p:nvSpPr>
        <p:spPr>
          <a:xfrm>
            <a:off x="4315968" y="2617852"/>
            <a:ext cx="612648" cy="869632"/>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Apps</a:t>
            </a:r>
          </a:p>
        </p:txBody>
      </p:sp>
      <p:sp>
        <p:nvSpPr>
          <p:cNvPr id="29" name="TextBox 28">
            <a:extLst>
              <a:ext uri="{FF2B5EF4-FFF2-40B4-BE49-F238E27FC236}">
                <a16:creationId xmlns:a16="http://schemas.microsoft.com/office/drawing/2014/main" id="{324D1E18-AB08-4EDD-9243-61B7E91054CF}"/>
              </a:ext>
            </a:extLst>
          </p:cNvPr>
          <p:cNvSpPr txBox="1"/>
          <p:nvPr/>
        </p:nvSpPr>
        <p:spPr>
          <a:xfrm>
            <a:off x="1289304" y="2240386"/>
            <a:ext cx="535724" cy="276999"/>
          </a:xfrm>
          <a:prstGeom prst="rect">
            <a:avLst/>
          </a:prstGeom>
          <a:noFill/>
        </p:spPr>
        <p:txBody>
          <a:bodyPr wrap="none" rtlCol="0">
            <a:spAutoFit/>
          </a:bodyPr>
          <a:lstStyle/>
          <a:p>
            <a:r>
              <a:rPr lang="en-US" sz="1200" b="1" dirty="0"/>
              <a:t>VM-1</a:t>
            </a:r>
          </a:p>
        </p:txBody>
      </p:sp>
      <p:sp>
        <p:nvSpPr>
          <p:cNvPr id="30" name="TextBox 29">
            <a:extLst>
              <a:ext uri="{FF2B5EF4-FFF2-40B4-BE49-F238E27FC236}">
                <a16:creationId xmlns:a16="http://schemas.microsoft.com/office/drawing/2014/main" id="{5B5DC00F-490E-49A8-999D-C52F982DD1B6}"/>
              </a:ext>
            </a:extLst>
          </p:cNvPr>
          <p:cNvSpPr txBox="1"/>
          <p:nvPr/>
        </p:nvSpPr>
        <p:spPr>
          <a:xfrm>
            <a:off x="2342750" y="2240386"/>
            <a:ext cx="535724" cy="276999"/>
          </a:xfrm>
          <a:prstGeom prst="rect">
            <a:avLst/>
          </a:prstGeom>
          <a:noFill/>
        </p:spPr>
        <p:txBody>
          <a:bodyPr wrap="none" rtlCol="0">
            <a:spAutoFit/>
          </a:bodyPr>
          <a:lstStyle/>
          <a:p>
            <a:r>
              <a:rPr lang="en-US" sz="1200" b="1" dirty="0"/>
              <a:t>VM-2</a:t>
            </a:r>
          </a:p>
        </p:txBody>
      </p:sp>
      <p:sp>
        <p:nvSpPr>
          <p:cNvPr id="31" name="TextBox 30">
            <a:extLst>
              <a:ext uri="{FF2B5EF4-FFF2-40B4-BE49-F238E27FC236}">
                <a16:creationId xmlns:a16="http://schemas.microsoft.com/office/drawing/2014/main" id="{5AA474C5-932F-47EF-9DF0-A99D8261424F}"/>
              </a:ext>
            </a:extLst>
          </p:cNvPr>
          <p:cNvSpPr txBox="1"/>
          <p:nvPr/>
        </p:nvSpPr>
        <p:spPr>
          <a:xfrm>
            <a:off x="3316148" y="2240386"/>
            <a:ext cx="535724" cy="276999"/>
          </a:xfrm>
          <a:prstGeom prst="rect">
            <a:avLst/>
          </a:prstGeom>
          <a:noFill/>
        </p:spPr>
        <p:txBody>
          <a:bodyPr wrap="none" rtlCol="0">
            <a:spAutoFit/>
          </a:bodyPr>
          <a:lstStyle/>
          <a:p>
            <a:r>
              <a:rPr lang="en-US" sz="1200" b="1" dirty="0"/>
              <a:t>VM-3</a:t>
            </a:r>
          </a:p>
        </p:txBody>
      </p:sp>
      <p:sp>
        <p:nvSpPr>
          <p:cNvPr id="32" name="TextBox 31">
            <a:extLst>
              <a:ext uri="{FF2B5EF4-FFF2-40B4-BE49-F238E27FC236}">
                <a16:creationId xmlns:a16="http://schemas.microsoft.com/office/drawing/2014/main" id="{64490638-0F18-4412-83A5-61A121C38C99}"/>
              </a:ext>
            </a:extLst>
          </p:cNvPr>
          <p:cNvSpPr txBox="1"/>
          <p:nvPr/>
        </p:nvSpPr>
        <p:spPr>
          <a:xfrm>
            <a:off x="4332732" y="2240386"/>
            <a:ext cx="535724" cy="276999"/>
          </a:xfrm>
          <a:prstGeom prst="rect">
            <a:avLst/>
          </a:prstGeom>
          <a:noFill/>
        </p:spPr>
        <p:txBody>
          <a:bodyPr wrap="none" rtlCol="0">
            <a:spAutoFit/>
          </a:bodyPr>
          <a:lstStyle/>
          <a:p>
            <a:r>
              <a:rPr lang="en-US" sz="1200" b="1" dirty="0"/>
              <a:t>VM-4</a:t>
            </a:r>
          </a:p>
        </p:txBody>
      </p:sp>
    </p:spTree>
    <p:extLst>
      <p:ext uri="{BB962C8B-B14F-4D97-AF65-F5344CB8AC3E}">
        <p14:creationId xmlns:p14="http://schemas.microsoft.com/office/powerpoint/2010/main" val="960543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01EDF-FE95-4D5A-BF1E-611A8D26400F}"/>
              </a:ext>
            </a:extLst>
          </p:cNvPr>
          <p:cNvSpPr>
            <a:spLocks noGrp="1"/>
          </p:cNvSpPr>
          <p:nvPr>
            <p:ph type="title"/>
          </p:nvPr>
        </p:nvSpPr>
        <p:spPr/>
        <p:txBody>
          <a:bodyPr/>
          <a:lstStyle/>
          <a:p>
            <a:r>
              <a:rPr lang="en-US" dirty="0"/>
              <a:t>Containers</a:t>
            </a:r>
          </a:p>
        </p:txBody>
      </p:sp>
      <p:sp>
        <p:nvSpPr>
          <p:cNvPr id="27" name="Content Placeholder 26">
            <a:extLst>
              <a:ext uri="{FF2B5EF4-FFF2-40B4-BE49-F238E27FC236}">
                <a16:creationId xmlns:a16="http://schemas.microsoft.com/office/drawing/2014/main" id="{656D12B7-3EB5-4FA1-8282-D4179F1E6F96}"/>
              </a:ext>
            </a:extLst>
          </p:cNvPr>
          <p:cNvSpPr>
            <a:spLocks noGrp="1"/>
          </p:cNvSpPr>
          <p:nvPr>
            <p:ph sz="half" idx="1"/>
          </p:nvPr>
        </p:nvSpPr>
        <p:spPr>
          <a:xfrm>
            <a:off x="838200" y="1825624"/>
            <a:ext cx="5181600" cy="5032375"/>
          </a:xfrm>
        </p:spPr>
        <p:txBody>
          <a:bodyPr>
            <a:normAutofit/>
          </a:bodyPr>
          <a:lstStyle/>
          <a:p>
            <a:endParaRPr lang="en-US" dirty="0"/>
          </a:p>
        </p:txBody>
      </p:sp>
      <p:sp>
        <p:nvSpPr>
          <p:cNvPr id="28" name="Content Placeholder 27">
            <a:extLst>
              <a:ext uri="{FF2B5EF4-FFF2-40B4-BE49-F238E27FC236}">
                <a16:creationId xmlns:a16="http://schemas.microsoft.com/office/drawing/2014/main" id="{5634D15A-9184-4DC1-9CE9-42713CC17C3A}"/>
              </a:ext>
            </a:extLst>
          </p:cNvPr>
          <p:cNvSpPr>
            <a:spLocks noGrp="1"/>
          </p:cNvSpPr>
          <p:nvPr>
            <p:ph sz="half" idx="2"/>
          </p:nvPr>
        </p:nvSpPr>
        <p:spPr/>
        <p:txBody>
          <a:bodyPr>
            <a:normAutofit fontScale="70000" lnSpcReduction="20000"/>
          </a:bodyPr>
          <a:lstStyle/>
          <a:p>
            <a:r>
              <a:rPr lang="en-US" dirty="0"/>
              <a:t>Server hardware provides OS Kernel to any container</a:t>
            </a:r>
          </a:p>
          <a:p>
            <a:r>
              <a:rPr lang="en-US" dirty="0"/>
              <a:t>Code libraries and binaries, memory, disk storage, and other resources residing on the server can be provisioned to any container</a:t>
            </a:r>
          </a:p>
          <a:p>
            <a:r>
              <a:rPr lang="en-US" dirty="0"/>
              <a:t>Containers can be rapidly deployed based on pre-defined configuration sets</a:t>
            </a:r>
          </a:p>
          <a:p>
            <a:r>
              <a:rPr lang="en-US" dirty="0"/>
              <a:t>Containers require fewer resources: do not run an entire copy of OS and </a:t>
            </a:r>
            <a:r>
              <a:rPr lang="en-US"/>
              <a:t>support services</a:t>
            </a:r>
            <a:endParaRPr lang="en-US" dirty="0"/>
          </a:p>
          <a:p>
            <a:r>
              <a:rPr lang="en-US" dirty="0"/>
              <a:t>Containers can differ or replicate</a:t>
            </a:r>
          </a:p>
          <a:p>
            <a:pPr lvl="1"/>
            <a:r>
              <a:rPr lang="en-US" dirty="0"/>
              <a:t>High demand microservices may require many instances</a:t>
            </a:r>
          </a:p>
          <a:p>
            <a:r>
              <a:rPr lang="en-US" dirty="0"/>
              <a:t>Containers share resources but are designed to be rigidly independent</a:t>
            </a:r>
          </a:p>
          <a:p>
            <a:r>
              <a:rPr lang="en-US" dirty="0"/>
              <a:t>Container engine ensures against resource collisions</a:t>
            </a:r>
          </a:p>
        </p:txBody>
      </p:sp>
      <p:sp>
        <p:nvSpPr>
          <p:cNvPr id="3" name="Rectangle: Rounded Corners 2">
            <a:extLst>
              <a:ext uri="{FF2B5EF4-FFF2-40B4-BE49-F238E27FC236}">
                <a16:creationId xmlns:a16="http://schemas.microsoft.com/office/drawing/2014/main" id="{A941734E-C1E9-4EA2-AAB6-57589844720B}"/>
              </a:ext>
            </a:extLst>
          </p:cNvPr>
          <p:cNvSpPr/>
          <p:nvPr/>
        </p:nvSpPr>
        <p:spPr>
          <a:xfrm>
            <a:off x="1152144" y="1837944"/>
            <a:ext cx="4023360" cy="4901184"/>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0F9F8938-A568-40FA-BA9E-8357C6A18E99}"/>
              </a:ext>
            </a:extLst>
          </p:cNvPr>
          <p:cNvSpPr/>
          <p:nvPr/>
        </p:nvSpPr>
        <p:spPr>
          <a:xfrm>
            <a:off x="1289304" y="5868732"/>
            <a:ext cx="3749040" cy="658368"/>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 Hardware</a:t>
            </a:r>
          </a:p>
        </p:txBody>
      </p:sp>
      <p:sp>
        <p:nvSpPr>
          <p:cNvPr id="6" name="Rectangle: Rounded Corners 5">
            <a:extLst>
              <a:ext uri="{FF2B5EF4-FFF2-40B4-BE49-F238E27FC236}">
                <a16:creationId xmlns:a16="http://schemas.microsoft.com/office/drawing/2014/main" id="{97AF16D9-DBDD-4409-8A49-6189643C8A4A}"/>
              </a:ext>
            </a:extLst>
          </p:cNvPr>
          <p:cNvSpPr/>
          <p:nvPr/>
        </p:nvSpPr>
        <p:spPr>
          <a:xfrm>
            <a:off x="1289304" y="5221224"/>
            <a:ext cx="3749040" cy="557308"/>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Host</a:t>
            </a:r>
            <a:r>
              <a:rPr lang="en-US" dirty="0"/>
              <a:t> </a:t>
            </a:r>
            <a:r>
              <a:rPr lang="en-US" dirty="0">
                <a:solidFill>
                  <a:schemeClr val="tx1"/>
                </a:solidFill>
              </a:rPr>
              <a:t>operating system</a:t>
            </a:r>
          </a:p>
        </p:txBody>
      </p:sp>
      <p:sp>
        <p:nvSpPr>
          <p:cNvPr id="7" name="Rectangle: Rounded Corners 6">
            <a:extLst>
              <a:ext uri="{FF2B5EF4-FFF2-40B4-BE49-F238E27FC236}">
                <a16:creationId xmlns:a16="http://schemas.microsoft.com/office/drawing/2014/main" id="{2A356E82-7F3C-4BDB-9B06-1E119C24F4D2}"/>
              </a:ext>
            </a:extLst>
          </p:cNvPr>
          <p:cNvSpPr/>
          <p:nvPr/>
        </p:nvSpPr>
        <p:spPr>
          <a:xfrm>
            <a:off x="1289304" y="4938712"/>
            <a:ext cx="3749040" cy="208884"/>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Container Engine (</a:t>
            </a:r>
            <a:r>
              <a:rPr lang="en-US" dirty="0" err="1">
                <a:solidFill>
                  <a:schemeClr val="tx1"/>
                </a:solidFill>
              </a:rPr>
              <a:t>eg</a:t>
            </a:r>
            <a:r>
              <a:rPr lang="en-US" dirty="0">
                <a:solidFill>
                  <a:schemeClr val="tx1"/>
                </a:solidFill>
              </a:rPr>
              <a:t>: Docker)</a:t>
            </a:r>
          </a:p>
        </p:txBody>
      </p:sp>
      <p:sp>
        <p:nvSpPr>
          <p:cNvPr id="14" name="Rectangle: Rounded Corners 13">
            <a:extLst>
              <a:ext uri="{FF2B5EF4-FFF2-40B4-BE49-F238E27FC236}">
                <a16:creationId xmlns:a16="http://schemas.microsoft.com/office/drawing/2014/main" id="{BCE2A062-BB0C-41C8-AEA9-94D67E909155}"/>
              </a:ext>
            </a:extLst>
          </p:cNvPr>
          <p:cNvSpPr/>
          <p:nvPr/>
        </p:nvSpPr>
        <p:spPr>
          <a:xfrm>
            <a:off x="1193292"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D541B735-DE88-4299-90DE-48392F2C7A1E}"/>
              </a:ext>
            </a:extLst>
          </p:cNvPr>
          <p:cNvSpPr/>
          <p:nvPr/>
        </p:nvSpPr>
        <p:spPr>
          <a:xfrm>
            <a:off x="1243584"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33" name="Rectangle: Rounded Corners 32">
            <a:extLst>
              <a:ext uri="{FF2B5EF4-FFF2-40B4-BE49-F238E27FC236}">
                <a16:creationId xmlns:a16="http://schemas.microsoft.com/office/drawing/2014/main" id="{5B90610F-7B75-4BFA-8804-F75EA3515A93}"/>
              </a:ext>
            </a:extLst>
          </p:cNvPr>
          <p:cNvSpPr/>
          <p:nvPr/>
        </p:nvSpPr>
        <p:spPr>
          <a:xfrm>
            <a:off x="1734312"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C1B89E2B-AF9D-4F37-AEBF-1FAE19EBB0CA}"/>
              </a:ext>
            </a:extLst>
          </p:cNvPr>
          <p:cNvSpPr/>
          <p:nvPr/>
        </p:nvSpPr>
        <p:spPr>
          <a:xfrm>
            <a:off x="1784604"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35" name="Rectangle: Rounded Corners 34">
            <a:extLst>
              <a:ext uri="{FF2B5EF4-FFF2-40B4-BE49-F238E27FC236}">
                <a16:creationId xmlns:a16="http://schemas.microsoft.com/office/drawing/2014/main" id="{FED27480-809C-4EBA-A46D-28FE44C6D6C5}"/>
              </a:ext>
            </a:extLst>
          </p:cNvPr>
          <p:cNvSpPr/>
          <p:nvPr/>
        </p:nvSpPr>
        <p:spPr>
          <a:xfrm>
            <a:off x="2286762"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Rounded Corners 35">
            <a:extLst>
              <a:ext uri="{FF2B5EF4-FFF2-40B4-BE49-F238E27FC236}">
                <a16:creationId xmlns:a16="http://schemas.microsoft.com/office/drawing/2014/main" id="{83B81F95-018D-47B7-A239-916EE4359B5F}"/>
              </a:ext>
            </a:extLst>
          </p:cNvPr>
          <p:cNvSpPr/>
          <p:nvPr/>
        </p:nvSpPr>
        <p:spPr>
          <a:xfrm>
            <a:off x="2337054"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37" name="Rectangle: Rounded Corners 36">
            <a:extLst>
              <a:ext uri="{FF2B5EF4-FFF2-40B4-BE49-F238E27FC236}">
                <a16:creationId xmlns:a16="http://schemas.microsoft.com/office/drawing/2014/main" id="{E0FB1B5A-EEEE-4125-BC80-C4487AE6A3A5}"/>
              </a:ext>
            </a:extLst>
          </p:cNvPr>
          <p:cNvSpPr/>
          <p:nvPr/>
        </p:nvSpPr>
        <p:spPr>
          <a:xfrm>
            <a:off x="2761869"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Rounded Corners 37">
            <a:extLst>
              <a:ext uri="{FF2B5EF4-FFF2-40B4-BE49-F238E27FC236}">
                <a16:creationId xmlns:a16="http://schemas.microsoft.com/office/drawing/2014/main" id="{059E4C0C-811E-4E03-BBE4-EEF395DDBEBC}"/>
              </a:ext>
            </a:extLst>
          </p:cNvPr>
          <p:cNvSpPr/>
          <p:nvPr/>
        </p:nvSpPr>
        <p:spPr>
          <a:xfrm>
            <a:off x="2812161"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39" name="Rectangle: Rounded Corners 38">
            <a:extLst>
              <a:ext uri="{FF2B5EF4-FFF2-40B4-BE49-F238E27FC236}">
                <a16:creationId xmlns:a16="http://schemas.microsoft.com/office/drawing/2014/main" id="{7974DC56-55F7-4220-9F3D-3ACA4C955C27}"/>
              </a:ext>
            </a:extLst>
          </p:cNvPr>
          <p:cNvSpPr/>
          <p:nvPr/>
        </p:nvSpPr>
        <p:spPr>
          <a:xfrm>
            <a:off x="3252597"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B5247D40-A863-4E86-B197-C8F132CFDE90}"/>
              </a:ext>
            </a:extLst>
          </p:cNvPr>
          <p:cNvSpPr/>
          <p:nvPr/>
        </p:nvSpPr>
        <p:spPr>
          <a:xfrm>
            <a:off x="3302889"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41" name="Rectangle: Rounded Corners 40">
            <a:extLst>
              <a:ext uri="{FF2B5EF4-FFF2-40B4-BE49-F238E27FC236}">
                <a16:creationId xmlns:a16="http://schemas.microsoft.com/office/drawing/2014/main" id="{09AF98D6-E5C6-48A6-BACB-5CA83EF9F246}"/>
              </a:ext>
            </a:extLst>
          </p:cNvPr>
          <p:cNvSpPr/>
          <p:nvPr/>
        </p:nvSpPr>
        <p:spPr>
          <a:xfrm>
            <a:off x="3685032"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Rounded Corners 41">
            <a:extLst>
              <a:ext uri="{FF2B5EF4-FFF2-40B4-BE49-F238E27FC236}">
                <a16:creationId xmlns:a16="http://schemas.microsoft.com/office/drawing/2014/main" id="{C97007DE-F3AB-4256-A7E4-DA73C6CB63F8}"/>
              </a:ext>
            </a:extLst>
          </p:cNvPr>
          <p:cNvSpPr/>
          <p:nvPr/>
        </p:nvSpPr>
        <p:spPr>
          <a:xfrm>
            <a:off x="3735324"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43" name="Rectangle: Rounded Corners 42">
            <a:extLst>
              <a:ext uri="{FF2B5EF4-FFF2-40B4-BE49-F238E27FC236}">
                <a16:creationId xmlns:a16="http://schemas.microsoft.com/office/drawing/2014/main" id="{A9C2B2F0-B6D2-435D-8AF1-0D9FDADC950B}"/>
              </a:ext>
            </a:extLst>
          </p:cNvPr>
          <p:cNvSpPr/>
          <p:nvPr/>
        </p:nvSpPr>
        <p:spPr>
          <a:xfrm>
            <a:off x="4217670"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Rounded Corners 43">
            <a:extLst>
              <a:ext uri="{FF2B5EF4-FFF2-40B4-BE49-F238E27FC236}">
                <a16:creationId xmlns:a16="http://schemas.microsoft.com/office/drawing/2014/main" id="{C82ECA91-C8AF-49CE-83E6-2FC6CE105AE7}"/>
              </a:ext>
            </a:extLst>
          </p:cNvPr>
          <p:cNvSpPr/>
          <p:nvPr/>
        </p:nvSpPr>
        <p:spPr>
          <a:xfrm>
            <a:off x="4267962"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45" name="Rectangle: Rounded Corners 44">
            <a:extLst>
              <a:ext uri="{FF2B5EF4-FFF2-40B4-BE49-F238E27FC236}">
                <a16:creationId xmlns:a16="http://schemas.microsoft.com/office/drawing/2014/main" id="{5B3BB9D6-7BC4-4B38-B903-70FF2ACAFF75}"/>
              </a:ext>
            </a:extLst>
          </p:cNvPr>
          <p:cNvSpPr/>
          <p:nvPr/>
        </p:nvSpPr>
        <p:spPr>
          <a:xfrm>
            <a:off x="4668774" y="2487168"/>
            <a:ext cx="388620" cy="2406444"/>
          </a:xfrm>
          <a:prstGeom prst="roundRect">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Rounded Corners 45">
            <a:extLst>
              <a:ext uri="{FF2B5EF4-FFF2-40B4-BE49-F238E27FC236}">
                <a16:creationId xmlns:a16="http://schemas.microsoft.com/office/drawing/2014/main" id="{E7804461-20E2-4F2A-A522-A6AFF9709708}"/>
              </a:ext>
            </a:extLst>
          </p:cNvPr>
          <p:cNvSpPr/>
          <p:nvPr/>
        </p:nvSpPr>
        <p:spPr>
          <a:xfrm>
            <a:off x="4719066" y="2562485"/>
            <a:ext cx="274320" cy="2053663"/>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microservice</a:t>
            </a:r>
          </a:p>
        </p:txBody>
      </p:sp>
      <p:sp>
        <p:nvSpPr>
          <p:cNvPr id="12" name="Rectangle: Rounded Corners 11">
            <a:extLst>
              <a:ext uri="{FF2B5EF4-FFF2-40B4-BE49-F238E27FC236}">
                <a16:creationId xmlns:a16="http://schemas.microsoft.com/office/drawing/2014/main" id="{9C598E53-D98D-4911-AEE6-B0225FB90B5B}"/>
              </a:ext>
            </a:extLst>
          </p:cNvPr>
          <p:cNvSpPr/>
          <p:nvPr/>
        </p:nvSpPr>
        <p:spPr>
          <a:xfrm>
            <a:off x="1295400" y="4654296"/>
            <a:ext cx="2718816" cy="201168"/>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Binaries / Libraries set A</a:t>
            </a:r>
          </a:p>
        </p:txBody>
      </p:sp>
      <p:sp>
        <p:nvSpPr>
          <p:cNvPr id="25" name="Rectangle: Rounded Corners 24">
            <a:extLst>
              <a:ext uri="{FF2B5EF4-FFF2-40B4-BE49-F238E27FC236}">
                <a16:creationId xmlns:a16="http://schemas.microsoft.com/office/drawing/2014/main" id="{1AF8B8F9-6833-44AC-9F04-306BE503760A}"/>
              </a:ext>
            </a:extLst>
          </p:cNvPr>
          <p:cNvSpPr/>
          <p:nvPr/>
        </p:nvSpPr>
        <p:spPr>
          <a:xfrm>
            <a:off x="4073652" y="4654296"/>
            <a:ext cx="909828" cy="23931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Bins / Libs B</a:t>
            </a:r>
          </a:p>
        </p:txBody>
      </p:sp>
    </p:spTree>
    <p:extLst>
      <p:ext uri="{BB962C8B-B14F-4D97-AF65-F5344CB8AC3E}">
        <p14:creationId xmlns:p14="http://schemas.microsoft.com/office/powerpoint/2010/main" val="3565267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20C6-9BBB-4283-9E01-1345F85C8B64}"/>
              </a:ext>
            </a:extLst>
          </p:cNvPr>
          <p:cNvSpPr>
            <a:spLocks noGrp="1"/>
          </p:cNvSpPr>
          <p:nvPr>
            <p:ph type="title"/>
          </p:nvPr>
        </p:nvSpPr>
        <p:spPr/>
        <p:txBody>
          <a:bodyPr/>
          <a:lstStyle/>
          <a:p>
            <a:r>
              <a:rPr lang="en-US" dirty="0"/>
              <a:t>API Gateway</a:t>
            </a:r>
          </a:p>
        </p:txBody>
      </p:sp>
      <p:sp>
        <p:nvSpPr>
          <p:cNvPr id="3" name="Content Placeholder 2">
            <a:extLst>
              <a:ext uri="{FF2B5EF4-FFF2-40B4-BE49-F238E27FC236}">
                <a16:creationId xmlns:a16="http://schemas.microsoft.com/office/drawing/2014/main" id="{819D2835-F042-466C-AB8E-493CBE734E81}"/>
              </a:ext>
            </a:extLst>
          </p:cNvPr>
          <p:cNvSpPr>
            <a:spLocks noGrp="1"/>
          </p:cNvSpPr>
          <p:nvPr>
            <p:ph sz="quarter" idx="1"/>
          </p:nvPr>
        </p:nvSpPr>
        <p:spPr/>
        <p:txBody>
          <a:bodyPr>
            <a:normAutofit fontScale="92500" lnSpcReduction="20000"/>
          </a:bodyPr>
          <a:lstStyle/>
          <a:p>
            <a:r>
              <a:rPr lang="en-US" dirty="0"/>
              <a:t>Requests to microservices usually not made directly from external agents</a:t>
            </a:r>
          </a:p>
          <a:p>
            <a:r>
              <a:rPr lang="en-US" dirty="0"/>
              <a:t>Need a layer to manage access to Microservices to enable flexible deployment</a:t>
            </a:r>
          </a:p>
          <a:p>
            <a:r>
              <a:rPr lang="en-US" dirty="0"/>
              <a:t>Multiple microservices may be required to perform a complex task</a:t>
            </a:r>
          </a:p>
          <a:p>
            <a:r>
              <a:rPr lang="en-US" dirty="0"/>
              <a:t>Usually many instances of each microservice</a:t>
            </a:r>
          </a:p>
          <a:p>
            <a:r>
              <a:rPr lang="en-US" dirty="0"/>
              <a:t>API Gateways provide a single entry point for all requests into the application.</a:t>
            </a:r>
          </a:p>
          <a:p>
            <a:r>
              <a:rPr lang="en-US" dirty="0"/>
              <a:t>Developers do not need to know physical address of each service (nothing should be hardwired)</a:t>
            </a:r>
          </a:p>
          <a:p>
            <a:r>
              <a:rPr lang="en-US" dirty="0"/>
              <a:t>Manage authentication, protocol conversions, communications, routing, load balancing</a:t>
            </a:r>
          </a:p>
          <a:p>
            <a:endParaRPr lang="en-US" dirty="0"/>
          </a:p>
        </p:txBody>
      </p:sp>
    </p:spTree>
    <p:extLst>
      <p:ext uri="{BB962C8B-B14F-4D97-AF65-F5344CB8AC3E}">
        <p14:creationId xmlns:p14="http://schemas.microsoft.com/office/powerpoint/2010/main" val="3867541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5334A-CBA7-47CF-8DE4-08B8C69EF415}"/>
              </a:ext>
            </a:extLst>
          </p:cNvPr>
          <p:cNvSpPr>
            <a:spLocks noGrp="1"/>
          </p:cNvSpPr>
          <p:nvPr>
            <p:ph type="title"/>
          </p:nvPr>
        </p:nvSpPr>
        <p:spPr/>
        <p:txBody>
          <a:bodyPr/>
          <a:lstStyle/>
          <a:p>
            <a:r>
              <a:rPr lang="en-US" dirty="0"/>
              <a:t>DevOps</a:t>
            </a:r>
          </a:p>
        </p:txBody>
      </p:sp>
      <p:sp>
        <p:nvSpPr>
          <p:cNvPr id="3" name="Content Placeholder 2">
            <a:extLst>
              <a:ext uri="{FF2B5EF4-FFF2-40B4-BE49-F238E27FC236}">
                <a16:creationId xmlns:a16="http://schemas.microsoft.com/office/drawing/2014/main" id="{C6E6675F-FCDB-4D09-99D0-AB62AD06E4E6}"/>
              </a:ext>
            </a:extLst>
          </p:cNvPr>
          <p:cNvSpPr>
            <a:spLocks noGrp="1"/>
          </p:cNvSpPr>
          <p:nvPr>
            <p:ph sz="quarter" idx="1"/>
          </p:nvPr>
        </p:nvSpPr>
        <p:spPr/>
        <p:txBody>
          <a:bodyPr/>
          <a:lstStyle/>
          <a:p>
            <a:r>
              <a:rPr lang="en-US" dirty="0"/>
              <a:t>Merges development with operations</a:t>
            </a:r>
          </a:p>
          <a:p>
            <a:r>
              <a:rPr lang="en-US" dirty="0"/>
              <a:t>A single team takes responsibility for development, deployment, operations, and maintenance of a microservice</a:t>
            </a:r>
          </a:p>
          <a:p>
            <a:r>
              <a:rPr lang="en-US" dirty="0"/>
              <a:t>Make independent technology decisions</a:t>
            </a:r>
          </a:p>
          <a:p>
            <a:pPr lvl="1"/>
            <a:r>
              <a:rPr lang="en-US" dirty="0"/>
              <a:t>Programming language</a:t>
            </a:r>
          </a:p>
          <a:p>
            <a:pPr lvl="1"/>
            <a:r>
              <a:rPr lang="en-US" dirty="0"/>
              <a:t>Databases</a:t>
            </a:r>
          </a:p>
          <a:p>
            <a:pPr lvl="1"/>
            <a:r>
              <a:rPr lang="en-US" dirty="0"/>
              <a:t>(probably limited to contain technical overhead for the organization)</a:t>
            </a:r>
          </a:p>
          <a:p>
            <a:r>
              <a:rPr lang="en-US" dirty="0"/>
              <a:t>No need to understand all aspects of the  application</a:t>
            </a:r>
          </a:p>
          <a:p>
            <a:endParaRPr lang="en-US" dirty="0"/>
          </a:p>
          <a:p>
            <a:endParaRPr lang="en-US" dirty="0"/>
          </a:p>
        </p:txBody>
      </p:sp>
    </p:spTree>
    <p:extLst>
      <p:ext uri="{BB962C8B-B14F-4D97-AF65-F5344CB8AC3E}">
        <p14:creationId xmlns:p14="http://schemas.microsoft.com/office/powerpoint/2010/main" val="3284772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70EB1-51BD-4DC5-8B0C-2FF5E0AF459C}"/>
              </a:ext>
            </a:extLst>
          </p:cNvPr>
          <p:cNvSpPr>
            <a:spLocks noGrp="1"/>
          </p:cNvSpPr>
          <p:nvPr>
            <p:ph type="title"/>
          </p:nvPr>
        </p:nvSpPr>
        <p:spPr/>
        <p:txBody>
          <a:bodyPr/>
          <a:lstStyle/>
          <a:p>
            <a:r>
              <a:rPr lang="en-US" dirty="0"/>
              <a:t>Contracts</a:t>
            </a:r>
          </a:p>
        </p:txBody>
      </p:sp>
      <p:sp>
        <p:nvSpPr>
          <p:cNvPr id="3" name="Content Placeholder 2">
            <a:extLst>
              <a:ext uri="{FF2B5EF4-FFF2-40B4-BE49-F238E27FC236}">
                <a16:creationId xmlns:a16="http://schemas.microsoft.com/office/drawing/2014/main" id="{D6CB775E-FDD7-42D0-8223-80142BF3891B}"/>
              </a:ext>
            </a:extLst>
          </p:cNvPr>
          <p:cNvSpPr>
            <a:spLocks noGrp="1"/>
          </p:cNvSpPr>
          <p:nvPr>
            <p:ph sz="quarter" idx="1"/>
          </p:nvPr>
        </p:nvSpPr>
        <p:spPr/>
        <p:txBody>
          <a:bodyPr>
            <a:normAutofit lnSpcReduction="10000"/>
          </a:bodyPr>
          <a:lstStyle/>
          <a:p>
            <a:r>
              <a:rPr lang="en-US" dirty="0"/>
              <a:t>Any given microservice will not  necessarily be aware of all the ways in which it is consumed</a:t>
            </a:r>
          </a:p>
          <a:p>
            <a:r>
              <a:rPr lang="en-US" dirty="0"/>
              <a:t>Microservices must be persistent to avoid failures in the broader application / ecosystem</a:t>
            </a:r>
          </a:p>
          <a:p>
            <a:r>
              <a:rPr lang="en-US" dirty="0"/>
              <a:t>Agreement to provide specific requests/responses</a:t>
            </a:r>
          </a:p>
          <a:p>
            <a:r>
              <a:rPr lang="en-US" dirty="0"/>
              <a:t>Versioning is an essential characteristic</a:t>
            </a:r>
          </a:p>
          <a:p>
            <a:r>
              <a:rPr lang="en-US" dirty="0"/>
              <a:t>Any deprecation must be (technically) negotiated and propagated through the microservice ecosystem</a:t>
            </a:r>
          </a:p>
          <a:p>
            <a:r>
              <a:rPr lang="en-US" dirty="0"/>
              <a:t>Functionality cannot be withdrawn until it is no longer required</a:t>
            </a:r>
          </a:p>
        </p:txBody>
      </p:sp>
    </p:spTree>
    <p:extLst>
      <p:ext uri="{BB962C8B-B14F-4D97-AF65-F5344CB8AC3E}">
        <p14:creationId xmlns:p14="http://schemas.microsoft.com/office/powerpoint/2010/main" val="1087012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B8FD-AA61-4BF5-B1DA-F2D16DC52CF6}"/>
              </a:ext>
            </a:extLst>
          </p:cNvPr>
          <p:cNvSpPr>
            <a:spLocks noGrp="1"/>
          </p:cNvSpPr>
          <p:nvPr>
            <p:ph type="title"/>
          </p:nvPr>
        </p:nvSpPr>
        <p:spPr/>
        <p:txBody>
          <a:bodyPr/>
          <a:lstStyle/>
          <a:p>
            <a:r>
              <a:rPr lang="en-US" dirty="0"/>
              <a:t>Docker</a:t>
            </a:r>
          </a:p>
        </p:txBody>
      </p:sp>
      <p:sp>
        <p:nvSpPr>
          <p:cNvPr id="3" name="Content Placeholder 2">
            <a:extLst>
              <a:ext uri="{FF2B5EF4-FFF2-40B4-BE49-F238E27FC236}">
                <a16:creationId xmlns:a16="http://schemas.microsoft.com/office/drawing/2014/main" id="{CB7FB8A3-7127-4B60-9805-FB792BF44FDD}"/>
              </a:ext>
            </a:extLst>
          </p:cNvPr>
          <p:cNvSpPr>
            <a:spLocks noGrp="1"/>
          </p:cNvSpPr>
          <p:nvPr>
            <p:ph sz="quarter" idx="1"/>
          </p:nvPr>
        </p:nvSpPr>
        <p:spPr/>
        <p:txBody>
          <a:bodyPr/>
          <a:lstStyle/>
          <a:p>
            <a:r>
              <a:rPr lang="en-US" dirty="0"/>
              <a:t>Leading technical environment for the management of containers</a:t>
            </a:r>
          </a:p>
          <a:p>
            <a:r>
              <a:rPr lang="en-US" dirty="0"/>
              <a:t>Supported in most infrastructure environments</a:t>
            </a:r>
          </a:p>
          <a:p>
            <a:pPr lvl="1"/>
            <a:r>
              <a:rPr lang="en-US" dirty="0"/>
              <a:t>Amazon Web Services</a:t>
            </a:r>
          </a:p>
        </p:txBody>
      </p:sp>
    </p:spTree>
    <p:extLst>
      <p:ext uri="{BB962C8B-B14F-4D97-AF65-F5344CB8AC3E}">
        <p14:creationId xmlns:p14="http://schemas.microsoft.com/office/powerpoint/2010/main" val="560816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B8FD-AA61-4BF5-B1DA-F2D16DC52CF6}"/>
              </a:ext>
            </a:extLst>
          </p:cNvPr>
          <p:cNvSpPr>
            <a:spLocks noGrp="1"/>
          </p:cNvSpPr>
          <p:nvPr>
            <p:ph type="title"/>
          </p:nvPr>
        </p:nvSpPr>
        <p:spPr/>
        <p:txBody>
          <a:bodyPr/>
          <a:lstStyle/>
          <a:p>
            <a:r>
              <a:rPr lang="en-US" dirty="0"/>
              <a:t>Containers</a:t>
            </a:r>
          </a:p>
        </p:txBody>
      </p:sp>
      <p:sp>
        <p:nvSpPr>
          <p:cNvPr id="3" name="Content Placeholder 2">
            <a:extLst>
              <a:ext uri="{FF2B5EF4-FFF2-40B4-BE49-F238E27FC236}">
                <a16:creationId xmlns:a16="http://schemas.microsoft.com/office/drawing/2014/main" id="{CB7FB8A3-7127-4B60-9805-FB792BF44FDD}"/>
              </a:ext>
            </a:extLst>
          </p:cNvPr>
          <p:cNvSpPr>
            <a:spLocks noGrp="1"/>
          </p:cNvSpPr>
          <p:nvPr>
            <p:ph sz="quarter" idx="1"/>
          </p:nvPr>
        </p:nvSpPr>
        <p:spPr/>
        <p:txBody>
          <a:bodyPr/>
          <a:lstStyle/>
          <a:p>
            <a:r>
              <a:rPr lang="en-US" dirty="0"/>
              <a:t>Allocate computing resources in even smaller increments than Virtual Machines</a:t>
            </a:r>
          </a:p>
          <a:p>
            <a:r>
              <a:rPr lang="en-US" dirty="0"/>
              <a:t>Share low-level components</a:t>
            </a:r>
          </a:p>
          <a:p>
            <a:r>
              <a:rPr lang="en-US" dirty="0"/>
              <a:t>Self-contained pre-configured operating environment</a:t>
            </a:r>
          </a:p>
          <a:p>
            <a:r>
              <a:rPr lang="en-US" dirty="0"/>
              <a:t>Container management environments provide fast and easy approach to deploy microservices or  other computing components</a:t>
            </a:r>
          </a:p>
          <a:p>
            <a:r>
              <a:rPr lang="en-US" dirty="0"/>
              <a:t>Used in all types of computing environments, but especially well suited to microservices.</a:t>
            </a:r>
          </a:p>
        </p:txBody>
      </p:sp>
    </p:spTree>
    <p:extLst>
      <p:ext uri="{BB962C8B-B14F-4D97-AF65-F5344CB8AC3E}">
        <p14:creationId xmlns:p14="http://schemas.microsoft.com/office/powerpoint/2010/main" val="1042979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CCEE-A98F-4285-B43E-B756DC34C8E8}"/>
              </a:ext>
            </a:extLst>
          </p:cNvPr>
          <p:cNvSpPr>
            <a:spLocks noGrp="1"/>
          </p:cNvSpPr>
          <p:nvPr>
            <p:ph type="title"/>
          </p:nvPr>
        </p:nvSpPr>
        <p:spPr/>
        <p:txBody>
          <a:bodyPr/>
          <a:lstStyle/>
          <a:p>
            <a:r>
              <a:rPr lang="en-US" dirty="0"/>
              <a:t>Container orchestration</a:t>
            </a:r>
          </a:p>
        </p:txBody>
      </p:sp>
      <p:sp>
        <p:nvSpPr>
          <p:cNvPr id="3" name="Content Placeholder 2">
            <a:extLst>
              <a:ext uri="{FF2B5EF4-FFF2-40B4-BE49-F238E27FC236}">
                <a16:creationId xmlns:a16="http://schemas.microsoft.com/office/drawing/2014/main" id="{30D8659B-C79D-40A0-9116-F6B9DEF0853B}"/>
              </a:ext>
            </a:extLst>
          </p:cNvPr>
          <p:cNvSpPr>
            <a:spLocks noGrp="1"/>
          </p:cNvSpPr>
          <p:nvPr>
            <p:ph sz="quarter" idx="1"/>
          </p:nvPr>
        </p:nvSpPr>
        <p:spPr/>
        <p:txBody>
          <a:bodyPr/>
          <a:lstStyle/>
          <a:p>
            <a:r>
              <a:rPr lang="en-US" dirty="0"/>
              <a:t>In a complex environment tools are needed to manage the deployment of containers</a:t>
            </a:r>
          </a:p>
          <a:p>
            <a:r>
              <a:rPr lang="en-US" dirty="0"/>
              <a:t>Components need to be allocated and deallocated dynamically based on load and demand</a:t>
            </a:r>
          </a:p>
          <a:p>
            <a:r>
              <a:rPr lang="en-US" dirty="0"/>
              <a:t>Examples:</a:t>
            </a:r>
          </a:p>
          <a:p>
            <a:pPr lvl="1"/>
            <a:r>
              <a:rPr lang="en-US" dirty="0"/>
              <a:t>Docker Swarm</a:t>
            </a:r>
          </a:p>
          <a:p>
            <a:pPr lvl="1"/>
            <a:r>
              <a:rPr lang="en-US" dirty="0" err="1"/>
              <a:t>Kubernentes</a:t>
            </a:r>
            <a:r>
              <a:rPr lang="en-US" dirty="0"/>
              <a:t> (developed by Google)</a:t>
            </a:r>
          </a:p>
          <a:p>
            <a:pPr lvl="1"/>
            <a:r>
              <a:rPr lang="en-US" dirty="0"/>
              <a:t>Apache Mesos</a:t>
            </a:r>
          </a:p>
        </p:txBody>
      </p:sp>
    </p:spTree>
    <p:extLst>
      <p:ext uri="{BB962C8B-B14F-4D97-AF65-F5344CB8AC3E}">
        <p14:creationId xmlns:p14="http://schemas.microsoft.com/office/powerpoint/2010/main" val="3550042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AB34-8046-446C-8FD5-C042F65B6D9B}"/>
              </a:ext>
            </a:extLst>
          </p:cNvPr>
          <p:cNvSpPr>
            <a:spLocks noGrp="1"/>
          </p:cNvSpPr>
          <p:nvPr>
            <p:ph type="title"/>
          </p:nvPr>
        </p:nvSpPr>
        <p:spPr/>
        <p:txBody>
          <a:bodyPr/>
          <a:lstStyle/>
          <a:p>
            <a:r>
              <a:rPr lang="en-US" dirty="0"/>
              <a:t>Benefits of Microservices</a:t>
            </a:r>
          </a:p>
        </p:txBody>
      </p:sp>
      <p:sp>
        <p:nvSpPr>
          <p:cNvPr id="3" name="Content Placeholder 2">
            <a:extLst>
              <a:ext uri="{FF2B5EF4-FFF2-40B4-BE49-F238E27FC236}">
                <a16:creationId xmlns:a16="http://schemas.microsoft.com/office/drawing/2014/main" id="{0E76419A-EC6C-4E25-ABD8-0254E507730F}"/>
              </a:ext>
            </a:extLst>
          </p:cNvPr>
          <p:cNvSpPr>
            <a:spLocks noGrp="1"/>
          </p:cNvSpPr>
          <p:nvPr>
            <p:ph sz="quarter" idx="1"/>
          </p:nvPr>
        </p:nvSpPr>
        <p:spPr/>
        <p:txBody>
          <a:bodyPr/>
          <a:lstStyle/>
          <a:p>
            <a:r>
              <a:rPr lang="en-US" dirty="0"/>
              <a:t>Rapid development</a:t>
            </a:r>
          </a:p>
          <a:p>
            <a:r>
              <a:rPr lang="en-US" dirty="0"/>
              <a:t>Quick path to MVP (minimal viable product)</a:t>
            </a:r>
          </a:p>
          <a:p>
            <a:r>
              <a:rPr lang="en-US" dirty="0"/>
              <a:t>Distributed teams </a:t>
            </a:r>
          </a:p>
          <a:p>
            <a:r>
              <a:rPr lang="en-US" dirty="0"/>
              <a:t>Modularity</a:t>
            </a:r>
          </a:p>
          <a:p>
            <a:r>
              <a:rPr lang="en-US" dirty="0"/>
              <a:t>Scalability</a:t>
            </a:r>
          </a:p>
        </p:txBody>
      </p:sp>
    </p:spTree>
    <p:extLst>
      <p:ext uri="{BB962C8B-B14F-4D97-AF65-F5344CB8AC3E}">
        <p14:creationId xmlns:p14="http://schemas.microsoft.com/office/powerpoint/2010/main" val="697602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5499A-3D61-4EA0-A8B7-DF6968EB4C74}"/>
              </a:ext>
            </a:extLst>
          </p:cNvPr>
          <p:cNvSpPr>
            <a:spLocks noGrp="1"/>
          </p:cNvSpPr>
          <p:nvPr>
            <p:ph type="title"/>
          </p:nvPr>
        </p:nvSpPr>
        <p:spPr/>
        <p:txBody>
          <a:bodyPr/>
          <a:lstStyle/>
          <a:p>
            <a:r>
              <a:rPr lang="en-US" dirty="0"/>
              <a:t>Evolving from the Monolith to Microservices</a:t>
            </a:r>
          </a:p>
        </p:txBody>
      </p:sp>
      <p:sp>
        <p:nvSpPr>
          <p:cNvPr id="3" name="Content Placeholder 2">
            <a:extLst>
              <a:ext uri="{FF2B5EF4-FFF2-40B4-BE49-F238E27FC236}">
                <a16:creationId xmlns:a16="http://schemas.microsoft.com/office/drawing/2014/main" id="{4450E287-3F07-4F0A-8374-A78C0B600448}"/>
              </a:ext>
            </a:extLst>
          </p:cNvPr>
          <p:cNvSpPr>
            <a:spLocks noGrp="1"/>
          </p:cNvSpPr>
          <p:nvPr>
            <p:ph sz="quarter" idx="1"/>
          </p:nvPr>
        </p:nvSpPr>
        <p:spPr/>
        <p:txBody>
          <a:bodyPr/>
          <a:lstStyle/>
          <a:p>
            <a:r>
              <a:rPr lang="en-US" dirty="0"/>
              <a:t>Many organizations eventually press the limits of applications built with SOA monolithic style</a:t>
            </a:r>
          </a:p>
          <a:p>
            <a:r>
              <a:rPr lang="en-US" dirty="0"/>
              <a:t>Gradually offload selected tasks to microservices</a:t>
            </a:r>
          </a:p>
          <a:p>
            <a:r>
              <a:rPr lang="en-US" dirty="0"/>
              <a:t>Full-fledged migration to microservices can be long and expensive</a:t>
            </a:r>
          </a:p>
        </p:txBody>
      </p:sp>
    </p:spTree>
    <p:extLst>
      <p:ext uri="{BB962C8B-B14F-4D97-AF65-F5344CB8AC3E}">
        <p14:creationId xmlns:p14="http://schemas.microsoft.com/office/powerpoint/2010/main" val="1028686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44604-939C-4315-BC2E-E11F045590A8}"/>
              </a:ext>
            </a:extLst>
          </p:cNvPr>
          <p:cNvSpPr>
            <a:spLocks noGrp="1"/>
          </p:cNvSpPr>
          <p:nvPr>
            <p:ph type="title"/>
          </p:nvPr>
        </p:nvSpPr>
        <p:spPr/>
        <p:txBody>
          <a:bodyPr/>
          <a:lstStyle/>
          <a:p>
            <a:r>
              <a:rPr lang="en-US" dirty="0"/>
              <a:t>State of the Art</a:t>
            </a:r>
          </a:p>
        </p:txBody>
      </p:sp>
      <p:sp>
        <p:nvSpPr>
          <p:cNvPr id="3" name="Content Placeholder 2">
            <a:extLst>
              <a:ext uri="{FF2B5EF4-FFF2-40B4-BE49-F238E27FC236}">
                <a16:creationId xmlns:a16="http://schemas.microsoft.com/office/drawing/2014/main" id="{F0E2DD8A-8A4D-4D6C-BFD7-A3AACDBC09A4}"/>
              </a:ext>
            </a:extLst>
          </p:cNvPr>
          <p:cNvSpPr>
            <a:spLocks noGrp="1"/>
          </p:cNvSpPr>
          <p:nvPr>
            <p:ph sz="quarter" idx="1"/>
          </p:nvPr>
        </p:nvSpPr>
        <p:spPr/>
        <p:txBody>
          <a:bodyPr/>
          <a:lstStyle/>
          <a:p>
            <a:r>
              <a:rPr lang="en-US" dirty="0"/>
              <a:t>Business environments based on monolithic style remain viable</a:t>
            </a:r>
          </a:p>
          <a:p>
            <a:r>
              <a:rPr lang="en-US" dirty="0"/>
              <a:t>Trend to base new large-scale web applications on microservices</a:t>
            </a:r>
          </a:p>
          <a:p>
            <a:r>
              <a:rPr lang="en-US" dirty="0"/>
              <a:t>Well accepted, modern approach among tech giants </a:t>
            </a:r>
          </a:p>
          <a:p>
            <a:r>
              <a:rPr lang="en-US" dirty="0"/>
              <a:t>A technical style that  supports a level of scale not previously possible</a:t>
            </a:r>
          </a:p>
          <a:p>
            <a:r>
              <a:rPr lang="en-US" dirty="0"/>
              <a:t>Beginning to gain acceptance for  mid-scale development projects.</a:t>
            </a:r>
          </a:p>
        </p:txBody>
      </p:sp>
    </p:spTree>
    <p:extLst>
      <p:ext uri="{BB962C8B-B14F-4D97-AF65-F5344CB8AC3E}">
        <p14:creationId xmlns:p14="http://schemas.microsoft.com/office/powerpoint/2010/main" val="1966858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CA742-8D1E-4795-8061-222C63572679}"/>
              </a:ext>
            </a:extLst>
          </p:cNvPr>
          <p:cNvSpPr>
            <a:spLocks noGrp="1"/>
          </p:cNvSpPr>
          <p:nvPr>
            <p:ph type="title"/>
          </p:nvPr>
        </p:nvSpPr>
        <p:spPr/>
        <p:txBody>
          <a:bodyPr/>
          <a:lstStyle/>
          <a:p>
            <a:r>
              <a:rPr lang="en-US" dirty="0"/>
              <a:t>Library Context: FOLIO</a:t>
            </a:r>
          </a:p>
        </p:txBody>
      </p:sp>
      <p:sp>
        <p:nvSpPr>
          <p:cNvPr id="3" name="Content Placeholder 2">
            <a:extLst>
              <a:ext uri="{FF2B5EF4-FFF2-40B4-BE49-F238E27FC236}">
                <a16:creationId xmlns:a16="http://schemas.microsoft.com/office/drawing/2014/main" id="{41EA2828-1BC2-4A8B-917F-B3E39035D7D3}"/>
              </a:ext>
            </a:extLst>
          </p:cNvPr>
          <p:cNvSpPr>
            <a:spLocks noGrp="1"/>
          </p:cNvSpPr>
          <p:nvPr>
            <p:ph sz="quarter" idx="1"/>
          </p:nvPr>
        </p:nvSpPr>
        <p:spPr/>
        <p:txBody>
          <a:bodyPr/>
          <a:lstStyle/>
          <a:p>
            <a:r>
              <a:rPr lang="en-US" dirty="0"/>
              <a:t>New open source library services  platform based on the microservices architecture</a:t>
            </a:r>
          </a:p>
        </p:txBody>
      </p:sp>
    </p:spTree>
    <p:extLst>
      <p:ext uri="{BB962C8B-B14F-4D97-AF65-F5344CB8AC3E}">
        <p14:creationId xmlns:p14="http://schemas.microsoft.com/office/powerpoint/2010/main" val="3447958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FOLIO</a:t>
            </a:r>
          </a:p>
        </p:txBody>
      </p:sp>
      <p:sp>
        <p:nvSpPr>
          <p:cNvPr id="3" name="Content Placeholder 2"/>
          <p:cNvSpPr>
            <a:spLocks noGrp="1"/>
          </p:cNvSpPr>
          <p:nvPr>
            <p:ph sz="quarter" idx="1"/>
          </p:nvPr>
        </p:nvSpPr>
        <p:spPr/>
        <p:txBody>
          <a:bodyPr/>
          <a:lstStyle/>
          <a:p>
            <a:r>
              <a:rPr lang="en-US" dirty="0"/>
              <a:t>Open source library services platform</a:t>
            </a:r>
          </a:p>
          <a:p>
            <a:r>
              <a:rPr lang="en-US" dirty="0"/>
              <a:t>Designed for multitenancy</a:t>
            </a:r>
          </a:p>
          <a:p>
            <a:r>
              <a:rPr lang="en-US" dirty="0"/>
              <a:t>Based on Microservices architecture</a:t>
            </a:r>
          </a:p>
          <a:p>
            <a:r>
              <a:rPr lang="en-US" dirty="0"/>
              <a:t>Designed for multiple deployments</a:t>
            </a:r>
          </a:p>
          <a:p>
            <a:r>
              <a:rPr lang="en-US" dirty="0"/>
              <a:t>In development phase: expect first libraries to go into production in 2018</a:t>
            </a:r>
          </a:p>
        </p:txBody>
      </p:sp>
    </p:spTree>
    <p:extLst>
      <p:ext uri="{BB962C8B-B14F-4D97-AF65-F5344CB8AC3E}">
        <p14:creationId xmlns:p14="http://schemas.microsoft.com/office/powerpoint/2010/main" val="1851487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EBSCO Supports new Open</a:t>
            </a:r>
            <a:r>
              <a:rPr lang="en-US" baseline="0" dirty="0"/>
              <a:t> Source Project</a:t>
            </a:r>
            <a:endParaRPr lang="en-US" dirty="0"/>
          </a:p>
        </p:txBody>
      </p:sp>
      <p:sp>
        <p:nvSpPr>
          <p:cNvPr id="3" name="Content Placeholder 2"/>
          <p:cNvSpPr>
            <a:spLocks noGrp="1"/>
          </p:cNvSpPr>
          <p:nvPr>
            <p:ph sz="quarter" idx="1"/>
          </p:nvPr>
        </p:nvSpPr>
        <p:spPr/>
        <p:txBody>
          <a:bodyPr>
            <a:normAutofit/>
          </a:bodyPr>
          <a:lstStyle/>
          <a:p>
            <a:r>
              <a:rPr lang="en-US" dirty="0"/>
              <a:t>FOLIO</a:t>
            </a:r>
          </a:p>
          <a:p>
            <a:pPr lvl="1"/>
            <a:r>
              <a:rPr lang="en-US" dirty="0"/>
              <a:t>the Future of the Library is Open</a:t>
            </a:r>
          </a:p>
          <a:p>
            <a:r>
              <a:rPr lang="en-US" dirty="0">
                <a:hlinkClick r:id="rId2"/>
              </a:rPr>
              <a:t>https://www.folio.org/</a:t>
            </a:r>
            <a:endParaRPr lang="en-US" dirty="0"/>
          </a:p>
          <a:p>
            <a:r>
              <a:rPr lang="en-US" dirty="0"/>
              <a:t>A community collaboration to develop an open source Library Services Platform designed for innovation.</a:t>
            </a:r>
          </a:p>
          <a:p>
            <a:r>
              <a:rPr lang="en-US" dirty="0"/>
              <a:t>American Libraries feature:</a:t>
            </a:r>
          </a:p>
          <a:p>
            <a:pPr lvl="1"/>
            <a:r>
              <a:rPr lang="en-US" dirty="0">
                <a:hlinkClick r:id="rId3"/>
              </a:rPr>
              <a:t>https://americanlibrariesmagazine.org/2016/04/22/ebsco-kuali-open-source-project/</a:t>
            </a:r>
            <a:endParaRPr lang="en-US" dirty="0"/>
          </a:p>
        </p:txBody>
      </p:sp>
    </p:spTree>
    <p:extLst>
      <p:ext uri="{BB962C8B-B14F-4D97-AF65-F5344CB8AC3E}">
        <p14:creationId xmlns:p14="http://schemas.microsoft.com/office/powerpoint/2010/main" val="1284751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FOLIO background</a:t>
            </a:r>
          </a:p>
        </p:txBody>
      </p:sp>
      <p:sp>
        <p:nvSpPr>
          <p:cNvPr id="3" name="Content Placeholder 2"/>
          <p:cNvSpPr>
            <a:spLocks noGrp="1"/>
          </p:cNvSpPr>
          <p:nvPr>
            <p:ph sz="quarter" idx="1"/>
          </p:nvPr>
        </p:nvSpPr>
        <p:spPr/>
        <p:txBody>
          <a:bodyPr/>
          <a:lstStyle/>
          <a:p>
            <a:r>
              <a:rPr lang="en-US" dirty="0"/>
              <a:t>Initially oriented to academic libraries</a:t>
            </a:r>
          </a:p>
          <a:p>
            <a:r>
              <a:rPr lang="en-US" dirty="0"/>
              <a:t>Academic</a:t>
            </a:r>
            <a:r>
              <a:rPr lang="en-US" baseline="0" dirty="0"/>
              <a:t> libraries interested in </a:t>
            </a:r>
            <a:r>
              <a:rPr lang="en-US" dirty="0"/>
              <a:t>Library</a:t>
            </a:r>
            <a:r>
              <a:rPr lang="en-US" baseline="0" dirty="0"/>
              <a:t> Services Platform </a:t>
            </a:r>
          </a:p>
          <a:p>
            <a:r>
              <a:rPr lang="en-US" baseline="0" dirty="0"/>
              <a:t>Narrow options (Ex Libris Alma, OCLC WorldShare Management Services)</a:t>
            </a:r>
          </a:p>
          <a:p>
            <a:r>
              <a:rPr lang="en-US" baseline="0" dirty="0"/>
              <a:t>Unbundle Discovery from Resource Management</a:t>
            </a:r>
          </a:p>
          <a:p>
            <a:pPr lvl="1"/>
            <a:r>
              <a:rPr lang="en-US" baseline="0" dirty="0"/>
              <a:t>Choice for patron-facing services</a:t>
            </a:r>
          </a:p>
          <a:p>
            <a:pPr lvl="0"/>
            <a:r>
              <a:rPr lang="en-US" baseline="0" dirty="0"/>
              <a:t>Alternative functional approach based on apps and modules</a:t>
            </a:r>
          </a:p>
        </p:txBody>
      </p:sp>
    </p:spTree>
    <p:extLst>
      <p:ext uri="{BB962C8B-B14F-4D97-AF65-F5344CB8AC3E}">
        <p14:creationId xmlns:p14="http://schemas.microsoft.com/office/powerpoint/2010/main" val="2463438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a:t>
            </a:r>
          </a:p>
        </p:txBody>
      </p:sp>
      <p:sp>
        <p:nvSpPr>
          <p:cNvPr id="3" name="Content Placeholder 2"/>
          <p:cNvSpPr>
            <a:spLocks noGrp="1"/>
          </p:cNvSpPr>
          <p:nvPr>
            <p:ph sz="quarter" idx="1"/>
          </p:nvPr>
        </p:nvSpPr>
        <p:spPr/>
        <p:txBody>
          <a:bodyPr/>
          <a:lstStyle/>
          <a:p>
            <a:r>
              <a:rPr lang="en-US" dirty="0"/>
              <a:t>Microservices architecture</a:t>
            </a:r>
          </a:p>
          <a:p>
            <a:r>
              <a:rPr lang="en-US" dirty="0"/>
              <a:t>Modular</a:t>
            </a:r>
          </a:p>
          <a:p>
            <a:r>
              <a:rPr lang="en-US" dirty="0"/>
              <a:t>Enables</a:t>
            </a:r>
            <a:r>
              <a:rPr lang="en-US" baseline="0" dirty="0"/>
              <a:t> choice for discovery</a:t>
            </a:r>
          </a:p>
          <a:p>
            <a:r>
              <a:rPr lang="en-US" baseline="0" dirty="0"/>
              <a:t>Pluggable modules</a:t>
            </a:r>
          </a:p>
          <a:p>
            <a:r>
              <a:rPr lang="en-US" baseline="0" dirty="0"/>
              <a:t>Not monolithic</a:t>
            </a:r>
          </a:p>
        </p:txBody>
      </p:sp>
    </p:spTree>
    <p:extLst>
      <p:ext uri="{BB962C8B-B14F-4D97-AF65-F5344CB8AC3E}">
        <p14:creationId xmlns:p14="http://schemas.microsoft.com/office/powerpoint/2010/main" val="543178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FOLIO Platform</a:t>
            </a:r>
          </a:p>
        </p:txBody>
      </p:sp>
      <p:sp>
        <p:nvSpPr>
          <p:cNvPr id="3" name="Content Placeholder 2"/>
          <p:cNvSpPr>
            <a:spLocks noGrp="1"/>
          </p:cNvSpPr>
          <p:nvPr>
            <p:ph sz="quarter"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1" y="1552576"/>
            <a:ext cx="5591175" cy="507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4048911"/>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4649</TotalTime>
  <Words>1650</Words>
  <Application>Microsoft Macintosh PowerPoint</Application>
  <PresentationFormat>Widescreen</PresentationFormat>
  <Paragraphs>365</Paragraphs>
  <Slides>36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Calibri Light</vt:lpstr>
      <vt:lpstr>Tw Cen MT</vt:lpstr>
      <vt:lpstr>Wingdings</vt:lpstr>
      <vt:lpstr>Wingdings 2</vt:lpstr>
      <vt:lpstr>Office Theme</vt:lpstr>
      <vt:lpstr>Median</vt:lpstr>
      <vt:lpstr>Microservices</vt:lpstr>
      <vt:lpstr>Summary</vt:lpstr>
      <vt:lpstr>Fundamental technology shift</vt:lpstr>
      <vt:lpstr>Microservices</vt:lpstr>
      <vt:lpstr>What are microservices?</vt:lpstr>
      <vt:lpstr>From apps to systems</vt:lpstr>
      <vt:lpstr>Software Development Styles</vt:lpstr>
      <vt:lpstr>An internal architecture</vt:lpstr>
      <vt:lpstr>Who uses Microservices</vt:lpstr>
      <vt:lpstr>Alternative approach: Monolithic software</vt:lpstr>
      <vt:lpstr>PowerPoint Presentation</vt:lpstr>
      <vt:lpstr>Services-oriented Architecture</vt:lpstr>
      <vt:lpstr>SOA development issues</vt:lpstr>
      <vt:lpstr>PowerPoint Presentation</vt:lpstr>
      <vt:lpstr>Building a microservice</vt:lpstr>
      <vt:lpstr>Microservice conceptual model</vt:lpstr>
      <vt:lpstr>Assembling an application</vt:lpstr>
      <vt:lpstr>PowerPoint Presentation</vt:lpstr>
      <vt:lpstr>Beyond Virtual Machines to Containers</vt:lpstr>
      <vt:lpstr>Virtual Machine Environment</vt:lpstr>
      <vt:lpstr>Containers</vt:lpstr>
      <vt:lpstr>API Gateway</vt:lpstr>
      <vt:lpstr>DevOps</vt:lpstr>
      <vt:lpstr>Contracts</vt:lpstr>
      <vt:lpstr>Docker</vt:lpstr>
      <vt:lpstr>Containers</vt:lpstr>
      <vt:lpstr>Container orchestration</vt:lpstr>
      <vt:lpstr>Benefits of Microservices</vt:lpstr>
      <vt:lpstr>Evolving from the Monolith to Microservices</vt:lpstr>
      <vt:lpstr>State of the Art</vt:lpstr>
      <vt:lpstr>Library Context: FOLIO</vt:lpstr>
      <vt:lpstr>FOLIO</vt:lpstr>
      <vt:lpstr>EBSCO Supports new Open Source Project</vt:lpstr>
      <vt:lpstr>FOLIO background</vt:lpstr>
      <vt:lpstr>Technology</vt:lpstr>
      <vt:lpstr>FOLIO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Marshall Breeding</dc:creator>
  <cp:lastModifiedBy>Smruti Ranjan Sarangi</cp:lastModifiedBy>
  <cp:revision>9</cp:revision>
  <dcterms:created xsi:type="dcterms:W3CDTF">2017-09-26T19:45:20Z</dcterms:created>
  <dcterms:modified xsi:type="dcterms:W3CDTF">2025-10-21T17:12:32Z</dcterms:modified>
</cp:coreProperties>
</file>